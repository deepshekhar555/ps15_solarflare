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71" r:id="rId12"/>
    <p:sldId id="267" r:id="rId13"/>
  </p:sldIdLst>
  <p:sldSz cx="9144000" cy="5143500" type="screen16x9"/>
  <p:notesSz cx="6858000" cy="9144000"/>
  <p:embeddedFontLst>
    <p:embeddedFont>
      <p:font typeface="Abadi" panose="020B0604020202020204" charset="0"/>
      <p:regular r:id="rId15"/>
    </p:embeddedFont>
    <p:embeddedFont>
      <p:font typeface="Google Sans Medium" panose="020B0604020202020204" charset="0"/>
      <p:regular r:id="rId16"/>
      <p:bold r:id="rId17"/>
      <p:italic r:id="rId18"/>
      <p:boldItalic r:id="rId19"/>
    </p:embeddedFont>
    <p:embeddedFont>
      <p:font typeface="Google Sans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17503A5-B4DA-43F6-BC4E-13D3167EA797}">
  <a:tblStyle styleId="{717503A5-B4DA-43F6-BC4E-13D3167EA79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62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694562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0820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624071705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624071705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10020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240df152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6240df152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80449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624071705a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624071705a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762055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24071705a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24071705a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15645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24071705a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624071705a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3102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24071705a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24071705a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139737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24071705a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624071705a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564839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624071705a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624071705a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192861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xmlns="" id="{0194B7B3-2B7E-AFFE-BB05-919C5AC17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624071705a_0_43:notes">
            <a:extLst>
              <a:ext uri="{FF2B5EF4-FFF2-40B4-BE49-F238E27FC236}">
                <a16:creationId xmlns:a16="http://schemas.microsoft.com/office/drawing/2014/main" xmlns="" id="{8872ABC2-D99A-BEE6-98D5-444A08AC6E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624071705a_0_43:notes">
            <a:extLst>
              <a:ext uri="{FF2B5EF4-FFF2-40B4-BE49-F238E27FC236}">
                <a16:creationId xmlns:a16="http://schemas.microsoft.com/office/drawing/2014/main" xmlns="" id="{F8CE504F-4010-A8DA-2592-319D50D840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61546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xmlns="" id="{D85ECDA3-F805-A5DB-3FC1-77F562EF6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624071705a_0_43:notes">
            <a:extLst>
              <a:ext uri="{FF2B5EF4-FFF2-40B4-BE49-F238E27FC236}">
                <a16:creationId xmlns:a16="http://schemas.microsoft.com/office/drawing/2014/main" xmlns="" id="{BF525E39-CA52-55CA-FC4B-3D4C110BBD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624071705a_0_43:notes">
            <a:extLst>
              <a:ext uri="{FF2B5EF4-FFF2-40B4-BE49-F238E27FC236}">
                <a16:creationId xmlns:a16="http://schemas.microsoft.com/office/drawing/2014/main" xmlns="" id="{09F06F8D-7010-6E33-3420-9FAAE040CE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426443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624071705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624071705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14009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board eee–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"/>
            <a:ext cx="914400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94675" y="331937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Abadi" panose="020B0604020104020204" pitchFamily="34" charset="0"/>
                <a:ea typeface="Google Sans Medium"/>
                <a:cs typeface="Google Sans Medium"/>
                <a:sym typeface="Google Sans Medium"/>
              </a:rPr>
              <a:t>Team Name : DOMinators</a:t>
            </a:r>
            <a:endParaRPr sz="1600" dirty="0">
              <a:solidFill>
                <a:srgbClr val="202729"/>
              </a:solidFill>
              <a:latin typeface="Abadi" panose="020B0604020104020204" pitchFamily="34" charset="0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28730" y="426921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2027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10163" y="379413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Abadi" panose="020B0604020104020204" pitchFamily="34" charset="0"/>
                <a:ea typeface="Google Sans Medium"/>
                <a:cs typeface="Google Sans Medium"/>
                <a:sym typeface="Google Sans Medium"/>
              </a:rPr>
              <a:t>Team Leader Name : Krish Vaghasia</a:t>
            </a:r>
            <a:endParaRPr sz="1600" dirty="0">
              <a:solidFill>
                <a:srgbClr val="202729"/>
              </a:solidFill>
              <a:latin typeface="Abadi" panose="020B0604020104020204" pitchFamily="34" charset="0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" name="Google Shape;56;p13">
            <a:extLst>
              <a:ext uri="{FF2B5EF4-FFF2-40B4-BE49-F238E27FC236}">
                <a16:creationId xmlns:a16="http://schemas.microsoft.com/office/drawing/2014/main" xmlns="" id="{AA90A4F8-9453-CBAD-94FA-5531053D7E21}"/>
              </a:ext>
            </a:extLst>
          </p:cNvPr>
          <p:cNvSpPr txBox="1"/>
          <p:nvPr/>
        </p:nvSpPr>
        <p:spPr>
          <a:xfrm>
            <a:off x="328730" y="4180002"/>
            <a:ext cx="8520600" cy="704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GB" sz="1600" dirty="0">
                <a:solidFill>
                  <a:srgbClr val="202729"/>
                </a:solidFill>
                <a:latin typeface="Abadi" panose="020B0604020104020204" pitchFamily="34" charset="0"/>
                <a:ea typeface="Google Sans Medium"/>
                <a:cs typeface="Google Sans Medium"/>
                <a:sym typeface="Google Sans Medium"/>
              </a:rPr>
              <a:t>Problem Statement : </a:t>
            </a:r>
            <a:r>
              <a:rPr lang="en-US" sz="1600" dirty="0">
                <a:solidFill>
                  <a:srgbClr val="202729"/>
                </a:solidFill>
                <a:latin typeface="Abadi" panose="020B0604020104020204" pitchFamily="34" charset="0"/>
                <a:ea typeface="Google Sans Medium"/>
                <a:cs typeface="Google Sans Medium"/>
                <a:sym typeface="Google Sans Medium"/>
              </a:rPr>
              <a:t>Chase the Cloud: Leveraging Diffusion Models for Cloud Motion Prediction using INSAT-3DR/3DS Imagery</a:t>
            </a:r>
          </a:p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202729"/>
              </a:solidFill>
              <a:latin typeface="Abadi" panose="020B0604020104020204" pitchFamily="34" charset="0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 eee–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370500" y="70217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lang="en-GB" sz="2050" dirty="0">
                <a:solidFill>
                  <a:schemeClr val="dk1"/>
                </a:solidFill>
                <a:latin typeface="Abadi" panose="020B0604020104020204" pitchFamily="34" charset="0"/>
                <a:ea typeface="Google Sans Medium"/>
                <a:cs typeface="Google Sans Medium"/>
                <a:sym typeface="Google Sans Medium"/>
              </a:rPr>
              <a:t>Team Members</a:t>
            </a:r>
            <a:endParaRPr sz="2050" dirty="0">
              <a:solidFill>
                <a:schemeClr val="dk1"/>
              </a:solidFill>
              <a:latin typeface="Abadi" panose="020B0604020104020204" pitchFamily="34" charset="0"/>
              <a:ea typeface="Google Sans Medium"/>
              <a:cs typeface="Google Sans Medium"/>
              <a:sym typeface="Google Sans Medium"/>
            </a:endParaRPr>
          </a:p>
        </p:txBody>
      </p:sp>
      <p:graphicFrame>
        <p:nvGraphicFramePr>
          <p:cNvPr id="64" name="Google Shape;64;p14"/>
          <p:cNvGraphicFramePr/>
          <p:nvPr>
            <p:extLst>
              <p:ext uri="{D42A27DB-BD31-4B8C-83A1-F6EECF244321}">
                <p14:modId xmlns:p14="http://schemas.microsoft.com/office/powerpoint/2010/main" val="2741791380"/>
              </p:ext>
            </p:extLst>
          </p:nvPr>
        </p:nvGraphicFramePr>
        <p:xfrm>
          <a:off x="952500" y="1329450"/>
          <a:ext cx="7239000" cy="3589950"/>
        </p:xfrm>
        <a:graphic>
          <a:graphicData uri="http://schemas.openxmlformats.org/drawingml/2006/table">
            <a:tbl>
              <a:tblPr>
                <a:noFill/>
                <a:tableStyleId>{717503A5-B4DA-43F6-BC4E-13D3167EA797}</a:tableStyleId>
              </a:tblPr>
              <a:tblGrid>
                <a:gridCol w="47195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51947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794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latin typeface="Abadi" panose="020B0604020104020204" pitchFamily="34" charset="0"/>
                        </a:rPr>
                        <a:t>Team Leader: </a:t>
                      </a:r>
                      <a:endParaRPr dirty="0">
                        <a:latin typeface="Abadi" panose="020B0604020104020204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Abadi" panose="020B0604020104020204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latin typeface="Abadi" panose="020B0604020104020204" pitchFamily="34" charset="0"/>
                        </a:rPr>
                        <a:t>Name: </a:t>
                      </a:r>
                      <a:r>
                        <a:rPr lang="en-US" dirty="0">
                          <a:latin typeface="Abadi" panose="020B0604020104020204" pitchFamily="34" charset="0"/>
                        </a:rPr>
                        <a:t>Krish Vaghasia</a:t>
                      </a:r>
                      <a:endParaRPr dirty="0">
                        <a:latin typeface="Abadi" panose="020B0604020104020204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latin typeface="Abadi" panose="020B0604020104020204" pitchFamily="34" charset="0"/>
                        </a:rPr>
                        <a:t>College: Nirma University</a:t>
                      </a:r>
                      <a:endParaRPr dirty="0">
                        <a:latin typeface="Abadi" panose="020B0604020104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solidFill>
                            <a:schemeClr val="dk1"/>
                          </a:solidFill>
                          <a:latin typeface="Abadi" panose="020B0604020104020204" pitchFamily="34" charset="0"/>
                        </a:rPr>
                        <a:t>Team Member-1: </a:t>
                      </a:r>
                      <a:endParaRPr dirty="0">
                        <a:solidFill>
                          <a:schemeClr val="dk1"/>
                        </a:solidFill>
                        <a:latin typeface="Abadi" panose="020B0604020104020204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Abadi" panose="020B0604020104020204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solidFill>
                            <a:schemeClr val="dk1"/>
                          </a:solidFill>
                          <a:latin typeface="Abadi" panose="020B0604020104020204" pitchFamily="34" charset="0"/>
                        </a:rPr>
                        <a:t>Name: Nisarg Vashi</a:t>
                      </a:r>
                      <a:endParaRPr dirty="0">
                        <a:solidFill>
                          <a:schemeClr val="dk1"/>
                        </a:solidFill>
                        <a:latin typeface="Abadi" panose="020B0604020104020204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solidFill>
                            <a:schemeClr val="dk1"/>
                          </a:solidFill>
                          <a:latin typeface="Abadi" panose="020B0604020104020204" pitchFamily="34" charset="0"/>
                        </a:rPr>
                        <a:t>College: Nirma University</a:t>
                      </a:r>
                      <a:endParaRPr dirty="0">
                        <a:solidFill>
                          <a:schemeClr val="dk1"/>
                        </a:solidFill>
                        <a:latin typeface="Abadi" panose="020B0604020104020204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Abadi" panose="020B0604020104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794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solidFill>
                            <a:schemeClr val="dk1"/>
                          </a:solidFill>
                          <a:latin typeface="Abadi" panose="020B0604020104020204" pitchFamily="34" charset="0"/>
                        </a:rPr>
                        <a:t>Team Member-2: </a:t>
                      </a:r>
                      <a:endParaRPr dirty="0">
                        <a:solidFill>
                          <a:schemeClr val="dk1"/>
                        </a:solidFill>
                        <a:latin typeface="Abadi" panose="020B0604020104020204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Abadi" panose="020B0604020104020204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solidFill>
                            <a:schemeClr val="dk1"/>
                          </a:solidFill>
                          <a:latin typeface="Abadi" panose="020B0604020104020204" pitchFamily="34" charset="0"/>
                        </a:rPr>
                        <a:t>Name: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Abadi" panose="020B0604020104020204" pitchFamily="34" charset="0"/>
                        </a:rPr>
                        <a:t>Heli shah</a:t>
                      </a:r>
                      <a:endParaRPr dirty="0">
                        <a:solidFill>
                          <a:schemeClr val="dk1"/>
                        </a:solidFill>
                        <a:latin typeface="Abadi" panose="020B0604020104020204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solidFill>
                            <a:schemeClr val="dk1"/>
                          </a:solidFill>
                          <a:latin typeface="Abadi" panose="020B0604020104020204" pitchFamily="34" charset="0"/>
                        </a:rPr>
                        <a:t>College: Nirma University</a:t>
                      </a:r>
                      <a:endParaRPr dirty="0">
                        <a:solidFill>
                          <a:schemeClr val="dk1"/>
                        </a:solidFill>
                        <a:latin typeface="Abadi" panose="020B0604020104020204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Abadi" panose="020B0604020104020204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Abadi" panose="020B0604020104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solidFill>
                            <a:schemeClr val="dk1"/>
                          </a:solidFill>
                          <a:latin typeface="Abadi" panose="020B0604020104020204" pitchFamily="34" charset="0"/>
                        </a:rPr>
                        <a:t>Team Member-3: </a:t>
                      </a:r>
                      <a:endParaRPr dirty="0">
                        <a:solidFill>
                          <a:schemeClr val="dk1"/>
                        </a:solidFill>
                        <a:latin typeface="Abadi" panose="020B0604020104020204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Abadi" panose="020B0604020104020204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solidFill>
                            <a:schemeClr val="dk1"/>
                          </a:solidFill>
                          <a:latin typeface="Abadi" panose="020B0604020104020204" pitchFamily="34" charset="0"/>
                        </a:rPr>
                        <a:t>Name: Hensi Patel</a:t>
                      </a:r>
                      <a:endParaRPr dirty="0">
                        <a:solidFill>
                          <a:schemeClr val="dk1"/>
                        </a:solidFill>
                        <a:latin typeface="Abadi" panose="020B0604020104020204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solidFill>
                            <a:schemeClr val="dk1"/>
                          </a:solidFill>
                          <a:latin typeface="Abadi" panose="020B0604020104020204" pitchFamily="34" charset="0"/>
                        </a:rPr>
                        <a:t>College: Nirma University</a:t>
                      </a:r>
                      <a:endParaRPr dirty="0">
                        <a:solidFill>
                          <a:schemeClr val="dk1"/>
                        </a:solidFill>
                        <a:latin typeface="Abadi" panose="020B0604020104020204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Abadi" panose="020B0604020104020204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Abadi" panose="020B0604020104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Artboard eee–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352855" y="624041"/>
            <a:ext cx="3077769" cy="518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lang="en-GB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Brief about the Idea: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018"/>
              <a:buNone/>
            </a:pPr>
            <a:endParaRPr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167EC9CB-EFA5-39A1-656A-2476AE2884B0}"/>
              </a:ext>
            </a:extLst>
          </p:cNvPr>
          <p:cNvSpPr txBox="1"/>
          <p:nvPr/>
        </p:nvSpPr>
        <p:spPr>
          <a:xfrm>
            <a:off x="221032" y="1766445"/>
            <a:ext cx="8701935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/>
            </a:r>
            <a:br>
              <a:rPr lang="en-US" sz="1200" i="1" dirty="0"/>
            </a:br>
            <a:r>
              <a:rPr lang="en-US" sz="1200" dirty="0"/>
              <a:t>A Multi-Modal, Physics-Informed, Diffusion-Powered AI for Satellite-Based Cloud Motion Forecasting, a novel hybrid architecture combining </a:t>
            </a:r>
            <a:r>
              <a:rPr lang="en-US" sz="1200" b="1" dirty="0"/>
              <a:t>Physics-Informed Conditional Diffusion Models</a:t>
            </a:r>
            <a:r>
              <a:rPr lang="en-US" sz="1200" dirty="0"/>
              <a:t> with </a:t>
            </a:r>
            <a:r>
              <a:rPr lang="en-US" sz="1200" b="1" dirty="0"/>
              <a:t>multi-spectral spatio-temporal attention</a:t>
            </a:r>
            <a:r>
              <a:rPr lang="en-US" sz="1200" dirty="0"/>
              <a:t> to predict cloud motion from INSAT-3DR/3DS imagery.</a:t>
            </a:r>
          </a:p>
          <a:p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/>
              <a:t>Combines Conditional Diffusion Models with </a:t>
            </a:r>
            <a:r>
              <a:rPr lang="en-US" sz="1200" b="1" dirty="0"/>
              <a:t>Physics-Informed Neural Networks</a:t>
            </a:r>
            <a:r>
              <a:rPr lang="en-US" sz="1200" dirty="0"/>
              <a:t> for realistic cloud motion forecasting.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/>
              <a:t>Learns optimal permutations across VIS, IR1/IR2, SWIR, and WV to model vertical lift, moisture, thermal gradients and many different parameters.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/>
              <a:t>Spatio-Temporal Attention that captures short-term transitions using multi-frame sequences with time-aware embeddings.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dirty="0"/>
              <a:t>Self-Supervised Reinforcement </a:t>
            </a:r>
            <a:r>
              <a:rPr lang="en-US" sz="1200" dirty="0"/>
              <a:t>that uses predicted vs actual residuals to adaptively fine-tune predictions post-deployment.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/>
              <a:t>Helpful for high-resolution nowcasting, storm surge alerts, and extreme weather mitigation for the Indian subcontinent.</a:t>
            </a:r>
          </a:p>
          <a:p>
            <a:endParaRPr lang="en-US" sz="1200" i="1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xmlns="" id="{C43C9653-D11A-688D-6BA8-1E173060C1C6}"/>
              </a:ext>
            </a:extLst>
          </p:cNvPr>
          <p:cNvSpPr/>
          <p:nvPr/>
        </p:nvSpPr>
        <p:spPr>
          <a:xfrm>
            <a:off x="282498" y="1204332"/>
            <a:ext cx="8508647" cy="631903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10FCF05-BF14-80FF-24E7-DD9C4AC4AF6B}"/>
              </a:ext>
            </a:extLst>
          </p:cNvPr>
          <p:cNvSpPr txBox="1"/>
          <p:nvPr/>
        </p:nvSpPr>
        <p:spPr>
          <a:xfrm>
            <a:off x="431180" y="1263805"/>
            <a:ext cx="53823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Project K.A.L.A.M.- </a:t>
            </a:r>
            <a:r>
              <a:rPr lang="en-US" dirty="0"/>
              <a:t>Cloud Motion Prediction System</a:t>
            </a:r>
            <a:endParaRPr lang="en-US" b="1" dirty="0"/>
          </a:p>
          <a:p>
            <a:r>
              <a:rPr lang="en-US" b="1" i="1" dirty="0"/>
              <a:t>(K</a:t>
            </a:r>
            <a:r>
              <a:rPr lang="en-US" i="1" dirty="0"/>
              <a:t>nowledge-</a:t>
            </a:r>
            <a:r>
              <a:rPr lang="en-US" b="1" i="1" dirty="0"/>
              <a:t>A</a:t>
            </a:r>
            <a:r>
              <a:rPr lang="en-US" i="1" dirty="0"/>
              <a:t>ugmented </a:t>
            </a:r>
            <a:r>
              <a:rPr lang="en-US" b="1" i="1" dirty="0"/>
              <a:t>L</a:t>
            </a:r>
            <a:r>
              <a:rPr lang="en-US" i="1" dirty="0"/>
              <a:t>earning with </a:t>
            </a:r>
            <a:r>
              <a:rPr lang="en-US" b="1" i="1" dirty="0"/>
              <a:t>A</a:t>
            </a:r>
            <a:r>
              <a:rPr lang="en-US" i="1" dirty="0"/>
              <a:t>tmospheric </a:t>
            </a:r>
            <a:r>
              <a:rPr lang="en-US" b="1" i="1" dirty="0"/>
              <a:t>M</a:t>
            </a:r>
            <a:r>
              <a:rPr lang="en-US" i="1" dirty="0"/>
              <a:t>etamodels)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Artboard eee–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46059" y="526333"/>
            <a:ext cx="75693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4"/>
              <a:buNone/>
            </a:pPr>
            <a:r>
              <a:rPr lang="en-GB" sz="645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 Opportunity should be able to explain the following:</a:t>
            </a:r>
            <a:endParaRPr sz="6450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61666"/>
              <a:buNone/>
            </a:pPr>
            <a:endParaRPr sz="1650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B3B37B35-C0D0-6DF1-7730-AB7D80D8E67F}"/>
              </a:ext>
            </a:extLst>
          </p:cNvPr>
          <p:cNvSpPr/>
          <p:nvPr/>
        </p:nvSpPr>
        <p:spPr>
          <a:xfrm>
            <a:off x="5367454" y="691377"/>
            <a:ext cx="3613525" cy="398570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E1AF97A0-A927-3A14-5A8C-15A2C17C8849}"/>
              </a:ext>
            </a:extLst>
          </p:cNvPr>
          <p:cNvSpPr txBox="1"/>
          <p:nvPr/>
        </p:nvSpPr>
        <p:spPr>
          <a:xfrm>
            <a:off x="163020" y="884663"/>
            <a:ext cx="5204434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tx1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lang="en-US" sz="1100" b="1" dirty="0">
              <a:solidFill>
                <a:schemeClr val="tx1"/>
              </a:solidFill>
            </a:endParaRPr>
          </a:p>
          <a:p>
            <a:r>
              <a:rPr lang="en-US" sz="1100" dirty="0"/>
              <a:t>Traditional methods like optical flow lack vertical/cloud physics awareness; CNN/LSTM models often ignore spectral context and causality.</a:t>
            </a:r>
          </a:p>
          <a:p>
            <a:endParaRPr lang="en-US" sz="1100" dirty="0"/>
          </a:p>
          <a:p>
            <a:r>
              <a:rPr lang="en-US" sz="1100" b="1" dirty="0"/>
              <a:t>Our architecture </a:t>
            </a:r>
            <a:r>
              <a:rPr lang="en-US" sz="1100" b="1" dirty="0">
                <a:solidFill>
                  <a:schemeClr val="tx1"/>
                </a:solidFill>
              </a:rPr>
              <a:t>uniquely</a:t>
            </a:r>
            <a:r>
              <a:rPr lang="en-US" sz="1100" b="1" dirty="0"/>
              <a:t> fuses: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/>
              <a:t>Physics-Informed </a:t>
            </a:r>
            <a:r>
              <a:rPr lang="en-US" sz="1100" dirty="0">
                <a:solidFill>
                  <a:schemeClr val="tx1"/>
                </a:solidFill>
              </a:rPr>
              <a:t>Neural</a:t>
            </a:r>
            <a:r>
              <a:rPr lang="en-US" sz="1100" dirty="0"/>
              <a:t> Networks (PINNs) for meteorological grounding and practicality in predictions.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/>
              <a:t>Custom Architecture for realistic cloud evolution and motion predictions based on multiple parameters.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/>
              <a:t>Spectral Permutation Learning across INSAT bands (VIS, IR1/2, WV, SWIR)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b="1" dirty="0"/>
              <a:t>First of its kind</a:t>
            </a:r>
            <a:r>
              <a:rPr lang="en-US" sz="1100" dirty="0"/>
              <a:t>: Learns physical and spectral interdependencies across time in a generative framework.</a:t>
            </a:r>
          </a:p>
          <a:p>
            <a:endParaRPr lang="en-US" sz="1100" dirty="0"/>
          </a:p>
          <a:p>
            <a:r>
              <a:rPr lang="en-US" sz="1100" b="1" dirty="0">
                <a:solidFill>
                  <a:schemeClr val="tx1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</a:p>
          <a:p>
            <a:r>
              <a:rPr lang="en-US" sz="1100" dirty="0"/>
              <a:t>Our solution integrates 4–6 past multi-spectral INSAT frames (VIS, IR1/2, SWIR, WV) into a hybrid AI model combining Conditional Diffusion Networks, Physics-Informed Neural Networks (PINNs), and Graph Neural Networks (GNNs). </a:t>
            </a:r>
          </a:p>
          <a:p>
            <a:endParaRPr lang="en-US" sz="1100" dirty="0"/>
          </a:p>
          <a:p>
            <a:r>
              <a:rPr lang="en-US" sz="1100" dirty="0"/>
              <a:t>This enables realistic and physically consistent cloud motion forecasting. By learning </a:t>
            </a:r>
            <a:r>
              <a:rPr lang="en-US" sz="1100" dirty="0" err="1"/>
              <a:t>spatio</a:t>
            </a:r>
            <a:r>
              <a:rPr lang="en-US" sz="1100" dirty="0"/>
              <a:t>-temporal patterns and atmospheric dynamics like vertical uplift, moisture flow, and convection, the model generates 1-2 high-fidelity future frames (can be extended using our modular solution), empowering accurate 0–3 hour nowcasting, early warnings for severe weather, and scalable deployment for real-time meteorological intelligence.</a:t>
            </a:r>
            <a:endParaRPr lang="en-US" sz="1100" b="1" dirty="0"/>
          </a:p>
          <a:p>
            <a:endParaRPr lang="en-US" sz="1100" dirty="0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8D56AD6D-BF08-47F0-AF58-8309EB1815C8}"/>
              </a:ext>
            </a:extLst>
          </p:cNvPr>
          <p:cNvSpPr txBox="1"/>
          <p:nvPr/>
        </p:nvSpPr>
        <p:spPr>
          <a:xfrm>
            <a:off x="5449228" y="751848"/>
            <a:ext cx="3554053" cy="3985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</a:p>
          <a:p>
            <a:pPr algn="ctr"/>
            <a:endParaRPr lang="en-US" sz="1100" b="1" dirty="0"/>
          </a:p>
          <a:p>
            <a:r>
              <a:rPr lang="en-US" sz="1100" b="1" dirty="0"/>
              <a:t>Hybrid Physics-AI Core: </a:t>
            </a:r>
            <a:r>
              <a:rPr lang="en-US" sz="1100" dirty="0"/>
              <a:t>Combines atmospheric dynamics via </a:t>
            </a:r>
            <a:r>
              <a:rPr lang="en-US" sz="1100" b="1" dirty="0"/>
              <a:t>PINNs</a:t>
            </a:r>
            <a:r>
              <a:rPr lang="en-US" sz="1100" dirty="0"/>
              <a:t> with probabilistic realism of DDPM.</a:t>
            </a:r>
          </a:p>
          <a:p>
            <a:endParaRPr lang="en-US" sz="1100" dirty="0"/>
          </a:p>
          <a:p>
            <a:r>
              <a:rPr lang="en-US" sz="1100" b="1" dirty="0"/>
              <a:t>Spectral Intelligence Engine</a:t>
            </a:r>
            <a:r>
              <a:rPr lang="en-US" sz="1100" dirty="0"/>
              <a:t>: Learns permutation-dependent feature importances</a:t>
            </a:r>
          </a:p>
          <a:p>
            <a:r>
              <a:rPr lang="en-US" sz="1100" dirty="0"/>
              <a:t>e.g.,</a:t>
            </a:r>
          </a:p>
          <a:p>
            <a:r>
              <a:rPr lang="en-US" sz="1100" dirty="0"/>
              <a:t>WV + IR1 → moisture lift</a:t>
            </a:r>
          </a:p>
          <a:p>
            <a:r>
              <a:rPr lang="en-US" sz="1100" dirty="0"/>
              <a:t>VIS + SWIR → fog initiation</a:t>
            </a:r>
          </a:p>
          <a:p>
            <a:r>
              <a:rPr lang="en-US" sz="1100" dirty="0"/>
              <a:t>IR2 → vertical cloud top height</a:t>
            </a:r>
          </a:p>
          <a:p>
            <a:endParaRPr lang="en-US" sz="1100" dirty="0"/>
          </a:p>
          <a:p>
            <a:r>
              <a:rPr lang="en-US" sz="1100" b="1" dirty="0"/>
              <a:t>Self-Evolving Forecasting</a:t>
            </a:r>
            <a:r>
              <a:rPr lang="en-US" sz="1100" dirty="0"/>
              <a:t>: Continuously adapts based on real-time feedback from downstream errors.</a:t>
            </a:r>
          </a:p>
          <a:p>
            <a:endParaRPr lang="en-US" sz="1100" dirty="0"/>
          </a:p>
          <a:p>
            <a:r>
              <a:rPr lang="en-US" sz="1100" b="1" dirty="0"/>
              <a:t>High Transferability</a:t>
            </a:r>
            <a:r>
              <a:rPr lang="en-US" sz="1100" dirty="0"/>
              <a:t>: Pipeline can generalize to other EO tasks like precipitation prediction, dust storms, etc.</a:t>
            </a:r>
          </a:p>
          <a:p>
            <a:endParaRPr lang="en-US" sz="1100" dirty="0"/>
          </a:p>
          <a:p>
            <a:r>
              <a:rPr lang="en-US" sz="1100" b="1" dirty="0"/>
              <a:t>Deployment Ready</a:t>
            </a:r>
            <a:r>
              <a:rPr lang="en-US" sz="1100" dirty="0"/>
              <a:t>: Works with IMD, ISRO protocols; designed for cloud-native, scalable rollouts.</a:t>
            </a:r>
          </a:p>
          <a:p>
            <a:endParaRPr lang="en-US" sz="1100" dirty="0"/>
          </a:p>
          <a:p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7" title="Artboard eee–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3E37275-838D-72A5-743A-88D5A93FE322}"/>
              </a:ext>
            </a:extLst>
          </p:cNvPr>
          <p:cNvSpPr txBox="1"/>
          <p:nvPr/>
        </p:nvSpPr>
        <p:spPr>
          <a:xfrm>
            <a:off x="122329" y="796418"/>
            <a:ext cx="5141050" cy="5001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1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100" b="1" dirty="0"/>
              <a:t>Smart Multi-Band Preprocessing Pipeline</a:t>
            </a:r>
            <a:r>
              <a:rPr lang="en-US" sz="1100" dirty="0"/>
              <a:t/>
            </a:r>
            <a:br>
              <a:rPr lang="en-US" sz="1100" dirty="0"/>
            </a:br>
            <a:r>
              <a:rPr lang="en-US" sz="1100" dirty="0"/>
              <a:t>Utilizes fine-tuned </a:t>
            </a:r>
            <a:r>
              <a:rPr lang="en-US" sz="1100" b="1" dirty="0"/>
              <a:t>SAM2</a:t>
            </a:r>
            <a:r>
              <a:rPr lang="en-US" sz="1100" dirty="0"/>
              <a:t> for cloud segmentation, contour extraction, and heatmap generation across all 5 spectral bands of INSAT imagery.</a:t>
            </a:r>
            <a:endParaRPr lang="en-IN" sz="1100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11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100" b="1" dirty="0"/>
              <a:t>Hybrid AI Model Architecture </a:t>
            </a:r>
            <a:r>
              <a:rPr lang="en-US" sz="1100" b="1" dirty="0"/>
              <a:t>with Physics-Aware Learning</a:t>
            </a:r>
            <a:r>
              <a:rPr lang="en-IN" sz="1100" dirty="0"/>
              <a:t/>
            </a:r>
            <a:br>
              <a:rPr lang="en-IN" sz="1100" dirty="0"/>
            </a:br>
            <a:r>
              <a:rPr lang="en-IN" sz="1100" dirty="0"/>
              <a:t>Combines </a:t>
            </a:r>
            <a:r>
              <a:rPr lang="en-IN" sz="1100" b="1" dirty="0"/>
              <a:t>UNet</a:t>
            </a:r>
            <a:r>
              <a:rPr lang="en-IN" sz="1100" dirty="0"/>
              <a:t>, </a:t>
            </a:r>
            <a:r>
              <a:rPr lang="en-IN" sz="1100" b="1" dirty="0"/>
              <a:t>Conditional Diffusion</a:t>
            </a:r>
            <a:r>
              <a:rPr lang="en-IN" sz="1100" dirty="0"/>
              <a:t>, </a:t>
            </a:r>
            <a:r>
              <a:rPr lang="en-IN" sz="1100" b="1" dirty="0"/>
              <a:t>Graph Neural Networks (GNN)</a:t>
            </a:r>
            <a:r>
              <a:rPr lang="en-IN" sz="1100" dirty="0"/>
              <a:t>, </a:t>
            </a:r>
            <a:r>
              <a:rPr lang="en-IN" sz="1100" b="1" dirty="0"/>
              <a:t>PiNN</a:t>
            </a:r>
            <a:r>
              <a:rPr lang="en-IN" sz="1100" dirty="0"/>
              <a:t>, and </a:t>
            </a:r>
            <a:r>
              <a:rPr lang="en-IN" sz="1100" b="1" dirty="0"/>
              <a:t>Autoencoder</a:t>
            </a:r>
            <a:r>
              <a:rPr lang="en-IN" sz="1100" dirty="0"/>
              <a:t>—ensuring both accuracy and physical consistency.</a:t>
            </a:r>
          </a:p>
          <a:p>
            <a:pPr lvl="1"/>
            <a:endParaRPr lang="en-IN" sz="11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100" b="1" dirty="0"/>
              <a:t>Adaptive Real-Time Learning</a:t>
            </a:r>
            <a:r>
              <a:rPr lang="en-IN" sz="1100" dirty="0"/>
              <a:t/>
            </a:r>
            <a:br>
              <a:rPr lang="en-IN" sz="1100" dirty="0"/>
            </a:br>
            <a:r>
              <a:rPr lang="en-IN" sz="1100" dirty="0"/>
              <a:t>Performs </a:t>
            </a:r>
            <a:r>
              <a:rPr lang="en-IN" sz="1100" b="1" dirty="0"/>
              <a:t>4-frame batch retraining</a:t>
            </a:r>
            <a:r>
              <a:rPr lang="en-IN" sz="1100" dirty="0"/>
              <a:t> with continuous error feedback and self supervised learning to dynamically improve predictions in near real-time.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11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100" b="1" dirty="0"/>
              <a:t>Feature-Aware Learning Pipeline</a:t>
            </a:r>
            <a:r>
              <a:rPr lang="en-IN" sz="1100" dirty="0"/>
              <a:t/>
            </a:r>
            <a:br>
              <a:rPr lang="en-IN" sz="1100" dirty="0"/>
            </a:br>
            <a:r>
              <a:rPr lang="en-IN" sz="1100" dirty="0"/>
              <a:t>Leverages </a:t>
            </a:r>
            <a:r>
              <a:rPr lang="en-IN" sz="1100" b="1" dirty="0"/>
              <a:t>permutation-dependent feature engineering</a:t>
            </a:r>
            <a:r>
              <a:rPr lang="en-IN" sz="1100" dirty="0"/>
              <a:t> for improved band-wise relevance understanding and selection.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1100" dirty="0"/>
          </a:p>
          <a:p>
            <a:pPr marL="171450" lvl="1" indent="-171450">
              <a:buFont typeface="Wingdings" panose="05000000000000000000" pitchFamily="2" charset="2"/>
              <a:buChar char="§"/>
            </a:pPr>
            <a:r>
              <a:rPr lang="en-US" sz="1100" b="1" dirty="0"/>
              <a:t>   High-Fidelity Forecasting with Interactive Web Interface </a:t>
            </a:r>
            <a:r>
              <a:rPr lang="en-US" sz="1100" dirty="0"/>
              <a:t>Delivers two high-resolution, half-hour-ahead cloud forecasts with realistic animation and an intuitive </a:t>
            </a:r>
            <a:r>
              <a:rPr lang="en-US" sz="1100" b="1" dirty="0"/>
              <a:t>web-based GUI</a:t>
            </a:r>
            <a:r>
              <a:rPr lang="en-US" sz="1100" dirty="0"/>
              <a:t> for visual comparison against ground truth. The platform also enables on-screen evaluation using metrics like </a:t>
            </a:r>
            <a:r>
              <a:rPr lang="en-US" sz="1100" b="1" dirty="0"/>
              <a:t>SSIM and PSNR </a:t>
            </a:r>
            <a:r>
              <a:rPr lang="en-US" sz="1100" dirty="0"/>
              <a:t>and various </a:t>
            </a:r>
            <a:r>
              <a:rPr lang="en-US" sz="1100" dirty="0" err="1"/>
              <a:t>forcasting</a:t>
            </a:r>
            <a:r>
              <a:rPr lang="en-US" sz="1100" dirty="0"/>
              <a:t> parameters enhancing interpretability and user experience.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1100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1100" dirty="0"/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100" b="1" dirty="0"/>
          </a:p>
          <a:p>
            <a:r>
              <a:rPr lang="en-US" sz="1100" dirty="0"/>
              <a:t>       </a:t>
            </a:r>
            <a:endParaRPr lang="en-IN" sz="1100" dirty="0"/>
          </a:p>
          <a:p>
            <a:endParaRPr lang="en-IN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61E3694-B5F6-6D9E-CA06-2AD928048100}"/>
              </a:ext>
            </a:extLst>
          </p:cNvPr>
          <p:cNvSpPr txBox="1"/>
          <p:nvPr/>
        </p:nvSpPr>
        <p:spPr>
          <a:xfrm>
            <a:off x="547592" y="649960"/>
            <a:ext cx="37750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Features offered by the Solution: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28D547E-79ED-3A2D-EEE3-1BFB36A1B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5708" y="884988"/>
            <a:ext cx="3525408" cy="83229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xmlns="" id="{D1ED6354-A9EC-B6DB-76E5-F2D6DFAABE49}"/>
              </a:ext>
            </a:extLst>
          </p:cNvPr>
          <p:cNvCxnSpPr>
            <a:cxnSpLocks/>
          </p:cNvCxnSpPr>
          <p:nvPr/>
        </p:nvCxnSpPr>
        <p:spPr>
          <a:xfrm>
            <a:off x="7211122" y="2111293"/>
            <a:ext cx="0" cy="1204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3FEA0386-719D-A189-71AE-656B2C1BB7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2332" y="3426219"/>
            <a:ext cx="2648691" cy="101755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543322B9-3FE3-3FA0-C7E1-EFB683AB1384}"/>
              </a:ext>
            </a:extLst>
          </p:cNvPr>
          <p:cNvSpPr txBox="1"/>
          <p:nvPr/>
        </p:nvSpPr>
        <p:spPr>
          <a:xfrm>
            <a:off x="6259551" y="1717281"/>
            <a:ext cx="24498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Raw ( 5 band images 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247323DF-3859-A8D2-F0CC-6582A04EEE37}"/>
              </a:ext>
            </a:extLst>
          </p:cNvPr>
          <p:cNvSpPr txBox="1"/>
          <p:nvPr/>
        </p:nvSpPr>
        <p:spPr>
          <a:xfrm>
            <a:off x="6351389" y="4443776"/>
            <a:ext cx="19105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Preprocessed Images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D408B0E4-68B6-7005-4B12-7F73F72CBF97}"/>
              </a:ext>
            </a:extLst>
          </p:cNvPr>
          <p:cNvSpPr txBox="1"/>
          <p:nvPr/>
        </p:nvSpPr>
        <p:spPr>
          <a:xfrm>
            <a:off x="4363445" y="4786509"/>
            <a:ext cx="49028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*POC of our idea, developed on </a:t>
            </a:r>
            <a:r>
              <a:rPr lang="en-US" sz="1000" b="1" dirty="0"/>
              <a:t>limited INSAT Data </a:t>
            </a:r>
            <a:r>
              <a:rPr lang="en-US" sz="1000" dirty="0"/>
              <a:t>from MOSDAC (142 images)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 title="Artboard eee–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29" y="0"/>
            <a:ext cx="914400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70990" y="465659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Process flow diagram</a:t>
            </a:r>
            <a:endParaRPr sz="1600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pic>
        <p:nvPicPr>
          <p:cNvPr id="75" name="Google Shape;128;p3">
            <a:extLst>
              <a:ext uri="{FF2B5EF4-FFF2-40B4-BE49-F238E27FC236}">
                <a16:creationId xmlns:a16="http://schemas.microsoft.com/office/drawing/2014/main" xmlns="" id="{091D9D0F-517F-8D24-A377-E44B642BAED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7656355" y="1337638"/>
            <a:ext cx="1083641" cy="1083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132;p3">
            <a:extLst>
              <a:ext uri="{FF2B5EF4-FFF2-40B4-BE49-F238E27FC236}">
                <a16:creationId xmlns:a16="http://schemas.microsoft.com/office/drawing/2014/main" xmlns="" id="{5768E2AE-EB6C-7849-3472-C3C14CC721F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flipH="1">
            <a:off x="6489770" y="2473569"/>
            <a:ext cx="1004325" cy="95464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9" name="Google Shape;135;p3">
            <a:extLst>
              <a:ext uri="{FF2B5EF4-FFF2-40B4-BE49-F238E27FC236}">
                <a16:creationId xmlns:a16="http://schemas.microsoft.com/office/drawing/2014/main" xmlns="" id="{1BAD1CF2-DD90-0DC4-224B-EFC9B133780B}"/>
              </a:ext>
            </a:extLst>
          </p:cNvPr>
          <p:cNvSpPr txBox="1"/>
          <p:nvPr/>
        </p:nvSpPr>
        <p:spPr>
          <a:xfrm>
            <a:off x="7804388" y="2298201"/>
            <a:ext cx="83039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Satellite</a:t>
            </a:r>
            <a:endParaRPr dirty="0"/>
          </a:p>
        </p:txBody>
      </p:sp>
      <p:sp>
        <p:nvSpPr>
          <p:cNvPr id="80" name="Google Shape;141;p3">
            <a:extLst>
              <a:ext uri="{FF2B5EF4-FFF2-40B4-BE49-F238E27FC236}">
                <a16:creationId xmlns:a16="http://schemas.microsoft.com/office/drawing/2014/main" xmlns="" id="{CC7A73E3-768B-32C9-BEFF-83A16902999C}"/>
              </a:ext>
            </a:extLst>
          </p:cNvPr>
          <p:cNvSpPr txBox="1"/>
          <p:nvPr/>
        </p:nvSpPr>
        <p:spPr>
          <a:xfrm>
            <a:off x="6531670" y="3344423"/>
            <a:ext cx="1004325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 dirty="0"/>
          </a:p>
        </p:txBody>
      </p:sp>
      <p:pic>
        <p:nvPicPr>
          <p:cNvPr id="81" name="Google Shape;131;p3">
            <a:extLst>
              <a:ext uri="{FF2B5EF4-FFF2-40B4-BE49-F238E27FC236}">
                <a16:creationId xmlns:a16="http://schemas.microsoft.com/office/drawing/2014/main" xmlns="" id="{1920C9FE-D080-DDA2-7222-5FEC7139BC9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flipH="1">
            <a:off x="2656960" y="2651642"/>
            <a:ext cx="916385" cy="67285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2" name="Cylinder 81">
            <a:extLst>
              <a:ext uri="{FF2B5EF4-FFF2-40B4-BE49-F238E27FC236}">
                <a16:creationId xmlns:a16="http://schemas.microsoft.com/office/drawing/2014/main" xmlns="" id="{457C3236-13B1-55DD-F365-6EAB4DFE40B3}"/>
              </a:ext>
            </a:extLst>
          </p:cNvPr>
          <p:cNvSpPr/>
          <p:nvPr/>
        </p:nvSpPr>
        <p:spPr>
          <a:xfrm rot="16200000">
            <a:off x="4813239" y="2410896"/>
            <a:ext cx="337915" cy="1079989"/>
          </a:xfrm>
          <a:prstGeom prst="ca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xmlns="" id="{47D94820-7554-81E7-63C2-8F456B19A5D9}"/>
              </a:ext>
            </a:extLst>
          </p:cNvPr>
          <p:cNvCxnSpPr>
            <a:cxnSpLocks/>
            <a:stCxn id="76" idx="3"/>
            <a:endCxn id="82" idx="3"/>
          </p:cNvCxnSpPr>
          <p:nvPr/>
        </p:nvCxnSpPr>
        <p:spPr>
          <a:xfrm flipH="1">
            <a:off x="5522191" y="2950889"/>
            <a:ext cx="967579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xmlns="" id="{5D14415A-07E5-2F13-1192-851BD4E7EAC5}"/>
              </a:ext>
            </a:extLst>
          </p:cNvPr>
          <p:cNvSpPr txBox="1"/>
          <p:nvPr/>
        </p:nvSpPr>
        <p:spPr>
          <a:xfrm>
            <a:off x="4375763" y="3183218"/>
            <a:ext cx="1508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Preprocessing Pipeline</a:t>
            </a:r>
            <a:endParaRPr lang="en-US" b="1" dirty="0"/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xmlns="" id="{E3D4A5D2-2B49-B656-F1BF-E92A0987B08A}"/>
              </a:ext>
            </a:extLst>
          </p:cNvPr>
          <p:cNvGrpSpPr/>
          <p:nvPr/>
        </p:nvGrpSpPr>
        <p:grpSpPr>
          <a:xfrm>
            <a:off x="4490538" y="2337859"/>
            <a:ext cx="941903" cy="293720"/>
            <a:chOff x="5484122" y="2950165"/>
            <a:chExt cx="1139702" cy="355402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xmlns="" id="{DE84EBED-C147-F3E8-B97A-EA58314FE401}"/>
                </a:ext>
              </a:extLst>
            </p:cNvPr>
            <p:cNvSpPr/>
            <p:nvPr/>
          </p:nvSpPr>
          <p:spPr>
            <a:xfrm>
              <a:off x="5583044" y="3028769"/>
              <a:ext cx="200722" cy="20044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xmlns="" id="{742BCBED-2DAC-4460-9A2B-23E98C93B751}"/>
                </a:ext>
              </a:extLst>
            </p:cNvPr>
            <p:cNvSpPr/>
            <p:nvPr/>
          </p:nvSpPr>
          <p:spPr>
            <a:xfrm>
              <a:off x="5843628" y="3024771"/>
              <a:ext cx="200722" cy="20044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xmlns="" id="{68D5E7DC-B5DB-DAC2-E3C9-9A7B4BC014DE}"/>
                </a:ext>
              </a:extLst>
            </p:cNvPr>
            <p:cNvSpPr/>
            <p:nvPr/>
          </p:nvSpPr>
          <p:spPr>
            <a:xfrm>
              <a:off x="6104212" y="3028769"/>
              <a:ext cx="200722" cy="20044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xmlns="" id="{82176083-CBB5-5A1E-52E3-7552632D512E}"/>
                </a:ext>
              </a:extLst>
            </p:cNvPr>
            <p:cNvSpPr/>
            <p:nvPr/>
          </p:nvSpPr>
          <p:spPr>
            <a:xfrm>
              <a:off x="6362831" y="3024770"/>
              <a:ext cx="200722" cy="20044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xmlns="" id="{72451BB0-43F3-14B9-6F56-0FB8C7CBD0C9}"/>
                </a:ext>
              </a:extLst>
            </p:cNvPr>
            <p:cNvCxnSpPr/>
            <p:nvPr/>
          </p:nvCxnSpPr>
          <p:spPr>
            <a:xfrm>
              <a:off x="5484122" y="2950165"/>
              <a:ext cx="107943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xmlns="" id="{B0AD8555-4FB5-BE91-0D73-485C8D9654A4}"/>
                </a:ext>
              </a:extLst>
            </p:cNvPr>
            <p:cNvCxnSpPr/>
            <p:nvPr/>
          </p:nvCxnSpPr>
          <p:spPr>
            <a:xfrm>
              <a:off x="5484122" y="3305567"/>
              <a:ext cx="113970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xmlns="" id="{DB532CEC-937A-5084-1586-D4820DCAE154}"/>
              </a:ext>
            </a:extLst>
          </p:cNvPr>
          <p:cNvCxnSpPr>
            <a:cxnSpLocks/>
          </p:cNvCxnSpPr>
          <p:nvPr/>
        </p:nvCxnSpPr>
        <p:spPr>
          <a:xfrm flipH="1">
            <a:off x="3506555" y="2981624"/>
            <a:ext cx="8692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xmlns="" id="{383B15A1-5E20-40A6-3708-0E1FDD72C8AD}"/>
              </a:ext>
            </a:extLst>
          </p:cNvPr>
          <p:cNvSpPr txBox="1"/>
          <p:nvPr/>
        </p:nvSpPr>
        <p:spPr>
          <a:xfrm>
            <a:off x="2573013" y="3341432"/>
            <a:ext cx="13313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Model </a:t>
            </a:r>
          </a:p>
          <a:p>
            <a:r>
              <a:rPr lang="en-IN" b="1" dirty="0"/>
              <a:t>Architecture</a:t>
            </a:r>
            <a:endParaRPr lang="en-US" b="1" dirty="0"/>
          </a:p>
        </p:txBody>
      </p: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xmlns="" id="{C455C234-819C-058F-439A-135328E8E3A6}"/>
              </a:ext>
            </a:extLst>
          </p:cNvPr>
          <p:cNvCxnSpPr>
            <a:cxnSpLocks/>
            <a:stCxn id="79" idx="2"/>
            <a:endCxn id="76" idx="1"/>
          </p:cNvCxnSpPr>
          <p:nvPr/>
        </p:nvCxnSpPr>
        <p:spPr>
          <a:xfrm rot="5400000">
            <a:off x="7668977" y="2400279"/>
            <a:ext cx="375729" cy="725491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xmlns="" id="{C203561A-C0A4-66D0-E9BD-BD088681FAE8}"/>
              </a:ext>
            </a:extLst>
          </p:cNvPr>
          <p:cNvCxnSpPr/>
          <p:nvPr/>
        </p:nvCxnSpPr>
        <p:spPr>
          <a:xfrm>
            <a:off x="3014663" y="3854271"/>
            <a:ext cx="0" cy="33353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xmlns="" id="{A4DAD74A-E921-2BC3-2C29-A9643F7588CA}"/>
              </a:ext>
            </a:extLst>
          </p:cNvPr>
          <p:cNvCxnSpPr>
            <a:cxnSpLocks/>
          </p:cNvCxnSpPr>
          <p:nvPr/>
        </p:nvCxnSpPr>
        <p:spPr>
          <a:xfrm flipV="1">
            <a:off x="3026802" y="4174814"/>
            <a:ext cx="4041101" cy="512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xmlns="" id="{52D864D9-2EC6-274F-8A17-A7F3ABA13E24}"/>
              </a:ext>
            </a:extLst>
          </p:cNvPr>
          <p:cNvCxnSpPr/>
          <p:nvPr/>
        </p:nvCxnSpPr>
        <p:spPr>
          <a:xfrm flipV="1">
            <a:off x="6991933" y="3717539"/>
            <a:ext cx="0" cy="457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6" name="Picture 125">
            <a:extLst>
              <a:ext uri="{FF2B5EF4-FFF2-40B4-BE49-F238E27FC236}">
                <a16:creationId xmlns:a16="http://schemas.microsoft.com/office/drawing/2014/main" xmlns="" id="{5D0ECE85-E781-8B06-6920-2231F74DB6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2797" y="4111325"/>
            <a:ext cx="495120" cy="495120"/>
          </a:xfrm>
          <a:prstGeom prst="rect">
            <a:avLst/>
          </a:prstGeom>
        </p:spPr>
      </p:pic>
      <p:cxnSp>
        <p:nvCxnSpPr>
          <p:cNvPr id="128" name="Connector: Elbow 127">
            <a:extLst>
              <a:ext uri="{FF2B5EF4-FFF2-40B4-BE49-F238E27FC236}">
                <a16:creationId xmlns:a16="http://schemas.microsoft.com/office/drawing/2014/main" xmlns="" id="{099C9F60-42BF-EFEE-AE95-27992D529E97}"/>
              </a:ext>
            </a:extLst>
          </p:cNvPr>
          <p:cNvCxnSpPr>
            <a:cxnSpLocks/>
            <a:endCxn id="81" idx="3"/>
          </p:cNvCxnSpPr>
          <p:nvPr/>
        </p:nvCxnSpPr>
        <p:spPr>
          <a:xfrm rot="10800000">
            <a:off x="2656960" y="2988070"/>
            <a:ext cx="5353680" cy="1432900"/>
          </a:xfrm>
          <a:prstGeom prst="bentConnector3">
            <a:avLst>
              <a:gd name="adj1" fmla="val 104270"/>
            </a:avLst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31" name="Google Shape;138;p3" descr="Futuristic infographic collection">
            <a:extLst>
              <a:ext uri="{FF2B5EF4-FFF2-40B4-BE49-F238E27FC236}">
                <a16:creationId xmlns:a16="http://schemas.microsoft.com/office/drawing/2014/main" xmlns="" id="{DF8AD0E0-0DC0-94F7-5D6B-E53CB8F8B804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82387" y="1226681"/>
            <a:ext cx="1083641" cy="672855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69803"/>
              </a:srgbClr>
            </a:outerShdw>
          </a:effectLst>
        </p:spPr>
      </p:pic>
      <p:sp>
        <p:nvSpPr>
          <p:cNvPr id="140" name="TextBox 139">
            <a:extLst>
              <a:ext uri="{FF2B5EF4-FFF2-40B4-BE49-F238E27FC236}">
                <a16:creationId xmlns:a16="http://schemas.microsoft.com/office/drawing/2014/main" xmlns="" id="{B1273DB4-B989-3569-DBD4-D450D2976D65}"/>
              </a:ext>
            </a:extLst>
          </p:cNvPr>
          <p:cNvSpPr txBox="1"/>
          <p:nvPr/>
        </p:nvSpPr>
        <p:spPr>
          <a:xfrm>
            <a:off x="5987255" y="2404345"/>
            <a:ext cx="6752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actual</a:t>
            </a:r>
            <a:endParaRPr lang="en-US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xmlns="" id="{81193530-9E56-8129-4FFC-B7367A3E9FF8}"/>
              </a:ext>
            </a:extLst>
          </p:cNvPr>
          <p:cNvSpPr txBox="1"/>
          <p:nvPr/>
        </p:nvSpPr>
        <p:spPr>
          <a:xfrm>
            <a:off x="6630805" y="2109132"/>
            <a:ext cx="9203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predicted</a:t>
            </a:r>
            <a:endParaRPr lang="en-US" sz="1100" dirty="0"/>
          </a:p>
        </p:txBody>
      </p:sp>
      <p:grpSp>
        <p:nvGrpSpPr>
          <p:cNvPr id="146" name="Group 145">
            <a:extLst>
              <a:ext uri="{FF2B5EF4-FFF2-40B4-BE49-F238E27FC236}">
                <a16:creationId xmlns:a16="http://schemas.microsoft.com/office/drawing/2014/main" xmlns="" id="{22B03254-E067-81FC-A1CE-A3383DBE6B42}"/>
              </a:ext>
            </a:extLst>
          </p:cNvPr>
          <p:cNvGrpSpPr/>
          <p:nvPr/>
        </p:nvGrpSpPr>
        <p:grpSpPr>
          <a:xfrm>
            <a:off x="3722953" y="3854625"/>
            <a:ext cx="518037" cy="293720"/>
            <a:chOff x="5484122" y="2950165"/>
            <a:chExt cx="626825" cy="355402"/>
          </a:xfrm>
        </p:grpSpPr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xmlns="" id="{570E6C0E-B325-FA45-C6AE-F0D8AE36FFBF}"/>
                </a:ext>
              </a:extLst>
            </p:cNvPr>
            <p:cNvSpPr/>
            <p:nvPr/>
          </p:nvSpPr>
          <p:spPr>
            <a:xfrm>
              <a:off x="5583044" y="3028769"/>
              <a:ext cx="200722" cy="20044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xmlns="" id="{5CB8F126-D3B3-FE31-40DE-DEF73A455A58}"/>
                </a:ext>
              </a:extLst>
            </p:cNvPr>
            <p:cNvSpPr/>
            <p:nvPr/>
          </p:nvSpPr>
          <p:spPr>
            <a:xfrm>
              <a:off x="5843628" y="3024771"/>
              <a:ext cx="200722" cy="20044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xmlns="" id="{CD98A08A-53D5-ECF2-0BBA-F4FEBFBD5AF0}"/>
                </a:ext>
              </a:extLst>
            </p:cNvPr>
            <p:cNvCxnSpPr>
              <a:cxnSpLocks/>
            </p:cNvCxnSpPr>
            <p:nvPr/>
          </p:nvCxnSpPr>
          <p:spPr>
            <a:xfrm>
              <a:off x="5484122" y="2950165"/>
              <a:ext cx="626825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xmlns="" id="{E62B9417-11C6-4B96-A8CE-C642B7BDD0B7}"/>
                </a:ext>
              </a:extLst>
            </p:cNvPr>
            <p:cNvCxnSpPr>
              <a:cxnSpLocks/>
            </p:cNvCxnSpPr>
            <p:nvPr/>
          </p:nvCxnSpPr>
          <p:spPr>
            <a:xfrm>
              <a:off x="5484122" y="3305567"/>
              <a:ext cx="626825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5" name="TextBox 154">
            <a:extLst>
              <a:ext uri="{FF2B5EF4-FFF2-40B4-BE49-F238E27FC236}">
                <a16:creationId xmlns:a16="http://schemas.microsoft.com/office/drawing/2014/main" xmlns="" id="{6232A70D-8794-F136-7076-9F889734E78B}"/>
              </a:ext>
            </a:extLst>
          </p:cNvPr>
          <p:cNvSpPr txBox="1"/>
          <p:nvPr/>
        </p:nvSpPr>
        <p:spPr>
          <a:xfrm>
            <a:off x="3315654" y="4143971"/>
            <a:ext cx="17777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Predicted Frames</a:t>
            </a:r>
            <a:endParaRPr lang="en-US" sz="1200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xmlns="" id="{772E8F1C-3F6E-28A8-FB39-C9C8A6F153CE}"/>
              </a:ext>
            </a:extLst>
          </p:cNvPr>
          <p:cNvSpPr txBox="1"/>
          <p:nvPr/>
        </p:nvSpPr>
        <p:spPr>
          <a:xfrm>
            <a:off x="4442202" y="2069821"/>
            <a:ext cx="1484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Input Frames</a:t>
            </a:r>
            <a:endParaRPr lang="en-US" sz="1200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xmlns="" id="{FD2DD5D9-CCF3-AF0E-698F-F0B3E53C1F78}"/>
              </a:ext>
            </a:extLst>
          </p:cNvPr>
          <p:cNvSpPr txBox="1"/>
          <p:nvPr/>
        </p:nvSpPr>
        <p:spPr>
          <a:xfrm>
            <a:off x="5427393" y="4394587"/>
            <a:ext cx="2619435" cy="254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Self Supervised Learning</a:t>
            </a:r>
            <a:endParaRPr lang="en-US" dirty="0"/>
          </a:p>
        </p:txBody>
      </p: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xmlns="" id="{B1DB6B82-92FF-FC1D-1A3A-5CBCF35F6C96}"/>
              </a:ext>
            </a:extLst>
          </p:cNvPr>
          <p:cNvCxnSpPr>
            <a:cxnSpLocks/>
          </p:cNvCxnSpPr>
          <p:nvPr/>
        </p:nvCxnSpPr>
        <p:spPr>
          <a:xfrm rot="16200000" flipH="1">
            <a:off x="6233246" y="2081621"/>
            <a:ext cx="567093" cy="333165"/>
          </a:xfrm>
          <a:prstGeom prst="curved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323F591D-BF25-65CF-2B14-BF31387239E7}"/>
              </a:ext>
            </a:extLst>
          </p:cNvPr>
          <p:cNvSpPr txBox="1"/>
          <p:nvPr/>
        </p:nvSpPr>
        <p:spPr>
          <a:xfrm>
            <a:off x="7351420" y="3716469"/>
            <a:ext cx="6752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actual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1791E922-37B3-ECC1-AF3E-037E71810B6E}"/>
              </a:ext>
            </a:extLst>
          </p:cNvPr>
          <p:cNvSpPr txBox="1"/>
          <p:nvPr/>
        </p:nvSpPr>
        <p:spPr>
          <a:xfrm>
            <a:off x="7853723" y="3287443"/>
            <a:ext cx="830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predicted</a:t>
            </a:r>
            <a:endParaRPr lang="en-US" dirty="0"/>
          </a:p>
        </p:txBody>
      </p: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xmlns="" id="{9086B0E6-E507-6086-841E-27F8B58E092B}"/>
              </a:ext>
            </a:extLst>
          </p:cNvPr>
          <p:cNvCxnSpPr>
            <a:cxnSpLocks/>
          </p:cNvCxnSpPr>
          <p:nvPr/>
        </p:nvCxnSpPr>
        <p:spPr>
          <a:xfrm rot="16200000" flipH="1">
            <a:off x="7501027" y="3309584"/>
            <a:ext cx="786027" cy="742439"/>
          </a:xfrm>
          <a:prstGeom prst="curved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708CD317-4A71-F492-8F05-D4599CE77EAA}"/>
              </a:ext>
            </a:extLst>
          </p:cNvPr>
          <p:cNvSpPr txBox="1"/>
          <p:nvPr/>
        </p:nvSpPr>
        <p:spPr>
          <a:xfrm>
            <a:off x="5779845" y="881637"/>
            <a:ext cx="11785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Dashboard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xmlns="" id="{B9F2A57F-E116-9831-18CB-DCFB450EDF2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0691" y="846452"/>
            <a:ext cx="3590046" cy="1764036"/>
          </a:xfrm>
          <a:prstGeom prst="rect">
            <a:avLst/>
          </a:prstGeom>
        </p:spPr>
      </p:pic>
      <p:cxnSp>
        <p:nvCxnSpPr>
          <p:cNvPr id="44" name="Connector: Curved 43">
            <a:extLst>
              <a:ext uri="{FF2B5EF4-FFF2-40B4-BE49-F238E27FC236}">
                <a16:creationId xmlns:a16="http://schemas.microsoft.com/office/drawing/2014/main" xmlns="" id="{33958795-2E69-057C-FFA5-05DBCC5515D3}"/>
              </a:ext>
            </a:extLst>
          </p:cNvPr>
          <p:cNvCxnSpPr/>
          <p:nvPr/>
        </p:nvCxnSpPr>
        <p:spPr>
          <a:xfrm rot="10800000">
            <a:off x="3819100" y="1559252"/>
            <a:ext cx="1793681" cy="385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C3C8AFB6-FF5D-8AEC-1CEE-AECBA2F350CA}"/>
              </a:ext>
            </a:extLst>
          </p:cNvPr>
          <p:cNvSpPr txBox="1"/>
          <p:nvPr/>
        </p:nvSpPr>
        <p:spPr>
          <a:xfrm>
            <a:off x="54925" y="2600969"/>
            <a:ext cx="10712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(POC)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AAD3C6B0-EF19-E915-AD22-2670545D49B0}"/>
              </a:ext>
            </a:extLst>
          </p:cNvPr>
          <p:cNvSpPr txBox="1"/>
          <p:nvPr/>
        </p:nvSpPr>
        <p:spPr>
          <a:xfrm>
            <a:off x="10987" y="4571519"/>
            <a:ext cx="4971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* We will add a self supervised learning loop for better improvement in prediction and also helpful for anomaly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9" title="Artboard eee–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xmlns="" id="{04DE4899-3944-3708-3CA9-2217B97363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775"/>
          <a:stretch>
            <a:fillRect/>
          </a:stretch>
        </p:blipFill>
        <p:spPr>
          <a:xfrm>
            <a:off x="391611" y="638501"/>
            <a:ext cx="8443414" cy="3654523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DD27D8A8-EFAD-5DDF-C851-695FE3C284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958997"/>
              </p:ext>
            </p:extLst>
          </p:nvPr>
        </p:nvGraphicFramePr>
        <p:xfrm>
          <a:off x="308975" y="2919845"/>
          <a:ext cx="3768246" cy="2011680"/>
        </p:xfrm>
        <a:graphic>
          <a:graphicData uri="http://schemas.openxmlformats.org/drawingml/2006/table">
            <a:tbl>
              <a:tblPr firstRow="1" bandRow="1">
                <a:tableStyleId>{717503A5-B4DA-43F6-BC4E-13D3167EA797}</a:tableStyleId>
              </a:tblPr>
              <a:tblGrid>
                <a:gridCol w="1256082">
                  <a:extLst>
                    <a:ext uri="{9D8B030D-6E8A-4147-A177-3AD203B41FA5}">
                      <a16:colId xmlns:a16="http://schemas.microsoft.com/office/drawing/2014/main" xmlns="" val="3967796994"/>
                    </a:ext>
                  </a:extLst>
                </a:gridCol>
                <a:gridCol w="1256082">
                  <a:extLst>
                    <a:ext uri="{9D8B030D-6E8A-4147-A177-3AD203B41FA5}">
                      <a16:colId xmlns:a16="http://schemas.microsoft.com/office/drawing/2014/main" xmlns="" val="3279436957"/>
                    </a:ext>
                  </a:extLst>
                </a:gridCol>
                <a:gridCol w="1256082">
                  <a:extLst>
                    <a:ext uri="{9D8B030D-6E8A-4147-A177-3AD203B41FA5}">
                      <a16:colId xmlns:a16="http://schemas.microsoft.com/office/drawing/2014/main" xmlns="" val="1916815048"/>
                    </a:ext>
                  </a:extLst>
                </a:gridCol>
              </a:tblGrid>
              <a:tr h="332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800" b="1" dirty="0"/>
                        <a:t>Radiance</a:t>
                      </a:r>
                    </a:p>
                    <a:p>
                      <a:pPr algn="ctr"/>
                      <a:endParaRPr lang="en-IN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800" b="1" dirty="0"/>
                        <a:t>L=G⋅DN+BL</a:t>
                      </a:r>
                    </a:p>
                    <a:p>
                      <a:pPr algn="ctr"/>
                      <a:endParaRPr lang="en-IN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800" b="1" dirty="0"/>
                        <a:t>All</a:t>
                      </a:r>
                    </a:p>
                    <a:p>
                      <a:pPr algn="ctr"/>
                      <a:endParaRPr lang="en-IN" sz="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95045040"/>
                  </a:ext>
                </a:extLst>
              </a:tr>
              <a:tr h="332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800" b="1" dirty="0"/>
                        <a:t>BT</a:t>
                      </a:r>
                    </a:p>
                    <a:p>
                      <a:pPr algn="ctr"/>
                      <a:endParaRPr lang="en-IN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800" b="1" dirty="0"/>
                        <a:t>Inverse Planck</a:t>
                      </a:r>
                    </a:p>
                    <a:p>
                      <a:pPr algn="ctr"/>
                      <a:endParaRPr lang="en-IN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800" b="1" dirty="0"/>
                        <a:t>TIR1, TIR2, WV</a:t>
                      </a:r>
                    </a:p>
                    <a:p>
                      <a:pPr algn="ctr"/>
                      <a:endParaRPr lang="en-IN" sz="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0834775"/>
                  </a:ext>
                </a:extLst>
              </a:tr>
              <a:tr h="332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800" b="1" dirty="0"/>
                        <a:t>Albedo</a:t>
                      </a:r>
                    </a:p>
                    <a:p>
                      <a:pPr algn="ctr"/>
                      <a:endParaRPr lang="en-IN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l-GR" sz="800" b="1" dirty="0"/>
                        <a:t>π</a:t>
                      </a:r>
                      <a:r>
                        <a:rPr lang="en-IN" sz="800" b="1" dirty="0"/>
                        <a:t>L/(E0cos⁡</a:t>
                      </a:r>
                      <a:r>
                        <a:rPr lang="el-GR" sz="800" b="1" dirty="0"/>
                        <a:t>θ</a:t>
                      </a:r>
                      <a:r>
                        <a:rPr lang="en-US" sz="800" b="1" dirty="0"/>
                        <a:t>)</a:t>
                      </a:r>
                      <a:endParaRPr lang="en-IN" sz="800" b="1" dirty="0"/>
                    </a:p>
                    <a:p>
                      <a:pPr algn="ctr"/>
                      <a:endParaRPr lang="en-IN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800" b="1" dirty="0"/>
                        <a:t>VIS</a:t>
                      </a:r>
                    </a:p>
                    <a:p>
                      <a:pPr algn="ctr"/>
                      <a:endParaRPr lang="en-IN" sz="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24843005"/>
                  </a:ext>
                </a:extLst>
              </a:tr>
              <a:tr h="332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800" b="1" dirty="0"/>
                        <a:t>Cloud Height</a:t>
                      </a:r>
                    </a:p>
                    <a:p>
                      <a:pPr algn="ctr"/>
                      <a:endParaRPr lang="en-IN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800" b="1" dirty="0"/>
                        <a:t>(Tsfc−Tcloud)/</a:t>
                      </a:r>
                      <a:r>
                        <a:rPr lang="el-GR" sz="800" b="1" dirty="0"/>
                        <a:t>Γ</a:t>
                      </a:r>
                      <a:endParaRPr lang="en-IN" sz="800" b="1" dirty="0"/>
                    </a:p>
                    <a:p>
                      <a:pPr algn="ctr"/>
                      <a:endParaRPr lang="en-IN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800" b="1" dirty="0"/>
                        <a:t>TIR1</a:t>
                      </a:r>
                    </a:p>
                    <a:p>
                      <a:pPr algn="ctr"/>
                      <a:endParaRPr lang="en-IN" sz="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81773162"/>
                  </a:ext>
                </a:extLst>
              </a:tr>
              <a:tr h="332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800" b="1" dirty="0"/>
                        <a:t>Split Window </a:t>
                      </a:r>
                      <a:r>
                        <a:rPr lang="el-GR" sz="800" b="1" dirty="0"/>
                        <a:t>Δ</a:t>
                      </a:r>
                      <a:r>
                        <a:rPr lang="en-IN" sz="800" b="1" dirty="0"/>
                        <a:t>T</a:t>
                      </a:r>
                    </a:p>
                    <a:p>
                      <a:pPr algn="ctr"/>
                      <a:endParaRPr lang="en-IN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800" b="1" dirty="0"/>
                        <a:t>TIR2−TIR1</a:t>
                      </a:r>
                    </a:p>
                    <a:p>
                      <a:pPr algn="ctr"/>
                      <a:endParaRPr lang="en-IN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800" b="1" dirty="0"/>
                        <a:t>TIR1</a:t>
                      </a:r>
                    </a:p>
                    <a:p>
                      <a:pPr algn="ctr"/>
                      <a:endParaRPr lang="en-IN" sz="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425885158"/>
                  </a:ext>
                </a:extLst>
              </a:tr>
              <a:tr h="3326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800" b="1" dirty="0"/>
                        <a:t>Optical Depth</a:t>
                      </a:r>
                    </a:p>
                    <a:p>
                      <a:pPr algn="ctr"/>
                      <a:endParaRPr lang="en-IN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800" b="1" dirty="0"/>
                        <a:t>−ln⁡(1−A/1+A)</a:t>
                      </a:r>
                    </a:p>
                    <a:p>
                      <a:pPr algn="ctr"/>
                      <a:endParaRPr lang="en-IN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800" b="1" dirty="0"/>
                        <a:t>VIS</a:t>
                      </a:r>
                    </a:p>
                    <a:p>
                      <a:pPr algn="ctr"/>
                      <a:endParaRPr lang="en-IN" sz="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59956876"/>
                  </a:ext>
                </a:extLst>
              </a:tr>
            </a:tbl>
          </a:graphicData>
        </a:graphic>
      </p:graphicFrame>
      <p:sp>
        <p:nvSpPr>
          <p:cNvPr id="94" name="Google Shape;94;p19"/>
          <p:cNvSpPr txBox="1"/>
          <p:nvPr/>
        </p:nvSpPr>
        <p:spPr>
          <a:xfrm>
            <a:off x="161388" y="513566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Wireframes/Mock diagrams of the proposed solution</a:t>
            </a:r>
            <a:endParaRPr sz="1600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1B26793-534C-0988-67A3-38166F97ECE5}"/>
              </a:ext>
            </a:extLst>
          </p:cNvPr>
          <p:cNvSpPr txBox="1"/>
          <p:nvPr/>
        </p:nvSpPr>
        <p:spPr>
          <a:xfrm>
            <a:off x="4224807" y="4629934"/>
            <a:ext cx="50667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* We will predict various cloud motion parameters with the help of Data + Physics     constraints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93;p19" title="Artboard eee– 2.png">
            <a:extLst>
              <a:ext uri="{FF2B5EF4-FFF2-40B4-BE49-F238E27FC236}">
                <a16:creationId xmlns:a16="http://schemas.microsoft.com/office/drawing/2014/main" xmlns="" id="{480AFB42-47D9-04B8-0ACD-972DC332C90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923169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0"/>
          <p:cNvSpPr txBox="1"/>
          <p:nvPr/>
        </p:nvSpPr>
        <p:spPr>
          <a:xfrm>
            <a:off x="76005" y="526724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Architecture diagram of the proposed solution</a:t>
            </a:r>
            <a:endParaRPr sz="1600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600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CD24251-6230-C300-F281-8521953C1160}"/>
              </a:ext>
            </a:extLst>
          </p:cNvPr>
          <p:cNvSpPr txBox="1"/>
          <p:nvPr/>
        </p:nvSpPr>
        <p:spPr>
          <a:xfrm>
            <a:off x="108735" y="1233787"/>
            <a:ext cx="18914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Input Tensor Shape</a:t>
            </a:r>
            <a:endParaRPr lang="en-IN" sz="12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4641AC8E-878F-D1E2-A892-A22A056467C9}"/>
              </a:ext>
            </a:extLst>
          </p:cNvPr>
          <p:cNvSpPr/>
          <p:nvPr/>
        </p:nvSpPr>
        <p:spPr>
          <a:xfrm>
            <a:off x="2153763" y="1096531"/>
            <a:ext cx="1584543" cy="5887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CECF39A-E44E-036F-9440-75C03C748D01}"/>
              </a:ext>
            </a:extLst>
          </p:cNvPr>
          <p:cNvSpPr txBox="1"/>
          <p:nvPr/>
        </p:nvSpPr>
        <p:spPr>
          <a:xfrm>
            <a:off x="2129628" y="1090810"/>
            <a:ext cx="144011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        Encoder</a:t>
            </a:r>
          </a:p>
          <a:p>
            <a:pPr algn="ctr"/>
            <a:r>
              <a:rPr lang="en-IN" sz="1100" b="1" dirty="0"/>
              <a:t>      4–5 down-         sampling blocks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0B93EFD8-E3C6-E0F1-62FC-643E1CC2862F}"/>
              </a:ext>
            </a:extLst>
          </p:cNvPr>
          <p:cNvSpPr/>
          <p:nvPr/>
        </p:nvSpPr>
        <p:spPr>
          <a:xfrm>
            <a:off x="4145908" y="1092720"/>
            <a:ext cx="1584543" cy="5887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ACD4E5FC-3D6A-1B21-31F8-4B6BE3E7D424}"/>
              </a:ext>
            </a:extLst>
          </p:cNvPr>
          <p:cNvSpPr txBox="1"/>
          <p:nvPr/>
        </p:nvSpPr>
        <p:spPr>
          <a:xfrm>
            <a:off x="4314470" y="1233787"/>
            <a:ext cx="13225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Latent Bottleneck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9E617ECF-45B4-F511-646E-84D1D51779BC}"/>
              </a:ext>
            </a:extLst>
          </p:cNvPr>
          <p:cNvSpPr/>
          <p:nvPr/>
        </p:nvSpPr>
        <p:spPr>
          <a:xfrm>
            <a:off x="6060762" y="1088699"/>
            <a:ext cx="1584543" cy="5887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70C76D24-1FE0-0AC6-126C-E31F61782C16}"/>
              </a:ext>
            </a:extLst>
          </p:cNvPr>
          <p:cNvSpPr txBox="1"/>
          <p:nvPr/>
        </p:nvSpPr>
        <p:spPr>
          <a:xfrm>
            <a:off x="6191763" y="1108677"/>
            <a:ext cx="132254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50" b="1" dirty="0"/>
              <a:t>Decoder</a:t>
            </a:r>
          </a:p>
          <a:p>
            <a:pPr algn="ctr"/>
            <a:r>
              <a:rPr lang="en-IN" sz="1050" b="1" dirty="0"/>
              <a:t> 4–5 up-sampling blocks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2FE6CE5-DCF2-E937-2061-0F89D00B69C5}"/>
              </a:ext>
            </a:extLst>
          </p:cNvPr>
          <p:cNvSpPr/>
          <p:nvPr/>
        </p:nvSpPr>
        <p:spPr>
          <a:xfrm>
            <a:off x="2624203" y="2037304"/>
            <a:ext cx="5473874" cy="4196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35203743-3C9D-F9AD-1112-96B049D8D629}"/>
              </a:ext>
            </a:extLst>
          </p:cNvPr>
          <p:cNvSpPr/>
          <p:nvPr/>
        </p:nvSpPr>
        <p:spPr>
          <a:xfrm>
            <a:off x="2901726" y="2067887"/>
            <a:ext cx="4743579" cy="3584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Conditional DDPM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2" name="Left Bracket 11">
            <a:extLst>
              <a:ext uri="{FF2B5EF4-FFF2-40B4-BE49-F238E27FC236}">
                <a16:creationId xmlns:a16="http://schemas.microsoft.com/office/drawing/2014/main" xmlns="" id="{867D1897-359F-E102-2EA3-F4B985B4E95F}"/>
              </a:ext>
            </a:extLst>
          </p:cNvPr>
          <p:cNvSpPr/>
          <p:nvPr/>
        </p:nvSpPr>
        <p:spPr>
          <a:xfrm>
            <a:off x="2323578" y="2056824"/>
            <a:ext cx="125376" cy="369518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336FC9B0-66FE-9F8D-D610-5F1A63B63F34}"/>
              </a:ext>
            </a:extLst>
          </p:cNvPr>
          <p:cNvSpPr txBox="1"/>
          <p:nvPr/>
        </p:nvSpPr>
        <p:spPr>
          <a:xfrm>
            <a:off x="927188" y="1901117"/>
            <a:ext cx="142761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b="1" dirty="0"/>
              <a:t>Noise Scheduler</a:t>
            </a:r>
          </a:p>
          <a:p>
            <a:r>
              <a:rPr lang="en-IN" sz="1000" b="1" dirty="0"/>
              <a:t>Reverse Denoising</a:t>
            </a:r>
          </a:p>
          <a:p>
            <a:r>
              <a:rPr lang="en-IN" sz="1000" b="1" dirty="0"/>
              <a:t>Timestep Embedding</a:t>
            </a:r>
          </a:p>
          <a:p>
            <a:r>
              <a:rPr lang="en-IN" sz="1000" b="1" dirty="0"/>
              <a:t>Conditioning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935D642D-C343-140E-1E38-4DFEDC1ADCE8}"/>
              </a:ext>
            </a:extLst>
          </p:cNvPr>
          <p:cNvSpPr/>
          <p:nvPr/>
        </p:nvSpPr>
        <p:spPr>
          <a:xfrm>
            <a:off x="5073041" y="2929407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3A0277A0-586F-FA88-FDED-E90E52B9E01A}"/>
              </a:ext>
            </a:extLst>
          </p:cNvPr>
          <p:cNvSpPr txBox="1"/>
          <p:nvPr/>
        </p:nvSpPr>
        <p:spPr>
          <a:xfrm>
            <a:off x="5196166" y="3096824"/>
            <a:ext cx="782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PiNN Block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5AFD1736-5095-EF79-1BEF-A90B3D06CAB2}"/>
              </a:ext>
            </a:extLst>
          </p:cNvPr>
          <p:cNvSpPr txBox="1"/>
          <p:nvPr/>
        </p:nvSpPr>
        <p:spPr>
          <a:xfrm>
            <a:off x="6055192" y="3113040"/>
            <a:ext cx="30888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</a:t>
            </a:r>
            <a:r>
              <a:rPr lang="en-IN" sz="900" dirty="0"/>
              <a:t>adv</a:t>
            </a:r>
            <a:r>
              <a:rPr lang="en-IN" dirty="0"/>
              <a:t>​=MSE.(∂I​/ ∂t +u.∂I/ ∂x ​+v. ∂I/ ∂y ​)</a:t>
            </a:r>
          </a:p>
        </p:txBody>
      </p:sp>
      <p:pic>
        <p:nvPicPr>
          <p:cNvPr id="1026" name="Picture 2" descr="A Gentle Introduction to Graph Neural Networks">
            <a:extLst>
              <a:ext uri="{FF2B5EF4-FFF2-40B4-BE49-F238E27FC236}">
                <a16:creationId xmlns:a16="http://schemas.microsoft.com/office/drawing/2014/main" xmlns="" id="{8855B26E-C872-F1E9-CB75-BB939B742D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9766" y="2860223"/>
            <a:ext cx="2534536" cy="1220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92E85AA3-CA18-FD41-FA64-036E86B268AA}"/>
              </a:ext>
            </a:extLst>
          </p:cNvPr>
          <p:cNvSpPr txBox="1"/>
          <p:nvPr/>
        </p:nvSpPr>
        <p:spPr>
          <a:xfrm>
            <a:off x="342432" y="3470315"/>
            <a:ext cx="17055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Temporal Positional Encoding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B9862451-0187-A075-949B-6962640BD3A6}"/>
              </a:ext>
            </a:extLst>
          </p:cNvPr>
          <p:cNvSpPr txBox="1"/>
          <p:nvPr/>
        </p:nvSpPr>
        <p:spPr>
          <a:xfrm>
            <a:off x="183765" y="2627567"/>
            <a:ext cx="1148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Self-Supervised</a:t>
            </a:r>
          </a:p>
          <a:p>
            <a:r>
              <a:rPr lang="en-US" sz="1200" b="1" dirty="0"/>
              <a:t>Learning</a:t>
            </a:r>
            <a:endParaRPr lang="en-IN" sz="1200" b="1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xmlns="" id="{5300E640-0BB2-2A6B-5F38-8CADD9515B17}"/>
              </a:ext>
            </a:extLst>
          </p:cNvPr>
          <p:cNvCxnSpPr>
            <a:cxnSpLocks/>
          </p:cNvCxnSpPr>
          <p:nvPr/>
        </p:nvCxnSpPr>
        <p:spPr>
          <a:xfrm>
            <a:off x="1678314" y="1390892"/>
            <a:ext cx="3884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xmlns="" id="{3962F7FD-D9A6-B739-D81B-9ED757E7BCC1}"/>
              </a:ext>
            </a:extLst>
          </p:cNvPr>
          <p:cNvCxnSpPr>
            <a:cxnSpLocks/>
          </p:cNvCxnSpPr>
          <p:nvPr/>
        </p:nvCxnSpPr>
        <p:spPr>
          <a:xfrm>
            <a:off x="3748189" y="1357073"/>
            <a:ext cx="3884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xmlns="" id="{406AA7FF-D349-ED98-B688-EC486B8DDA84}"/>
              </a:ext>
            </a:extLst>
          </p:cNvPr>
          <p:cNvCxnSpPr>
            <a:cxnSpLocks/>
          </p:cNvCxnSpPr>
          <p:nvPr/>
        </p:nvCxnSpPr>
        <p:spPr>
          <a:xfrm>
            <a:off x="5730451" y="1357073"/>
            <a:ext cx="3303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xmlns="" id="{376951D4-5057-3385-0F47-82070B79AF0F}"/>
              </a:ext>
            </a:extLst>
          </p:cNvPr>
          <p:cNvCxnSpPr>
            <a:cxnSpLocks/>
          </p:cNvCxnSpPr>
          <p:nvPr/>
        </p:nvCxnSpPr>
        <p:spPr>
          <a:xfrm>
            <a:off x="5411244" y="2482295"/>
            <a:ext cx="0" cy="447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678679FE-F26A-D92F-292E-79670ED7EDA9}"/>
              </a:ext>
            </a:extLst>
          </p:cNvPr>
          <p:cNvSpPr txBox="1"/>
          <p:nvPr/>
        </p:nvSpPr>
        <p:spPr>
          <a:xfrm>
            <a:off x="3407079" y="4073593"/>
            <a:ext cx="1121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GNN</a:t>
            </a:r>
            <a:endParaRPr lang="en-IN" b="1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xmlns="" id="{2CD1AF86-7FDA-7C4B-3CD4-5106C78AECE1}"/>
              </a:ext>
            </a:extLst>
          </p:cNvPr>
          <p:cNvCxnSpPr/>
          <p:nvPr/>
        </p:nvCxnSpPr>
        <p:spPr>
          <a:xfrm flipH="1">
            <a:off x="1935271" y="3620044"/>
            <a:ext cx="4509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xmlns="" id="{0B111583-431F-051B-FA97-361DD68BA7BB}"/>
              </a:ext>
            </a:extLst>
          </p:cNvPr>
          <p:cNvCxnSpPr/>
          <p:nvPr/>
        </p:nvCxnSpPr>
        <p:spPr>
          <a:xfrm>
            <a:off x="5530241" y="3912281"/>
            <a:ext cx="0" cy="665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xmlns="" id="{2FAC4F8B-6804-108C-E1E0-BC88BB173837}"/>
              </a:ext>
            </a:extLst>
          </p:cNvPr>
          <p:cNvCxnSpPr>
            <a:cxnSpLocks/>
          </p:cNvCxnSpPr>
          <p:nvPr/>
        </p:nvCxnSpPr>
        <p:spPr>
          <a:xfrm flipH="1">
            <a:off x="4572000" y="4580351"/>
            <a:ext cx="9560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xmlns="" id="{0A25EC45-1AD6-5367-07B5-8E36957ACC82}"/>
              </a:ext>
            </a:extLst>
          </p:cNvPr>
          <p:cNvCxnSpPr/>
          <p:nvPr/>
        </p:nvCxnSpPr>
        <p:spPr>
          <a:xfrm flipV="1">
            <a:off x="4572000" y="4073593"/>
            <a:ext cx="0" cy="504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Curved 54">
            <a:extLst>
              <a:ext uri="{FF2B5EF4-FFF2-40B4-BE49-F238E27FC236}">
                <a16:creationId xmlns:a16="http://schemas.microsoft.com/office/drawing/2014/main" xmlns="" id="{E05A588A-9B4C-8B30-CE51-401007C5442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69117" y="1869497"/>
            <a:ext cx="1116780" cy="39936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xmlns="" id="{58ADA823-6C7F-846A-8BBF-0AF0D9958EF0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7642" y="3299670"/>
            <a:ext cx="295260" cy="24371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D9D80572-62D2-7E0A-CCD8-630E53148F95}"/>
              </a:ext>
            </a:extLst>
          </p:cNvPr>
          <p:cNvSpPr txBox="1"/>
          <p:nvPr/>
        </p:nvSpPr>
        <p:spPr>
          <a:xfrm>
            <a:off x="5528076" y="4143174"/>
            <a:ext cx="22909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Anomaly Detection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92A73A50-9D87-8235-CAA1-C66F7D52B569}"/>
              </a:ext>
            </a:extLst>
          </p:cNvPr>
          <p:cNvSpPr txBox="1"/>
          <p:nvPr/>
        </p:nvSpPr>
        <p:spPr>
          <a:xfrm>
            <a:off x="342432" y="4789461"/>
            <a:ext cx="49028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*POC of our idea, developed on </a:t>
            </a:r>
            <a:r>
              <a:rPr lang="en-US" sz="1000" b="1" dirty="0"/>
              <a:t>limited INSAT Data </a:t>
            </a:r>
            <a:r>
              <a:rPr lang="en-US" sz="1000" dirty="0"/>
              <a:t>from MOSDAC (142 images)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1" title="Artboard eee– 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" y="-1"/>
            <a:ext cx="914400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35D0970-4597-756C-AB86-E29441A05D81}"/>
              </a:ext>
            </a:extLst>
          </p:cNvPr>
          <p:cNvSpPr txBox="1"/>
          <p:nvPr/>
        </p:nvSpPr>
        <p:spPr>
          <a:xfrm>
            <a:off x="381000" y="789709"/>
            <a:ext cx="23631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Tech Stack for K.A.L.A.M.</a:t>
            </a:r>
          </a:p>
          <a:p>
            <a:endParaRPr lang="en-IN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632E955-EBA9-9062-751E-06B8D7F99DB7}"/>
              </a:ext>
            </a:extLst>
          </p:cNvPr>
          <p:cNvSpPr txBox="1"/>
          <p:nvPr/>
        </p:nvSpPr>
        <p:spPr>
          <a:xfrm>
            <a:off x="384528" y="932373"/>
            <a:ext cx="3077736" cy="3893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/>
          </a:p>
          <a:p>
            <a:r>
              <a:rPr lang="en-US" sz="1200" b="1" dirty="0"/>
              <a:t>Modeling &amp; Forecasting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PyTorch + PyTorch Lightning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Conditional Diffusion Models (DDPM),Physics-Informed Neural Networks (PINNs), Graph Neural Networks (GNNs)</a:t>
            </a:r>
          </a:p>
          <a:p>
            <a:r>
              <a:rPr lang="en-US" sz="1100" dirty="0"/>
              <a:t>     Autoencoders, UNet</a:t>
            </a:r>
          </a:p>
          <a:p>
            <a:r>
              <a:rPr lang="en-US" sz="1200" b="1" dirty="0"/>
              <a:t>Data &amp; Preprocessing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xarray, OpenCV, NumPy, Pandas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Fine-tuned SAM2, Scikit-image</a:t>
            </a:r>
          </a:p>
          <a:p>
            <a:r>
              <a:rPr lang="en-US" sz="1200" b="1" dirty="0"/>
              <a:t>Interface &amp; Visualization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Streamlit (POC), Electron.js (cross-platform app)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React, MapboxGL.js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Plotly, Matplotlib</a:t>
            </a:r>
          </a:p>
          <a:p>
            <a:r>
              <a:rPr lang="en-US" sz="1200" b="1" dirty="0"/>
              <a:t>Backend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FastAPI, WebSockets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Redis</a:t>
            </a:r>
            <a:r>
              <a:rPr lang="en-US" sz="1200" b="1" dirty="0"/>
              <a:t>, </a:t>
            </a:r>
            <a:r>
              <a:rPr lang="en-US" sz="1200" dirty="0"/>
              <a:t>Postgres(PostGIS)</a:t>
            </a:r>
          </a:p>
          <a:p>
            <a:r>
              <a:rPr lang="en-US" sz="1200" b="1" dirty="0"/>
              <a:t>Deployment &amp; Scaling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Docker,VPS Deployment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TensorBoard,TorchScript, ONNX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55A1DD28-A341-8313-989D-20F7C09A2F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4607" y="737570"/>
            <a:ext cx="2852854" cy="153728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AB326A41-FA5C-0C77-768E-6BFFC9E446D3}"/>
              </a:ext>
            </a:extLst>
          </p:cNvPr>
          <p:cNvSpPr txBox="1"/>
          <p:nvPr/>
        </p:nvSpPr>
        <p:spPr>
          <a:xfrm>
            <a:off x="3610944" y="660980"/>
            <a:ext cx="28528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POC of Model Prototype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xmlns="" id="{51CEC69A-42B9-1CE4-9D52-D5D121977149}"/>
              </a:ext>
            </a:extLst>
          </p:cNvPr>
          <p:cNvCxnSpPr/>
          <p:nvPr/>
        </p:nvCxnSpPr>
        <p:spPr>
          <a:xfrm>
            <a:off x="4661210" y="910071"/>
            <a:ext cx="1070517" cy="57383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3AE313B5-03CB-54E3-36E0-E68639EF25F6}"/>
              </a:ext>
            </a:extLst>
          </p:cNvPr>
          <p:cNvSpPr txBox="1"/>
          <p:nvPr/>
        </p:nvSpPr>
        <p:spPr>
          <a:xfrm>
            <a:off x="3404938" y="2092787"/>
            <a:ext cx="29363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Performance Matrices with Predictions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B90C2481-00D7-B6D4-5CCF-7CFCE2A959B6}"/>
              </a:ext>
            </a:extLst>
          </p:cNvPr>
          <p:cNvSpPr txBox="1"/>
          <p:nvPr/>
        </p:nvSpPr>
        <p:spPr>
          <a:xfrm rot="16200000">
            <a:off x="4876796" y="1019000"/>
            <a:ext cx="23937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Wind Direction Predictions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xmlns="" id="{90124FD4-7726-C4C3-65D2-21BB35FDA2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1484" y="2339008"/>
            <a:ext cx="5545978" cy="2604699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xmlns="" id="{82B33963-4437-FA4F-5201-857C868B9180}"/>
              </a:ext>
            </a:extLst>
          </p:cNvPr>
          <p:cNvSpPr/>
          <p:nvPr/>
        </p:nvSpPr>
        <p:spPr>
          <a:xfrm>
            <a:off x="4334107" y="3822916"/>
            <a:ext cx="4624040" cy="1002831"/>
          </a:xfrm>
          <a:prstGeom prst="round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xmlns="" id="{E847B5FB-33C1-628C-3A34-0DAB25EE6B75}"/>
              </a:ext>
            </a:extLst>
          </p:cNvPr>
          <p:cNvCxnSpPr>
            <a:cxnSpLocks/>
          </p:cNvCxnSpPr>
          <p:nvPr/>
        </p:nvCxnSpPr>
        <p:spPr>
          <a:xfrm>
            <a:off x="3810049" y="3910361"/>
            <a:ext cx="427512" cy="3717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xmlns="" id="{DA633832-C426-BA93-F609-B26A072BF192}"/>
              </a:ext>
            </a:extLst>
          </p:cNvPr>
          <p:cNvCxnSpPr/>
          <p:nvPr/>
        </p:nvCxnSpPr>
        <p:spPr>
          <a:xfrm>
            <a:off x="438615" y="1077951"/>
            <a:ext cx="23055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>
          <a:extLst>
            <a:ext uri="{FF2B5EF4-FFF2-40B4-BE49-F238E27FC236}">
              <a16:creationId xmlns:a16="http://schemas.microsoft.com/office/drawing/2014/main" xmlns="" id="{8B6AD321-391A-1A73-F166-A151C161F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 title="Artboard eee– 2.png">
            <a:extLst>
              <a:ext uri="{FF2B5EF4-FFF2-40B4-BE49-F238E27FC236}">
                <a16:creationId xmlns:a16="http://schemas.microsoft.com/office/drawing/2014/main" xmlns="" id="{1DC21305-18E7-9E8E-5517-07252DA1FC6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2">
            <a:extLst>
              <a:ext uri="{FF2B5EF4-FFF2-40B4-BE49-F238E27FC236}">
                <a16:creationId xmlns:a16="http://schemas.microsoft.com/office/drawing/2014/main" xmlns="" id="{25CF7BC1-2F8F-3E68-D1B8-9E73B24DF323}"/>
              </a:ext>
            </a:extLst>
          </p:cNvPr>
          <p:cNvSpPr txBox="1"/>
          <p:nvPr/>
        </p:nvSpPr>
        <p:spPr>
          <a:xfrm>
            <a:off x="156884" y="519333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Estimated implementation cost :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600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lvl="0">
              <a:lnSpc>
                <a:spcPct val="115000"/>
              </a:lnSpc>
            </a:pPr>
            <a:endParaRPr sz="1600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" name="Google Shape;112;p22">
            <a:extLst>
              <a:ext uri="{FF2B5EF4-FFF2-40B4-BE49-F238E27FC236}">
                <a16:creationId xmlns:a16="http://schemas.microsoft.com/office/drawing/2014/main" xmlns="" id="{E16631A2-0F4B-D6FE-6C0A-D6F0B909071E}"/>
              </a:ext>
            </a:extLst>
          </p:cNvPr>
          <p:cNvSpPr txBox="1"/>
          <p:nvPr/>
        </p:nvSpPr>
        <p:spPr>
          <a:xfrm>
            <a:off x="256862" y="908933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</a:pPr>
            <a:r>
              <a:rPr lang="en-US" sz="1200" b="1" dirty="0"/>
              <a:t>FIXED COST (ONE-TIME SETUP):</a:t>
            </a:r>
          </a:p>
          <a:p>
            <a:pPr lvl="0">
              <a:lnSpc>
                <a:spcPct val="115000"/>
              </a:lnSpc>
            </a:pPr>
            <a:endParaRPr sz="1600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BB3DE11B-D8A5-03B0-56A2-F3E2914D0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535531"/>
              </p:ext>
            </p:extLst>
          </p:nvPr>
        </p:nvGraphicFramePr>
        <p:xfrm>
          <a:off x="600381" y="1254262"/>
          <a:ext cx="7943238" cy="3450902"/>
        </p:xfrm>
        <a:graphic>
          <a:graphicData uri="http://schemas.openxmlformats.org/drawingml/2006/table">
            <a:tbl>
              <a:tblPr/>
              <a:tblGrid>
                <a:gridCol w="2647746">
                  <a:extLst>
                    <a:ext uri="{9D8B030D-6E8A-4147-A177-3AD203B41FA5}">
                      <a16:colId xmlns:a16="http://schemas.microsoft.com/office/drawing/2014/main" xmlns="" val="3969687526"/>
                    </a:ext>
                  </a:extLst>
                </a:gridCol>
                <a:gridCol w="2647746">
                  <a:extLst>
                    <a:ext uri="{9D8B030D-6E8A-4147-A177-3AD203B41FA5}">
                      <a16:colId xmlns:a16="http://schemas.microsoft.com/office/drawing/2014/main" xmlns="" val="107575902"/>
                    </a:ext>
                  </a:extLst>
                </a:gridCol>
                <a:gridCol w="2647746">
                  <a:extLst>
                    <a:ext uri="{9D8B030D-6E8A-4147-A177-3AD203B41FA5}">
                      <a16:colId xmlns:a16="http://schemas.microsoft.com/office/drawing/2014/main" xmlns="" val="2973354363"/>
                    </a:ext>
                  </a:extLst>
                </a:gridCol>
              </a:tblGrid>
              <a:tr h="233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Item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Cost</a:t>
                      </a:r>
                      <a:r>
                        <a:rPr lang="en-IN" sz="1100" dirty="0"/>
                        <a:t> (₹)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Description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110838222"/>
                  </a:ext>
                </a:extLst>
              </a:tr>
              <a:tr h="39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Model Development (UNet + DDPM + PiNN + GNN)</a:t>
                      </a:r>
                      <a:endParaRPr lang="en-IN" sz="1100" dirty="0"/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₹1,00,000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Full AI pipeline development.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155474189"/>
                  </a:ext>
                </a:extLst>
              </a:tr>
              <a:tr h="39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Preprocessing Engine + Self Supervised Fine tune</a:t>
                      </a:r>
                      <a:endParaRPr lang="en-IN" sz="1100" dirty="0"/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₹70,000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DN ➝ BT/Albedo + SAM2 segmentation &amp; heatmap, and self supervised retrain.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036954389"/>
                  </a:ext>
                </a:extLst>
              </a:tr>
              <a:tr h="39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Local GPU</a:t>
                      </a:r>
                      <a:endParaRPr lang="en-IN" sz="1100" dirty="0"/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₹2,00,000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Avoids recurring cloud GPU cost.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577255732"/>
                  </a:ext>
                </a:extLst>
              </a:tr>
              <a:tr h="39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i-FI" sz="1100" b="1" dirty="0"/>
                        <a:t>SAM2 Fine-Tune on INSAT</a:t>
                      </a:r>
                      <a:endParaRPr lang="fi-FI" sz="1100" dirty="0"/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₹30,000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Run or reuse SAM2 weights, custom adapter.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92429862"/>
                  </a:ext>
                </a:extLst>
              </a:tr>
              <a:tr h="39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Web UI + Visualization</a:t>
                      </a:r>
                      <a:endParaRPr lang="en-US" sz="1100" dirty="0"/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₹20,000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UI for comparison, map overlay, metrics.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33041314"/>
                  </a:ext>
                </a:extLst>
              </a:tr>
              <a:tr h="39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Database/API Layer Setup</a:t>
                      </a:r>
                      <a:endParaRPr lang="en-IN" sz="1100" dirty="0"/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₹75,000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Metadata tagging, ROI queries, ERA5 fetcher.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3817274"/>
                  </a:ext>
                </a:extLst>
              </a:tr>
              <a:tr h="39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Documentation + SOP Handover</a:t>
                      </a:r>
                      <a:endParaRPr lang="en-IN" sz="1100" dirty="0"/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₹60,000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KT docs for NESAC/IMD.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66167544"/>
                  </a:ext>
                </a:extLst>
              </a:tr>
              <a:tr h="39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SSL/Domain/Security Setup</a:t>
                      </a:r>
                      <a:endParaRPr lang="en-US" sz="1100" dirty="0"/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₹30,000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Secure public endpoint deployment .</a:t>
                      </a:r>
                    </a:p>
                  </a:txBody>
                  <a:tcPr marL="70198" marR="70198" marT="35099" marB="350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657391991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DDCDAB84-CDA2-4800-8689-D351EAA239F5}"/>
              </a:ext>
            </a:extLst>
          </p:cNvPr>
          <p:cNvCxnSpPr/>
          <p:nvPr/>
        </p:nvCxnSpPr>
        <p:spPr>
          <a:xfrm>
            <a:off x="527824" y="4710015"/>
            <a:ext cx="815525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65493B61-6403-F4FB-3F5A-73F33D20B366}"/>
              </a:ext>
            </a:extLst>
          </p:cNvPr>
          <p:cNvSpPr txBox="1"/>
          <p:nvPr/>
        </p:nvSpPr>
        <p:spPr>
          <a:xfrm>
            <a:off x="3025698" y="4706781"/>
            <a:ext cx="6980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 </a:t>
            </a:r>
            <a:r>
              <a:rPr lang="en-IN" dirty="0"/>
              <a:t>₹</a:t>
            </a:r>
            <a:r>
              <a:rPr lang="en-US" dirty="0"/>
              <a:t>5,85,000 (</a:t>
            </a:r>
            <a:r>
              <a:rPr lang="en-US" sz="1000" dirty="0"/>
              <a:t>Estimated Cost (may vary based on final deployment and resources.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98040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>
          <a:extLst>
            <a:ext uri="{FF2B5EF4-FFF2-40B4-BE49-F238E27FC236}">
              <a16:creationId xmlns:a16="http://schemas.microsoft.com/office/drawing/2014/main" xmlns="" id="{B0537DE6-CBC6-51C0-C749-C2DCF25EE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 title="Artboard eee– 2.png">
            <a:extLst>
              <a:ext uri="{FF2B5EF4-FFF2-40B4-BE49-F238E27FC236}">
                <a16:creationId xmlns:a16="http://schemas.microsoft.com/office/drawing/2014/main" xmlns="" id="{6B1A383A-4C68-286A-B536-5FFAE9B1197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" y="0"/>
            <a:ext cx="914400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2">
            <a:extLst>
              <a:ext uri="{FF2B5EF4-FFF2-40B4-BE49-F238E27FC236}">
                <a16:creationId xmlns:a16="http://schemas.microsoft.com/office/drawing/2014/main" xmlns="" id="{5BFC3E76-940C-5845-DF54-7BE2CD760020}"/>
              </a:ext>
            </a:extLst>
          </p:cNvPr>
          <p:cNvSpPr txBox="1"/>
          <p:nvPr/>
        </p:nvSpPr>
        <p:spPr>
          <a:xfrm>
            <a:off x="138404" y="520592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</a:pPr>
            <a:endParaRPr sz="1600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8BF6FE6B-01C0-6346-1309-4E25CA7266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461950"/>
              </p:ext>
            </p:extLst>
          </p:nvPr>
        </p:nvGraphicFramePr>
        <p:xfrm>
          <a:off x="739100" y="4602923"/>
          <a:ext cx="8521700" cy="274320"/>
        </p:xfrm>
        <a:graphic>
          <a:graphicData uri="http://schemas.openxmlformats.org/drawingml/2006/table">
            <a:tbl>
              <a:tblPr/>
              <a:tblGrid>
                <a:gridCol w="4260850">
                  <a:extLst>
                    <a:ext uri="{9D8B030D-6E8A-4147-A177-3AD203B41FA5}">
                      <a16:colId xmlns:a16="http://schemas.microsoft.com/office/drawing/2014/main" xmlns="" val="2409542892"/>
                    </a:ext>
                  </a:extLst>
                </a:gridCol>
                <a:gridCol w="4260850">
                  <a:extLst>
                    <a:ext uri="{9D8B030D-6E8A-4147-A177-3AD203B41FA5}">
                      <a16:colId xmlns:a16="http://schemas.microsoft.com/office/drawing/2014/main" xmlns="" val="11958696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9086516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675052CC-1F90-EC48-0CAF-7DD8BBF310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408031"/>
              </p:ext>
            </p:extLst>
          </p:nvPr>
        </p:nvGraphicFramePr>
        <p:xfrm>
          <a:off x="680704" y="4792607"/>
          <a:ext cx="8521700" cy="274320"/>
        </p:xfrm>
        <a:graphic>
          <a:graphicData uri="http://schemas.openxmlformats.org/drawingml/2006/table">
            <a:tbl>
              <a:tblPr/>
              <a:tblGrid>
                <a:gridCol w="4260850">
                  <a:extLst>
                    <a:ext uri="{9D8B030D-6E8A-4147-A177-3AD203B41FA5}">
                      <a16:colId xmlns:a16="http://schemas.microsoft.com/office/drawing/2014/main" xmlns="" val="537806894"/>
                    </a:ext>
                  </a:extLst>
                </a:gridCol>
                <a:gridCol w="4260850">
                  <a:extLst>
                    <a:ext uri="{9D8B030D-6E8A-4147-A177-3AD203B41FA5}">
                      <a16:colId xmlns:a16="http://schemas.microsoft.com/office/drawing/2014/main" xmlns="" val="34599846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36842602"/>
                  </a:ext>
                </a:extLst>
              </a:tr>
            </a:tbl>
          </a:graphicData>
        </a:graphic>
      </p:graphicFrame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xmlns="" id="{5D9E8647-A197-22B7-7C9C-33364DB2D45F}"/>
              </a:ext>
            </a:extLst>
          </p:cNvPr>
          <p:cNvSpPr/>
          <p:nvPr/>
        </p:nvSpPr>
        <p:spPr>
          <a:xfrm>
            <a:off x="4021874" y="788725"/>
            <a:ext cx="4805669" cy="3768639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D7FFFDCD-D59C-886B-D579-F2BBDFA6D0BF}"/>
              </a:ext>
            </a:extLst>
          </p:cNvPr>
          <p:cNvSpPr txBox="1"/>
          <p:nvPr/>
        </p:nvSpPr>
        <p:spPr>
          <a:xfrm>
            <a:off x="5861157" y="866871"/>
            <a:ext cx="13455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References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EDBB2542-80F4-F05E-C8F5-0687C9BC79BB}"/>
              </a:ext>
            </a:extLst>
          </p:cNvPr>
          <p:cNvSpPr txBox="1"/>
          <p:nvPr/>
        </p:nvSpPr>
        <p:spPr>
          <a:xfrm>
            <a:off x="4216004" y="1147506"/>
            <a:ext cx="461154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Research Papers:</a:t>
            </a:r>
          </a:p>
          <a:p>
            <a:r>
              <a:rPr lang="en-US" sz="1000" dirty="0"/>
              <a:t>-----------------------------------------------------------------------</a:t>
            </a:r>
          </a:p>
          <a:p>
            <a:endParaRPr lang="en-US" sz="10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Denoising Diffusion Probabilistic Models</a:t>
            </a:r>
            <a:r>
              <a:rPr lang="en-US" sz="1000" dirty="0"/>
              <a:t> – Ho et al., 2020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Physics-Informed Neural Networks</a:t>
            </a:r>
            <a:r>
              <a:rPr lang="en-US" sz="1000" dirty="0"/>
              <a:t> – Karniadakis et al., 2021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U-Net: Convolutional Networks for Biomedical Image Segmentation</a:t>
            </a:r>
            <a:r>
              <a:rPr lang="en-US" sz="1000" dirty="0"/>
              <a:t> – Ronneberger et al., 2015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Segment Anything Model (SAM)</a:t>
            </a:r>
            <a:r>
              <a:rPr lang="en-US" sz="1000" dirty="0"/>
              <a:t> – Kirillov et al., 2023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Convolutional LSTM for Precipitation Nowcasting</a:t>
            </a:r>
            <a:r>
              <a:rPr lang="en-US" sz="1000" dirty="0"/>
              <a:t> – Shi et al., 2015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Graph Networks as Learnable Physics Engines</a:t>
            </a:r>
            <a:r>
              <a:rPr lang="en-US" sz="1000" dirty="0"/>
              <a:t> – Battaglia et al., 2018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Physics-Informed Weather Forecasting</a:t>
            </a:r>
            <a:r>
              <a:rPr lang="en-US" sz="1000" dirty="0"/>
              <a:t> – Chattopadhyay et al., 2021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Deep Learning for Remote Sensing: A Survey</a:t>
            </a:r>
            <a:r>
              <a:rPr lang="en-US" sz="1000" dirty="0"/>
              <a:t> – Khan et al., 2022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Graph Networks as Learnable Physics Engines</a:t>
            </a:r>
            <a:r>
              <a:rPr lang="en-US" sz="1000" dirty="0"/>
              <a:t> – Battaglia et al., 2018 </a:t>
            </a:r>
          </a:p>
          <a:p>
            <a:endParaRPr lang="en-US" sz="1000" dirty="0"/>
          </a:p>
          <a:p>
            <a:r>
              <a:rPr lang="en-US" sz="1000" dirty="0"/>
              <a:t>Other:</a:t>
            </a:r>
          </a:p>
          <a:p>
            <a:r>
              <a:rPr lang="en-US" sz="1000" dirty="0"/>
              <a:t>-----------------------------------------------------------------------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ISRO INSAT-3DR/3DS L1C Data User Manuals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ERA5 Atmospheric Reanalysis (ECMWF)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NOAA Oceanic Niño Index (ONI)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IMD Nowcasting Guidelines &amp; SOPs</a:t>
            </a:r>
          </a:p>
          <a:p>
            <a:endParaRPr lang="en-US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0189B6AA-8A8F-1169-F4BB-8E81BEBFBC23}"/>
              </a:ext>
            </a:extLst>
          </p:cNvPr>
          <p:cNvSpPr txBox="1"/>
          <p:nvPr/>
        </p:nvSpPr>
        <p:spPr>
          <a:xfrm>
            <a:off x="149212" y="4674532"/>
            <a:ext cx="8858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We, as a dedicated team, are excited to solve this problem and actively contribute to India’s AI vision 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xmlns="" id="{CCC49F65-E269-B8F9-8BDF-15C2DA2EDD34}"/>
              </a:ext>
            </a:extLst>
          </p:cNvPr>
          <p:cNvSpPr/>
          <p:nvPr/>
        </p:nvSpPr>
        <p:spPr>
          <a:xfrm>
            <a:off x="256057" y="803056"/>
            <a:ext cx="2645978" cy="2609217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xmlns="" id="{31144C03-5362-3EE8-7A2D-4806D532509D}"/>
              </a:ext>
            </a:extLst>
          </p:cNvPr>
          <p:cNvGrpSpPr/>
          <p:nvPr/>
        </p:nvGrpSpPr>
        <p:grpSpPr>
          <a:xfrm>
            <a:off x="401442" y="940262"/>
            <a:ext cx="2653992" cy="2346797"/>
            <a:chOff x="401442" y="940262"/>
            <a:chExt cx="2653992" cy="234679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B8EE1686-36CF-8243-72B4-9447E4DB4092}"/>
                </a:ext>
              </a:extLst>
            </p:cNvPr>
            <p:cNvSpPr txBox="1"/>
            <p:nvPr/>
          </p:nvSpPr>
          <p:spPr>
            <a:xfrm>
              <a:off x="401442" y="940262"/>
              <a:ext cx="19180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Team Roles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640253EA-AB97-629D-49C3-4AFFEFEC3C58}"/>
                </a:ext>
              </a:extLst>
            </p:cNvPr>
            <p:cNvSpPr txBox="1"/>
            <p:nvPr/>
          </p:nvSpPr>
          <p:spPr>
            <a:xfrm>
              <a:off x="401443" y="1248039"/>
              <a:ext cx="2653991" cy="2039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Krish Vaghasia (Team Leader)</a:t>
              </a:r>
            </a:p>
            <a:p>
              <a:r>
                <a:rPr lang="en-US" sz="1000" dirty="0"/>
                <a:t>Full Stack Developer</a:t>
              </a:r>
            </a:p>
            <a:p>
              <a:endParaRPr lang="en-US" sz="1200" dirty="0"/>
            </a:p>
            <a:p>
              <a:r>
                <a:rPr lang="en-US" sz="1200" dirty="0"/>
                <a:t>Heli Shah</a:t>
              </a:r>
            </a:p>
            <a:p>
              <a:r>
                <a:rPr lang="en-US" sz="1000" dirty="0"/>
                <a:t>AI/ML Developer</a:t>
              </a:r>
            </a:p>
            <a:p>
              <a:endParaRPr lang="en-US" sz="1200" dirty="0"/>
            </a:p>
            <a:p>
              <a:r>
                <a:rPr lang="en-US" sz="1200" dirty="0"/>
                <a:t>Hensi Patel</a:t>
              </a:r>
            </a:p>
            <a:p>
              <a:r>
                <a:rPr lang="en-US" sz="1000" dirty="0"/>
                <a:t>Backend Developer</a:t>
              </a:r>
            </a:p>
            <a:p>
              <a:endParaRPr lang="en-US" sz="1200" dirty="0"/>
            </a:p>
            <a:p>
              <a:r>
                <a:rPr lang="en-US" sz="1200" dirty="0"/>
                <a:t>Nisarg Vashi</a:t>
              </a:r>
            </a:p>
            <a:p>
              <a:r>
                <a:rPr lang="en-US" sz="1000" dirty="0"/>
                <a:t>AI/ML Developer</a:t>
              </a:r>
            </a:p>
          </p:txBody>
        </p: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xmlns="" id="{6F90ED86-FE88-7752-53CA-43F3BB8172F2}"/>
              </a:ext>
            </a:extLst>
          </p:cNvPr>
          <p:cNvCxnSpPr>
            <a:cxnSpLocks/>
          </p:cNvCxnSpPr>
          <p:nvPr/>
        </p:nvCxnSpPr>
        <p:spPr>
          <a:xfrm>
            <a:off x="460917" y="1218303"/>
            <a:ext cx="10853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85DE5D0B-65D6-511F-0BFA-9A925B6F01E6}"/>
              </a:ext>
            </a:extLst>
          </p:cNvPr>
          <p:cNvSpPr txBox="1"/>
          <p:nvPr/>
        </p:nvSpPr>
        <p:spPr>
          <a:xfrm rot="16200000">
            <a:off x="152397" y="3955271"/>
            <a:ext cx="8697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Results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xmlns="" id="{2F864A20-E26A-1C70-F0D9-29C2B20EA6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936" y="3698054"/>
            <a:ext cx="1919852" cy="8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173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4" title="Artboard eee– 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2052</TotalTime>
  <Words>1068</Words>
  <Application>Microsoft Office PowerPoint</Application>
  <PresentationFormat>On-screen Show (16:9)</PresentationFormat>
  <Paragraphs>225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Abadi</vt:lpstr>
      <vt:lpstr>Google Sans Medium</vt:lpstr>
      <vt:lpstr>Google Sans</vt:lpstr>
      <vt:lpstr>Wingdings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Nisarg</dc:creator>
  <cp:lastModifiedBy>Welcome</cp:lastModifiedBy>
  <cp:revision>37</cp:revision>
  <dcterms:modified xsi:type="dcterms:W3CDTF">2026-06-27T03:07:10Z</dcterms:modified>
</cp:coreProperties>
</file>