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67" r:id="rId13"/>
  </p:sldIdLst>
  <p:sldSz cx="9144000" cy="5143500" type="screen16x9"/>
  <p:notesSz cx="6858000" cy="9144000"/>
  <p:embeddedFontLst>
    <p:embeddedFont>
      <p:font typeface="Abadi" panose="020B0604020202020204" charset="0"/>
      <p:regular r:id="rId15"/>
    </p:embeddedFont>
    <p:embeddedFont>
      <p:font typeface="Google Sans Medium" panose="020B0604020202020204" charset="0"/>
      <p:regular r:id="rId16"/>
      <p:bold r:id="rId17"/>
      <p:italic r:id="rId18"/>
      <p:boldItalic r:id="rId19"/>
    </p:embeddedFont>
    <p:embeddedFont>
      <p:font typeface="Google Sans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7503A5-B4DA-43F6-BC4E-13D3167EA797}">
  <a:tblStyle styleId="{717503A5-B4DA-43F6-BC4E-13D3167EA7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6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Relationship Id="rId23" Type="http://schemas.openxmlformats.org/officeDocument/2006/relationships/font" Target="fonts/font9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69456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820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24071705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24071705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0020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240df15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240df152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044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24071705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24071705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6205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24071705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24071705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1564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24071705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24071705a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310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24071705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24071705a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3973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24071705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24071705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6483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24071705a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24071705a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9286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xmlns="" id="{0194B7B3-2B7E-AFFE-BB05-919C5AC1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24071705a_0_43:notes">
            <a:extLst>
              <a:ext uri="{FF2B5EF4-FFF2-40B4-BE49-F238E27FC236}">
                <a16:creationId xmlns:a16="http://schemas.microsoft.com/office/drawing/2014/main" xmlns="" id="{8872ABC2-D99A-BEE6-98D5-444A08AC6E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24071705a_0_43:notes">
            <a:extLst>
              <a:ext uri="{FF2B5EF4-FFF2-40B4-BE49-F238E27FC236}">
                <a16:creationId xmlns:a16="http://schemas.microsoft.com/office/drawing/2014/main" xmlns="" id="{F8CE504F-4010-A8DA-2592-319D50D840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154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xmlns="" id="{D85ECDA3-F805-A5DB-3FC1-77F562EF6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24071705a_0_43:notes">
            <a:extLst>
              <a:ext uri="{FF2B5EF4-FFF2-40B4-BE49-F238E27FC236}">
                <a16:creationId xmlns:a16="http://schemas.microsoft.com/office/drawing/2014/main" xmlns="" id="{BF525E39-CA52-55CA-FC4B-3D4C110BB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24071705a_0_43:notes">
            <a:extLst>
              <a:ext uri="{FF2B5EF4-FFF2-40B4-BE49-F238E27FC236}">
                <a16:creationId xmlns:a16="http://schemas.microsoft.com/office/drawing/2014/main" xmlns="" id="{09F06F8D-7010-6E33-3420-9FAAE040CE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2644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24071705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24071705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40090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7.jpg"/><Relationship Id="rId7" Type="http://schemas.openxmlformats.org/officeDocument/2006/relationships/image" Target="../media/image1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jpg"/><Relationship Id="rId9" Type="http://schemas.openxmlformats.org/officeDocument/2006/relationships/image" Target="../media/image10.png"/><Relationship Id="rId10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0.jpg"/><Relationship Id="rId7" Type="http://schemas.openxmlformats.org/officeDocument/2006/relationships/image" Target="../media/image2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board eee–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Team Name : SuryaDrishti</a:t>
            </a: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Team Leader Name : Deep Shekhar Halder</a:t>
            </a:r>
          </a:p>
        </p:txBody>
      </p:sp>
      <p:sp>
        <p:nvSpPr>
          <p:cNvPr id="3" name="Google Shape;56;p13">
            <a:extLst>
              <a:ext uri="{FF2B5EF4-FFF2-40B4-BE49-F238E27FC236}">
                <a16:creationId xmlns:a16="http://schemas.microsoft.com/office/drawing/2014/main" xmlns="" id="{AA90A4F8-9453-CBAD-94FA-5531053D7E21}"/>
              </a:ext>
            </a:extLst>
          </p:cNvPr>
          <p:cNvSpPr txBox="1"/>
          <p:nvPr/>
        </p:nvSpPr>
        <p:spPr>
          <a:xfrm>
            <a:off x="328730" y="4180002"/>
            <a:ext cx="8520600" cy="70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defRPr sz="1600" b="0">
                <a:solidFill>
                  <a:srgbClr val="00D28C"/>
                </a:solidFill>
                <a:latin typeface="Arial"/>
              </a:defRPr>
            </a:pPr>
            <a:r>
              <a:t>Problem Statement : PS15 - Real-Time Solar Flare Nowcasting and Forecasting Using ISRO Aditya-L1 X-Ray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 eee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sz="2050" dirty="0">
                <a:solidFill>
                  <a:schemeClr val="dk1"/>
                </a:solidFill>
                <a:latin typeface="Abadi" panose="020B0604020104020204" pitchFamily="34" charset="0"/>
                <a:ea typeface="Google Sans Medium"/>
                <a:cs typeface="Google Sans Medium"/>
                <a:sym typeface="Google Sans Medium"/>
              </a:rPr>
              <a:t>Team Members</a:t>
            </a:r>
            <a:endParaRPr sz="2050" dirty="0">
              <a:solidFill>
                <a:schemeClr val="dk1"/>
              </a:solidFill>
              <a:latin typeface="Abadi" panose="020B0604020104020204" pitchFamily="34" charset="0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>
            <p:extLst>
              <p:ext uri="{D42A27DB-BD31-4B8C-83A1-F6EECF244321}">
                <p14:modId xmlns:p14="http://schemas.microsoft.com/office/powerpoint/2010/main" val="2741791380"/>
              </p:ext>
            </p:extLst>
          </p:nvPr>
        </p:nvGraphicFramePr>
        <p:xfrm>
          <a:off x="952500" y="1329450"/>
          <a:ext cx="7239000" cy="3589950"/>
        </p:xfrm>
        <a:graphic>
          <a:graphicData uri="http://schemas.openxmlformats.org/drawingml/2006/table">
            <a:tbl>
              <a:tblPr>
                <a:noFill/>
                <a:tableStyleId>{717503A5-B4DA-43F6-BC4E-13D3167EA797}</a:tableStyleId>
              </a:tblPr>
              <a:tblGrid>
                <a:gridCol w="4719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1947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794975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Team Leader &amp; Tech Lead</a:t>
                      </a:r>
                      <a:br/>
                      <a:r>
                        <a:t>Name: Deep Shekhar Halder</a:t>
                      </a:r>
                      <a:br/>
                      <a:r>
                        <a:t>Email: deephalder209@gmail.com</a:t>
                      </a:r>
                      <a:br/>
                      <a:r>
                        <a:t>College: Adamas University, Kolkata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Team Member-1 (Data &amp; Preprocessing)</a:t>
                      </a:r>
                      <a:br/>
                      <a:r>
                        <a:t>Name: Rituraj Saha</a:t>
                      </a:r>
                      <a:br/>
                      <a:r>
                        <a:t>Email: saharituraj805@gmail.com</a:t>
                      </a:r>
                      <a:br/>
                      <a:r>
                        <a:t>College: Adamas University, Kolkata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94975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Team Member-2 (ML Modeling &amp; Validation)</a:t>
                      </a:r>
                      <a:br/>
                      <a:r>
                        <a:t>Name: Mahalaxmi Macha</a:t>
                      </a:r>
                      <a:br/>
                      <a:r>
                        <a:t>Email: mahalaxmimacha14@gmail.com</a:t>
                      </a:r>
                      <a:br/>
                      <a:r>
                        <a:t>College: Adamas University, Kolkata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Team Member-3 (Dashboard &amp; Benchmarking)</a:t>
                      </a:r>
                      <a:br/>
                      <a:r>
                        <a:t>Name: Ashfaque Ahamed Khan</a:t>
                      </a:r>
                      <a:br/>
                      <a:r>
                        <a:t>Email: ashfaqueahamedkhan591@gmail.com</a:t>
                      </a:r>
                      <a:br/>
                      <a:r>
                        <a:t>College: Adamas University, Kolkata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Artboard eee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52855" y="457200"/>
            <a:ext cx="3077769" cy="51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Brief about the Idea: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endParaRPr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67EC9CB-EFA5-39A1-656A-2476AE2884B0}"/>
              </a:ext>
            </a:extLst>
          </p:cNvPr>
          <p:cNvSpPr txBox="1"/>
          <p:nvPr/>
        </p:nvSpPr>
        <p:spPr>
          <a:xfrm>
            <a:off x="221032" y="2560320"/>
            <a:ext cx="8701935" cy="3931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50" b="0">
                <a:solidFill>
                  <a:srgbClr val="282828"/>
                </a:solidFill>
                <a:latin typeface="Arial"/>
              </a:defRPr>
            </a:pPr>
            <a:r>
              <a:t>Project SuryaDrishti is an autonomous, space-weather alert dashboard and prediction pipeline built directly for ISRO Aditya-L1 ground operations. It fuses multi-wavelength X-ray telemetry on a 1-second cadence to nowcast and forecast solar flares and their terrestrial space weather impacts.</a:t>
            </a:r>
            <a:br/>
            <a:br/>
            <a:r>
              <a:t>• Multi-Instrument Fusion: Synchronizes SoLEXS (Soft X-rays, 1-22 keV) and HEL1OS (Hard X-rays, 10-150 keV) on a 1-second cadence.</a:t>
            </a:r>
            <a:br/>
            <a:r>
              <a:t>• Causal Nowcasting Core: Employs a zero-lookahead rolling statistical threshold engine to identify flare onset, peak, and decay phases without temporal leakage.</a:t>
            </a:r>
            <a:br/>
            <a:r>
              <a:t>• Pre-Flare Precursor Alarm: Detects inflection in the SoLEXS counts derivative, providing a 10-30 minute early warning before flare peak.</a:t>
            </a:r>
            <a:br/>
            <a:r>
              <a:t>• Differential Emission Measure (DEM): Resolves the coronal temperature distribution (T_max, emission measure EM) in real-time using Tikhonov regularization.</a:t>
            </a:r>
            <a:br/>
            <a:r>
              <a:t>• Solar Energetic Particles (SEP) &amp; Parker Spiral: Models solar proton flux arrival times using Tylka-Dietrich regression and Parker Spiral magnetic connection probability.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xmlns="" id="{C43C9653-D11A-688D-6BA8-1E173060C1C6}"/>
              </a:ext>
            </a:extLst>
          </p:cNvPr>
          <p:cNvSpPr/>
          <p:nvPr/>
        </p:nvSpPr>
        <p:spPr>
          <a:xfrm>
            <a:off x="282498" y="1204332"/>
            <a:ext cx="8508647" cy="63190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10FCF05-BF14-80FF-24E7-DD9C4AC4AF6B}"/>
              </a:ext>
            </a:extLst>
          </p:cNvPr>
          <p:cNvSpPr txBox="1"/>
          <p:nvPr/>
        </p:nvSpPr>
        <p:spPr>
          <a:xfrm>
            <a:off x="431180" y="1371600"/>
            <a:ext cx="5382322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1">
                <a:solidFill>
                  <a:srgbClr val="0A192F"/>
                </a:solidFill>
                <a:latin typeface="Arial"/>
              </a:defRPr>
            </a:pPr>
            <a:r>
              <a:t>Project SuryaDrishti - Autonomous Space Weather Alert System</a:t>
            </a:r>
            <a:br/>
            <a:r>
              <a:t>(Real-Time Solar Flare Nowcasting &amp; Forecasting Dashboard)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Artboard eee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46059" y="526333"/>
            <a:ext cx="75693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4"/>
              <a:buNone/>
            </a:pPr>
            <a:r>
              <a:rPr lang="en-GB" sz="645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Opportunity should be able to explain the following:</a:t>
            </a:r>
            <a:endParaRPr sz="645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61666"/>
              <a:buNone/>
            </a:pPr>
            <a:endParaRPr sz="1650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B3B37B35-C0D0-6DF1-7730-AB7D80D8E67F}"/>
              </a:ext>
            </a:extLst>
          </p:cNvPr>
          <p:cNvSpPr/>
          <p:nvPr/>
        </p:nvSpPr>
        <p:spPr>
          <a:xfrm>
            <a:off x="5367454" y="691377"/>
            <a:ext cx="3613525" cy="398570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1AF97A0-A927-3A14-5A8C-15A2C17C8849}"/>
              </a:ext>
            </a:extLst>
          </p:cNvPr>
          <p:cNvSpPr txBox="1"/>
          <p:nvPr/>
        </p:nvSpPr>
        <p:spPr>
          <a:xfrm>
            <a:off x="163020" y="884663"/>
            <a:ext cx="5204434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82828"/>
                </a:solidFill>
                <a:latin typeface="Arial"/>
              </a:defRPr>
            </a:pPr>
            <a:r>
              <a:t>How different is it from other existing ideas?</a:t>
            </a:r>
            <a:br/>
            <a:r>
              <a:t>• Traditional methods rely on post-facto centered smoothing windows (incorporating future data points), making them undeployable in real-time. We implement a strictly causal rolling baseline.</a:t>
            </a:r>
            <a:br/>
            <a:r>
              <a:t>• Prior works treat SXR and HXR as separate catalogs; we perform raw, 1-second cadence multi-instrument telemetry fusion to compute physical properties in real time.</a:t>
            </a:r>
            <a:br/>
            <a:br/>
            <a:r>
              <a:t>How will it be able to solve the problem?</a:t>
            </a:r>
            <a:br/>
            <a:r>
              <a:t>• Aditya-L1 provides high-cadence X-ray measurements. By combining SoLEXS and HEL1OS telemetry, we capture the full thermodynamic evolution of solar flares.</a:t>
            </a:r>
            <a:br/>
            <a:r>
              <a:t>• Predicts impending flares 30 minutes in advance using RandomForest models trained on physics-informed precursors (QPPs, hardness ratio).</a:t>
            </a:r>
            <a:br/>
            <a:r>
              <a:t>• Protects satellites and power grids from sudden radiation surges.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D56AD6D-BF08-47F0-AF58-8309EB1815C8}"/>
              </a:ext>
            </a:extLst>
          </p:cNvPr>
          <p:cNvSpPr txBox="1"/>
          <p:nvPr/>
        </p:nvSpPr>
        <p:spPr>
          <a:xfrm>
            <a:off x="5577840" y="1874519"/>
            <a:ext cx="5943600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0">
                <a:solidFill>
                  <a:srgbClr val="282828"/>
                </a:solidFill>
                <a:latin typeface="Arial"/>
              </a:defRPr>
            </a:pPr>
            <a:r>
              <a:t>USP of the proposed solution</a:t>
            </a:r>
            <a:br/>
            <a:r>
              <a:t>1. Strictly Causal Nowcasting: Zero-lookahead baseline achieves 93.2% recall against NOAA GOES.</a:t>
            </a:r>
            <a:br/>
            <a:r>
              <a:t>2. Real-Time Telemetry Fusion: Aligns SXR and HXR on a 1-second cadence to model the Neupert Effect.</a:t>
            </a:r>
            <a:br/>
            <a:r>
              <a:t>3. Physics-Informed Precursors: Reconstructs coronal plasma heating (slow rise) and non-thermal acceleration (QPPs and hardness ratio).</a:t>
            </a:r>
            <a:br/>
            <a:r>
              <a:t>4. Sub-Threshold Discovery: Detects 136 microflares absent from official NOAA catalogs.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Artboard eee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3E37275-838D-72A5-743A-88D5A93FE322}"/>
              </a:ext>
            </a:extLst>
          </p:cNvPr>
          <p:cNvSpPr txBox="1"/>
          <p:nvPr/>
        </p:nvSpPr>
        <p:spPr>
          <a:xfrm>
            <a:off x="122329" y="796418"/>
            <a:ext cx="5141050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0">
                <a:solidFill>
                  <a:srgbClr val="282828"/>
                </a:solidFill>
                <a:latin typeface="Arial"/>
              </a:defRPr>
            </a:pPr>
            <a:r>
              <a:t>Features offered by the Solution:</a:t>
            </a:r>
            <a:br/>
            <a:r>
              <a:t>• Multi-Instrument Ingestion &amp; Harmonization: Automates calibration and alignment of raw FITS files from SoLEXS and HEL1OS.</a:t>
            </a:r>
            <a:br/>
            <a:r>
              <a:t>• Real-Time Causal Nowcasting: Detects solar flare onset, peak, and decay phases using dynamic statistical thresholds.</a:t>
            </a:r>
            <a:br/>
            <a:r>
              <a:t>• Physics-Informed Predictive Modeling: Forecasts impending flares 30 minutes in advance using rolling physics-backed precursors.</a:t>
            </a:r>
            <a:br/>
            <a:r>
              <a:t>• Live Operator Dashboard &amp; Alerts: Displays live counts, risk probabilities, and color-coded hazard alerts (Green, Yellow, Red).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61E3694-B5F6-6D9E-CA06-2AD928048100}"/>
              </a:ext>
            </a:extLst>
          </p:cNvPr>
          <p:cNvSpPr txBox="1"/>
          <p:nvPr/>
        </p:nvSpPr>
        <p:spPr>
          <a:xfrm>
            <a:off x="547592" y="649960"/>
            <a:ext cx="3775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D1ED6354-A9EC-B6DB-76E5-F2D6DFAABE49}"/>
              </a:ext>
            </a:extLst>
          </p:cNvPr>
          <p:cNvCxnSpPr>
            <a:cxnSpLocks/>
          </p:cNvCxnSpPr>
          <p:nvPr/>
        </p:nvCxnSpPr>
        <p:spPr>
          <a:xfrm>
            <a:off x="7211122" y="2111293"/>
            <a:ext cx="0" cy="1204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43322B9-3FE3-3FA0-C7E1-EFB683AB1384}"/>
              </a:ext>
            </a:extLst>
          </p:cNvPr>
          <p:cNvSpPr txBox="1"/>
          <p:nvPr/>
        </p:nvSpPr>
        <p:spPr>
          <a:xfrm>
            <a:off x="6259551" y="1717281"/>
            <a:ext cx="2449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282828"/>
                </a:solidFill>
                <a:latin typeface="Arial"/>
              </a:defRPr>
            </a:pPr>
            <a:r>
              <a:t>SoLEXS Soft X-Ray (1-22 keV)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47323DF-3859-A8D2-F0CC-6582A04EEE37}"/>
              </a:ext>
            </a:extLst>
          </p:cNvPr>
          <p:cNvSpPr txBox="1"/>
          <p:nvPr/>
        </p:nvSpPr>
        <p:spPr>
          <a:xfrm>
            <a:off x="6351389" y="4443776"/>
            <a:ext cx="1910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282828"/>
                </a:solidFill>
                <a:latin typeface="Arial"/>
              </a:defRPr>
            </a:pPr>
            <a:r>
              <a:t>SUIT NUV Wavelength (200-400 nm)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D408B0E4-68B6-7005-4B12-7F73F72CBF97}"/>
              </a:ext>
            </a:extLst>
          </p:cNvPr>
          <p:cNvSpPr txBox="1"/>
          <p:nvPr/>
        </p:nvSpPr>
        <p:spPr>
          <a:xfrm>
            <a:off x="4363445" y="4786509"/>
            <a:ext cx="49028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282828"/>
                </a:solidFill>
                <a:latin typeface="Arial"/>
              </a:defRPr>
            </a:pPr>
            <a:r>
              <a:t>*Proof-of-concept developed on real Aditya-L1 telemetry (259,071 overlap timestamps, 16 flares)</a:t>
            </a:r>
          </a:p>
        </p:txBody>
      </p:sp>
      <p:pic>
        <p:nvPicPr>
          <p:cNvPr id="82" name="Picture 81" descr="sun_orange_178261217844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708" y="884988"/>
            <a:ext cx="3525408" cy="832294"/>
          </a:xfrm>
          <a:prstGeom prst="rect">
            <a:avLst/>
          </a:prstGeom>
        </p:spPr>
      </p:pic>
      <p:pic>
        <p:nvPicPr>
          <p:cNvPr id="83" name="Picture 82" descr="sun_purple_17826122909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2332" y="3426219"/>
            <a:ext cx="2648691" cy="10175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Artboard eee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29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70990" y="465659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Process flow diagram</a:t>
            </a: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75" name="Google Shape;128;p3">
            <a:extLst>
              <a:ext uri="{FF2B5EF4-FFF2-40B4-BE49-F238E27FC236}">
                <a16:creationId xmlns:a16="http://schemas.microsoft.com/office/drawing/2014/main" xmlns="" id="{091D9D0F-517F-8D24-A377-E44B642BAE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7656355" y="1337638"/>
            <a:ext cx="1083641" cy="1083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132;p3">
            <a:extLst>
              <a:ext uri="{FF2B5EF4-FFF2-40B4-BE49-F238E27FC236}">
                <a16:creationId xmlns:a16="http://schemas.microsoft.com/office/drawing/2014/main" xmlns="" id="{5768E2AE-EB6C-7849-3472-C3C14CC721F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6489770" y="2473569"/>
            <a:ext cx="1004325" cy="9546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9" name="Google Shape;135;p3">
            <a:extLst>
              <a:ext uri="{FF2B5EF4-FFF2-40B4-BE49-F238E27FC236}">
                <a16:creationId xmlns:a16="http://schemas.microsoft.com/office/drawing/2014/main" xmlns="" id="{1BAD1CF2-DD90-0DC4-224B-EFC9B133780B}"/>
              </a:ext>
            </a:extLst>
          </p:cNvPr>
          <p:cNvSpPr txBox="1"/>
          <p:nvPr/>
        </p:nvSpPr>
        <p:spPr>
          <a:xfrm>
            <a:off x="7804388" y="2298201"/>
            <a:ext cx="83039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900" b="1">
                <a:solidFill>
                  <a:srgbClr val="282828"/>
                </a:solidFill>
                <a:latin typeface="Arial"/>
              </a:defRPr>
            </a:pPr>
            <a:r>
              <a:t>Aditya-L1 Spacecraft</a:t>
            </a:r>
          </a:p>
        </p:txBody>
      </p:sp>
      <p:sp>
        <p:nvSpPr>
          <p:cNvPr id="80" name="Google Shape;141;p3">
            <a:extLst>
              <a:ext uri="{FF2B5EF4-FFF2-40B4-BE49-F238E27FC236}">
                <a16:creationId xmlns:a16="http://schemas.microsoft.com/office/drawing/2014/main" xmlns="" id="{CC7A73E3-768B-32C9-BEFF-83A16902999C}"/>
              </a:ext>
            </a:extLst>
          </p:cNvPr>
          <p:cNvSpPr txBox="1"/>
          <p:nvPr/>
        </p:nvSpPr>
        <p:spPr>
          <a:xfrm>
            <a:off x="6531670" y="3344423"/>
            <a:ext cx="100432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900" b="1">
                <a:solidFill>
                  <a:srgbClr val="282828"/>
                </a:solidFill>
                <a:latin typeface="Arial"/>
              </a:defRPr>
            </a:pPr>
            <a:r>
              <a:t>ISSDC Data Portal</a:t>
            </a:r>
          </a:p>
        </p:txBody>
      </p:sp>
      <p:sp>
        <p:nvSpPr>
          <p:cNvPr id="82" name="Cylinder 81">
            <a:extLst>
              <a:ext uri="{FF2B5EF4-FFF2-40B4-BE49-F238E27FC236}">
                <a16:creationId xmlns:a16="http://schemas.microsoft.com/office/drawing/2014/main" xmlns="" id="{457C3236-13B1-55DD-F365-6EAB4DFE40B3}"/>
              </a:ext>
            </a:extLst>
          </p:cNvPr>
          <p:cNvSpPr/>
          <p:nvPr/>
        </p:nvSpPr>
        <p:spPr>
          <a:xfrm rot="16200000">
            <a:off x="4813239" y="2410896"/>
            <a:ext cx="337915" cy="1079989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xmlns="" id="{47D94820-7554-81E7-63C2-8F456B19A5D9}"/>
              </a:ext>
            </a:extLst>
          </p:cNvPr>
          <p:cNvCxnSpPr>
            <a:cxnSpLocks/>
            <a:stCxn id="76" idx="3"/>
            <a:endCxn id="82" idx="3"/>
          </p:cNvCxnSpPr>
          <p:nvPr/>
        </p:nvCxnSpPr>
        <p:spPr>
          <a:xfrm flipH="1">
            <a:off x="5522191" y="2950889"/>
            <a:ext cx="96757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5D14415A-07E5-2F13-1192-851BD4E7EAC5}"/>
              </a:ext>
            </a:extLst>
          </p:cNvPr>
          <p:cNvSpPr txBox="1"/>
          <p:nvPr/>
        </p:nvSpPr>
        <p:spPr>
          <a:xfrm>
            <a:off x="4375763" y="3183218"/>
            <a:ext cx="150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282828"/>
                </a:solidFill>
                <a:latin typeface="Arial"/>
              </a:defRPr>
            </a:pPr>
            <a:r>
              <a:t>Telemetry Ingestion &amp; Calibration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xmlns="" id="{E3D4A5D2-2B49-B656-F1BF-E92A0987B08A}"/>
              </a:ext>
            </a:extLst>
          </p:cNvPr>
          <p:cNvGrpSpPr/>
          <p:nvPr/>
        </p:nvGrpSpPr>
        <p:grpSpPr>
          <a:xfrm>
            <a:off x="4490538" y="2337859"/>
            <a:ext cx="941903" cy="293720"/>
            <a:chOff x="5484122" y="2950165"/>
            <a:chExt cx="1139702" cy="355402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xmlns="" id="{DE84EBED-C147-F3E8-B97A-EA58314FE401}"/>
                </a:ext>
              </a:extLst>
            </p:cNvPr>
            <p:cNvSpPr/>
            <p:nvPr/>
          </p:nvSpPr>
          <p:spPr>
            <a:xfrm>
              <a:off x="5583044" y="3028769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xmlns="" id="{742BCBED-2DAC-4460-9A2B-23E98C93B751}"/>
                </a:ext>
              </a:extLst>
            </p:cNvPr>
            <p:cNvSpPr/>
            <p:nvPr/>
          </p:nvSpPr>
          <p:spPr>
            <a:xfrm>
              <a:off x="5843628" y="3024771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xmlns="" id="{68D5E7DC-B5DB-DAC2-E3C9-9A7B4BC014DE}"/>
                </a:ext>
              </a:extLst>
            </p:cNvPr>
            <p:cNvSpPr/>
            <p:nvPr/>
          </p:nvSpPr>
          <p:spPr>
            <a:xfrm>
              <a:off x="6104212" y="3028769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xmlns="" id="{82176083-CBB5-5A1E-52E3-7552632D512E}"/>
                </a:ext>
              </a:extLst>
            </p:cNvPr>
            <p:cNvSpPr/>
            <p:nvPr/>
          </p:nvSpPr>
          <p:spPr>
            <a:xfrm>
              <a:off x="6362831" y="3024770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xmlns="" id="{72451BB0-43F3-14B9-6F56-0FB8C7CBD0C9}"/>
                </a:ext>
              </a:extLst>
            </p:cNvPr>
            <p:cNvCxnSpPr/>
            <p:nvPr/>
          </p:nvCxnSpPr>
          <p:spPr>
            <a:xfrm>
              <a:off x="5484122" y="2950165"/>
              <a:ext cx="107943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xmlns="" id="{B0AD8555-4FB5-BE91-0D73-485C8D9654A4}"/>
                </a:ext>
              </a:extLst>
            </p:cNvPr>
            <p:cNvCxnSpPr/>
            <p:nvPr/>
          </p:nvCxnSpPr>
          <p:spPr>
            <a:xfrm>
              <a:off x="5484122" y="3305567"/>
              <a:ext cx="113970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xmlns="" id="{DB532CEC-937A-5084-1586-D4820DCAE154}"/>
              </a:ext>
            </a:extLst>
          </p:cNvPr>
          <p:cNvCxnSpPr>
            <a:cxnSpLocks/>
          </p:cNvCxnSpPr>
          <p:nvPr/>
        </p:nvCxnSpPr>
        <p:spPr>
          <a:xfrm flipH="1">
            <a:off x="3506555" y="2981624"/>
            <a:ext cx="8692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xmlns="" id="{383B15A1-5E20-40A6-3708-0E1FDD72C8AD}"/>
              </a:ext>
            </a:extLst>
          </p:cNvPr>
          <p:cNvSpPr txBox="1"/>
          <p:nvPr/>
        </p:nvSpPr>
        <p:spPr>
          <a:xfrm>
            <a:off x="2573013" y="3341432"/>
            <a:ext cx="1331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282828"/>
                </a:solidFill>
                <a:latin typeface="Arial"/>
              </a:defRPr>
            </a:pPr>
            <a:r>
              <a:t>Causal Nowcasting &amp; RandomForest Core</a:t>
            </a:r>
          </a:p>
        </p:txBody>
      </p: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xmlns="" id="{C455C234-819C-058F-439A-135328E8E3A6}"/>
              </a:ext>
            </a:extLst>
          </p:cNvPr>
          <p:cNvCxnSpPr>
            <a:cxnSpLocks/>
            <a:stCxn id="79" idx="2"/>
            <a:endCxn id="76" idx="1"/>
          </p:cNvCxnSpPr>
          <p:nvPr/>
        </p:nvCxnSpPr>
        <p:spPr>
          <a:xfrm rot="5400000">
            <a:off x="7668977" y="2400279"/>
            <a:ext cx="375729" cy="72549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xmlns="" id="{C203561A-C0A4-66D0-E9BD-BD088681FAE8}"/>
              </a:ext>
            </a:extLst>
          </p:cNvPr>
          <p:cNvCxnSpPr/>
          <p:nvPr/>
        </p:nvCxnSpPr>
        <p:spPr>
          <a:xfrm>
            <a:off x="3014663" y="3854271"/>
            <a:ext cx="0" cy="33353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xmlns="" id="{A4DAD74A-E921-2BC3-2C29-A9643F7588CA}"/>
              </a:ext>
            </a:extLst>
          </p:cNvPr>
          <p:cNvCxnSpPr>
            <a:cxnSpLocks/>
          </p:cNvCxnSpPr>
          <p:nvPr/>
        </p:nvCxnSpPr>
        <p:spPr>
          <a:xfrm flipV="1">
            <a:off x="3026802" y="4174814"/>
            <a:ext cx="4041101" cy="512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xmlns="" id="{52D864D9-2EC6-274F-8A17-A7F3ABA13E24}"/>
              </a:ext>
            </a:extLst>
          </p:cNvPr>
          <p:cNvCxnSpPr/>
          <p:nvPr/>
        </p:nvCxnSpPr>
        <p:spPr>
          <a:xfrm flipV="1">
            <a:off x="6991933" y="3717539"/>
            <a:ext cx="0" cy="457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6" name="Picture 125">
            <a:extLst>
              <a:ext uri="{FF2B5EF4-FFF2-40B4-BE49-F238E27FC236}">
                <a16:creationId xmlns:a16="http://schemas.microsoft.com/office/drawing/2014/main" xmlns="" id="{5D0ECE85-E781-8B06-6920-2231F74DB6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2797" y="4111325"/>
            <a:ext cx="495120" cy="495120"/>
          </a:xfrm>
          <a:prstGeom prst="rect">
            <a:avLst/>
          </a:prstGeom>
        </p:spPr>
      </p:pic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xmlns="" id="{099C9F60-42BF-EFEE-AE95-27992D529E97}"/>
              </a:ext>
            </a:extLst>
          </p:cNvPr>
          <p:cNvCxnSpPr>
            <a:cxnSpLocks/>
            <a:endCxn id="81" idx="3"/>
          </p:cNvCxnSpPr>
          <p:nvPr/>
        </p:nvCxnSpPr>
        <p:spPr>
          <a:xfrm rot="10800000">
            <a:off x="2656960" y="2988070"/>
            <a:ext cx="5353680" cy="1432900"/>
          </a:xfrm>
          <a:prstGeom prst="bentConnector3">
            <a:avLst>
              <a:gd name="adj1" fmla="val 104270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1" name="Google Shape;138;p3" descr="Futuristic infographic collection">
            <a:extLst>
              <a:ext uri="{FF2B5EF4-FFF2-40B4-BE49-F238E27FC236}">
                <a16:creationId xmlns:a16="http://schemas.microsoft.com/office/drawing/2014/main" xmlns="" id="{DF8AD0E0-0DC0-94F7-5D6B-E53CB8F8B80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82387" y="1226681"/>
            <a:ext cx="1083641" cy="672855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xmlns="" id="{B1273DB4-B989-3569-DBD4-D450D2976D65}"/>
              </a:ext>
            </a:extLst>
          </p:cNvPr>
          <p:cNvSpPr txBox="1"/>
          <p:nvPr/>
        </p:nvSpPr>
        <p:spPr>
          <a:xfrm>
            <a:off x="5987255" y="2404345"/>
            <a:ext cx="6752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actual</a:t>
            </a:r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xmlns="" id="{81193530-9E56-8129-4FFC-B7367A3E9FF8}"/>
              </a:ext>
            </a:extLst>
          </p:cNvPr>
          <p:cNvSpPr txBox="1"/>
          <p:nvPr/>
        </p:nvSpPr>
        <p:spPr>
          <a:xfrm>
            <a:off x="6630805" y="2109132"/>
            <a:ext cx="9203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predicted</a:t>
            </a:r>
            <a:endParaRPr lang="en-US" sz="1100" dirty="0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xmlns="" id="{22B03254-E067-81FC-A1CE-A3383DBE6B42}"/>
              </a:ext>
            </a:extLst>
          </p:cNvPr>
          <p:cNvGrpSpPr/>
          <p:nvPr/>
        </p:nvGrpSpPr>
        <p:grpSpPr>
          <a:xfrm>
            <a:off x="3722953" y="3854625"/>
            <a:ext cx="518037" cy="293720"/>
            <a:chOff x="5484122" y="2950165"/>
            <a:chExt cx="626825" cy="355402"/>
          </a:xfrm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xmlns="" id="{570E6C0E-B325-FA45-C6AE-F0D8AE36FFBF}"/>
                </a:ext>
              </a:extLst>
            </p:cNvPr>
            <p:cNvSpPr/>
            <p:nvPr/>
          </p:nvSpPr>
          <p:spPr>
            <a:xfrm>
              <a:off x="5583044" y="3028769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xmlns="" id="{5CB8F126-D3B3-FE31-40DE-DEF73A455A58}"/>
                </a:ext>
              </a:extLst>
            </p:cNvPr>
            <p:cNvSpPr/>
            <p:nvPr/>
          </p:nvSpPr>
          <p:spPr>
            <a:xfrm>
              <a:off x="5843628" y="3024771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xmlns="" id="{CD98A08A-53D5-ECF2-0BBA-F4FEBFBD5AF0}"/>
                </a:ext>
              </a:extLst>
            </p:cNvPr>
            <p:cNvCxnSpPr>
              <a:cxnSpLocks/>
            </p:cNvCxnSpPr>
            <p:nvPr/>
          </p:nvCxnSpPr>
          <p:spPr>
            <a:xfrm>
              <a:off x="5484122" y="2950165"/>
              <a:ext cx="62682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xmlns="" id="{E62B9417-11C6-4B96-A8CE-C642B7BDD0B7}"/>
                </a:ext>
              </a:extLst>
            </p:cNvPr>
            <p:cNvCxnSpPr>
              <a:cxnSpLocks/>
            </p:cNvCxnSpPr>
            <p:nvPr/>
          </p:nvCxnSpPr>
          <p:spPr>
            <a:xfrm>
              <a:off x="5484122" y="3305567"/>
              <a:ext cx="62682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xmlns="" id="{6232A70D-8794-F136-7076-9F889734E78B}"/>
              </a:ext>
            </a:extLst>
          </p:cNvPr>
          <p:cNvSpPr txBox="1"/>
          <p:nvPr/>
        </p:nvSpPr>
        <p:spPr>
          <a:xfrm>
            <a:off x="3315654" y="4143971"/>
            <a:ext cx="1777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282828"/>
                </a:solidFill>
                <a:latin typeface="Arial"/>
              </a:defRPr>
            </a:pPr>
            <a:r>
              <a:t>30-Min Forecast (Holt-Winters)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xmlns="" id="{772E8F1C-3F6E-28A8-FB39-C9C8A6F153CE}"/>
              </a:ext>
            </a:extLst>
          </p:cNvPr>
          <p:cNvSpPr txBox="1"/>
          <p:nvPr/>
        </p:nvSpPr>
        <p:spPr>
          <a:xfrm>
            <a:off x="4442202" y="2069821"/>
            <a:ext cx="1484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282828"/>
                </a:solidFill>
                <a:latin typeface="Arial"/>
              </a:defRPr>
            </a:pPr>
            <a:r>
              <a:t>Pre-Flare Precursors (QPPs, HR)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xmlns="" id="{FD2DD5D9-CCF3-AF0E-698F-F0B3E53C1F78}"/>
              </a:ext>
            </a:extLst>
          </p:cNvPr>
          <p:cNvSpPr txBox="1"/>
          <p:nvPr/>
        </p:nvSpPr>
        <p:spPr>
          <a:xfrm>
            <a:off x="5427393" y="4394587"/>
            <a:ext cx="2619435" cy="254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282828"/>
                </a:solidFill>
                <a:latin typeface="Arial"/>
              </a:defRPr>
            </a:pPr>
            <a:r>
              <a:t>Tikhonov DEM Inversion</a:t>
            </a: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xmlns="" id="{B1DB6B82-92FF-FC1D-1A3A-5CBCF35F6C9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33246" y="2081621"/>
            <a:ext cx="567093" cy="333165"/>
          </a:xfrm>
          <a:prstGeom prst="curved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323F591D-BF25-65CF-2B14-BF31387239E7}"/>
              </a:ext>
            </a:extLst>
          </p:cNvPr>
          <p:cNvSpPr txBox="1"/>
          <p:nvPr/>
        </p:nvSpPr>
        <p:spPr>
          <a:xfrm>
            <a:off x="7351420" y="3716469"/>
            <a:ext cx="6752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actual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1791E922-37B3-ECC1-AF3E-037E71810B6E}"/>
              </a:ext>
            </a:extLst>
          </p:cNvPr>
          <p:cNvSpPr txBox="1"/>
          <p:nvPr/>
        </p:nvSpPr>
        <p:spPr>
          <a:xfrm>
            <a:off x="7853723" y="3287443"/>
            <a:ext cx="830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predicted</a:t>
            </a:r>
            <a:endParaRPr lang="en-US" dirty="0"/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xmlns="" id="{9086B0E6-E507-6086-841E-27F8B58E09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01027" y="3309584"/>
            <a:ext cx="786027" cy="742439"/>
          </a:xfrm>
          <a:prstGeom prst="curved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708CD317-4A71-F492-8F05-D4599CE77EAA}"/>
              </a:ext>
            </a:extLst>
          </p:cNvPr>
          <p:cNvSpPr txBox="1"/>
          <p:nvPr/>
        </p:nvSpPr>
        <p:spPr>
          <a:xfrm>
            <a:off x="5779845" y="881637"/>
            <a:ext cx="1178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282828"/>
                </a:solidFill>
                <a:latin typeface="Arial"/>
              </a:defRPr>
            </a:pPr>
            <a:r>
              <a:t>Operator Dashboard (Streamlit/HTML5)</a:t>
            </a: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xmlns="" id="{33958795-2E69-057C-FFA5-05DBCC5515D3}"/>
              </a:ext>
            </a:extLst>
          </p:cNvPr>
          <p:cNvCxnSpPr/>
          <p:nvPr/>
        </p:nvCxnSpPr>
        <p:spPr>
          <a:xfrm rot="10800000">
            <a:off x="3819100" y="1559252"/>
            <a:ext cx="1793681" cy="385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C3C8AFB6-FF5D-8AEC-1CEE-AECBA2F350CA}"/>
              </a:ext>
            </a:extLst>
          </p:cNvPr>
          <p:cNvSpPr txBox="1"/>
          <p:nvPr/>
        </p:nvSpPr>
        <p:spPr>
          <a:xfrm>
            <a:off x="54925" y="2600969"/>
            <a:ext cx="1071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00" b="1">
                <a:solidFill>
                  <a:srgbClr val="282828"/>
                </a:solidFill>
                <a:latin typeface="Arial"/>
              </a:defRPr>
            </a:pPr>
            <a:r>
              <a:t>(Real-time Web HUD)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AAD3C6B0-EF19-E915-AD22-2670545D49B0}"/>
              </a:ext>
            </a:extLst>
          </p:cNvPr>
          <p:cNvSpPr txBox="1"/>
          <p:nvPr/>
        </p:nvSpPr>
        <p:spPr>
          <a:xfrm>
            <a:off x="10987" y="4571519"/>
            <a:ext cx="4971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0" b="0">
                <a:solidFill>
                  <a:srgbClr val="282828"/>
                </a:solidFill>
                <a:latin typeface="Arial"/>
              </a:defRPr>
            </a:pPr>
            <a:r>
              <a:t>* Real-time telemetry fusion of SoLEXS and HEL1OS provides multi-wavelength situational awareness for ISRO space weather operations.</a:t>
            </a:r>
          </a:p>
        </p:txBody>
      </p:sp>
      <p:pic>
        <p:nvPicPr>
          <p:cNvPr id="158" name="Picture 157" descr="new_realistic_sun_dashboard_178261267452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6960" y="2651642"/>
            <a:ext cx="916385" cy="672855"/>
          </a:xfrm>
          <a:prstGeom prst="rect">
            <a:avLst/>
          </a:prstGeom>
        </p:spPr>
      </p:pic>
      <p:pic>
        <p:nvPicPr>
          <p:cNvPr id="159" name="Picture 158" descr="new_realistic_sun_dashboard_178261267452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691" y="846452"/>
            <a:ext cx="3590046" cy="17640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Artboard eee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161388" y="513566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defRPr sz="2000" b="1">
                <a:solidFill>
                  <a:srgbClr val="0A192F"/>
                </a:solidFill>
                <a:latin typeface="Arial"/>
              </a:defRPr>
            </a:pPr>
            <a:r>
              <a:t>Operator Interface &amp; Real-Time Visualization Mockups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1B26793-534C-0988-67A3-38166F97ECE5}"/>
              </a:ext>
            </a:extLst>
          </p:cNvPr>
          <p:cNvSpPr txBox="1"/>
          <p:nvPr/>
        </p:nvSpPr>
        <p:spPr>
          <a:xfrm>
            <a:off x="4224807" y="4629934"/>
            <a:ext cx="5066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200" b="0">
                <a:solidFill>
                  <a:srgbClr val="282828"/>
                </a:solidFill>
                <a:latin typeface="Arial"/>
              </a:defRPr>
            </a:pPr>
            <a:r>
              <a:t>* Real-time interactive dashboard featuring 3D solar disk visualization, active region monitoring, and automated threat alerts.</a:t>
            </a:r>
          </a:p>
        </p:txBody>
      </p:sp>
      <p:pic>
        <p:nvPicPr>
          <p:cNvPr id="95" name="Picture 94" descr="new_realistic_sun_dashboard_17826126745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1143000"/>
            <a:ext cx="843991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93;p19" title="Artboard eee– 2.png">
            <a:extLst>
              <a:ext uri="{FF2B5EF4-FFF2-40B4-BE49-F238E27FC236}">
                <a16:creationId xmlns:a16="http://schemas.microsoft.com/office/drawing/2014/main" xmlns="" id="{480AFB42-47D9-04B8-0ACD-972DC332C9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23169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76005" y="526724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Architecture diagram of the proposed solution</a:t>
            </a: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685800" y="137160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A192F"/>
                </a:solidFill>
                <a:latin typeface="Arial"/>
              </a:defRPr>
            </a:pPr>
            <a:r>
              <a:t>System Architecture of Project SuryaDrishti</a:t>
            </a: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rial"/>
              </a:defRPr>
            </a:pPr>
            <a:r>
              <a:t>**1. Telemetry Ingestion &amp; Calibration Layer**:</a:t>
            </a:r>
            <a:br/>
            <a:r>
              <a:t>   - Automatically fetches and parses raw FITS files from the Aditya-L1 ISSDC portal.</a:t>
            </a:r>
            <a:br/>
            <a:r>
              <a:t>   - Extracts Soft X-ray (SoLEXS) and Hard X-ray (HEL1OS) count rates.</a:t>
            </a:r>
            <a:br/>
            <a:r>
              <a:t>   - Converts MJD timestamps to a unified Unix epoch, interpolating to a synchronized 1-second cadence.</a:t>
            </a: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rial"/>
              </a:defRPr>
            </a:pPr>
            <a:r>
              <a:t>**2. Physics-Informed Feature Engineering Layer**:</a:t>
            </a:r>
            <a:br/>
            <a:r>
              <a:t>   - Thermal Precursors: Computes the 10-minute rolling mean and positive slope of SoLEXS counts to capture slow-rise plasma heating.</a:t>
            </a:r>
            <a:br/>
            <a:r>
              <a:t>   - Non-Thermal Precursors: Computes the rolling standard deviation of HEL1OS counts to isolate high-frequency QPP oscillations.</a:t>
            </a:r>
            <a:br/>
            <a:r>
              <a:t>   - Neupert Effect: Calculates the Spectral Hardness Ratio (HEL1OS / SoLEXS) to model energy transfer from accelerated electrons to thermal plasma.</a:t>
            </a: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rial"/>
              </a:defRPr>
            </a:pPr>
            <a:r>
              <a:t>**3. Causal Nowcasting &amp; Machine Learning Core**:</a:t>
            </a:r>
            <a:br/>
            <a:r>
              <a:t>   - Zero-Lookahead Nowcaster: Applies sliding-window statistical thresholds to classify flare phases (onset, peak, decay) without lookahead bias.</a:t>
            </a:r>
            <a:br/>
            <a:r>
              <a:t>   - RandomForest Classifier: Trained on chronological, leakage-free splits using balanced class weights to predict flare occurrence 30 minutes in advance.</a:t>
            </a:r>
          </a:p>
          <a:p>
            <a:pPr>
              <a:spcAft>
                <a:spcPts val="400"/>
              </a:spcAft>
              <a:defRPr sz="1150">
                <a:solidFill>
                  <a:srgbClr val="282828"/>
                </a:solidFill>
                <a:latin typeface="Arial"/>
              </a:defRPr>
            </a:pPr>
            <a:r>
              <a:t>**4. Space Weather Impact &amp; Visualisation HUD**:</a:t>
            </a:r>
            <a:br/>
            <a:r>
              <a:t>   - Renders a 3D WebGL solar disk showing active regions (AR4087, AR4086, AR4085).</a:t>
            </a:r>
            <a:br/>
            <a:r>
              <a:t>   - Computes Differential Emission Measure (DEM) via Tikhonov regularization.</a:t>
            </a:r>
            <a:br/>
            <a:r>
              <a:t>   - Models CME propagation via the Drag-Based Model (DBM) and SEP proton flux via Tylka-Dietrich regression.</a:t>
            </a:r>
            <a:br/>
            <a:r>
              <a:t>   - Emits real-time visual and audio alerts (Web Audio API) for satellite protection.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Artboard eee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" y="-1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35D0970-4597-756C-AB86-E29441A05D81}"/>
              </a:ext>
            </a:extLst>
          </p:cNvPr>
          <p:cNvSpPr txBox="1"/>
          <p:nvPr/>
        </p:nvSpPr>
        <p:spPr>
          <a:xfrm>
            <a:off x="381000" y="1371600"/>
            <a:ext cx="5029200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 b="1">
                <a:solidFill>
                  <a:srgbClr val="0A192F"/>
                </a:solidFill>
                <a:latin typeface="Arial"/>
              </a:defRPr>
            </a:pPr>
            <a:r>
              <a:t>Tech Stack for Project SuryaDrishti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632E955-EBA9-9062-751E-06B8D7F99DB7}"/>
              </a:ext>
            </a:extLst>
          </p:cNvPr>
          <p:cNvSpPr txBox="1"/>
          <p:nvPr/>
        </p:nvSpPr>
        <p:spPr>
          <a:xfrm>
            <a:off x="384528" y="2011680"/>
            <a:ext cx="5029200" cy="411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0">
                <a:solidFill>
                  <a:srgbClr val="282828"/>
                </a:solidFill>
                <a:latin typeface="Arial"/>
              </a:defRPr>
            </a:pPr>
            <a:r>
              <a:t>• Modeling &amp; Forecasting:</a:t>
            </a:r>
            <a:br/>
            <a:r>
              <a:t>  - Scikit-learn (RandomForest Classifier)</a:t>
            </a:r>
            <a:br/>
            <a:r>
              <a:t>  - SciPy (Tikhonov DEM Inversion &amp; Holt-Winters Forecasting)</a:t>
            </a:r>
            <a:br/>
            <a:r>
              <a:t>  - Joblib (Model serialization &amp; caching)</a:t>
            </a:r>
            <a:br/>
            <a:br/>
            <a:r>
              <a:t>• Data &amp; Preprocessing:</a:t>
            </a:r>
            <a:br/>
            <a:r>
              <a:t>  - Astropy (FITS telemetry processing)</a:t>
            </a:r>
            <a:br/>
            <a:r>
              <a:t>  - NumPy &amp; Pandas (Data merging, cleaning, alignment)</a:t>
            </a:r>
            <a:br/>
            <a:br/>
            <a:r>
              <a:t>• Interface &amp; Visualization:</a:t>
            </a:r>
            <a:br/>
            <a:r>
              <a:t>  - HTML5, Vanilla CSS, JavaScript (ES6+)</a:t>
            </a:r>
            <a:br/>
            <a:r>
              <a:t>  - Chart.js (Interactive plotting of telemetry, QPP, DEM)</a:t>
            </a:r>
            <a:br/>
            <a:r>
              <a:t>  - Web Audio API (Operator alert sound engine)</a:t>
            </a:r>
            <a:br/>
            <a:br/>
            <a:r>
              <a:t>• Backend &amp; Deployment:</a:t>
            </a:r>
            <a:br/>
            <a:r>
              <a:t>  - Python HTTP Server (lightweight, local deployment)</a:t>
            </a:r>
            <a:br/>
            <a:r>
              <a:t>  - Node.js (Syntax validation and testing)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B326A41-FA5C-0C77-768E-6BFFC9E446D3}"/>
              </a:ext>
            </a:extLst>
          </p:cNvPr>
          <p:cNvSpPr txBox="1"/>
          <p:nvPr/>
        </p:nvSpPr>
        <p:spPr>
          <a:xfrm>
            <a:off x="3610944" y="660980"/>
            <a:ext cx="2852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282828"/>
                </a:solidFill>
                <a:latin typeface="Arial"/>
              </a:defRPr>
            </a:pPr>
            <a:r>
              <a:t>DEM Plasma Temperature Inversion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xmlns="" id="{51CEC69A-42B9-1CE4-9D52-D5D121977149}"/>
              </a:ext>
            </a:extLst>
          </p:cNvPr>
          <p:cNvCxnSpPr/>
          <p:nvPr/>
        </p:nvCxnSpPr>
        <p:spPr>
          <a:xfrm>
            <a:off x="4661210" y="910071"/>
            <a:ext cx="1070517" cy="5738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3AE313B5-03CB-54E3-36E0-E68639EF25F6}"/>
              </a:ext>
            </a:extLst>
          </p:cNvPr>
          <p:cNvSpPr txBox="1"/>
          <p:nvPr/>
        </p:nvSpPr>
        <p:spPr>
          <a:xfrm>
            <a:off x="3404938" y="2092787"/>
            <a:ext cx="29363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282828"/>
                </a:solidFill>
                <a:latin typeface="Arial"/>
              </a:defRPr>
            </a:pPr>
            <a:r>
              <a:t>CME &amp; SEP Propagation Trackers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xmlns="" id="{82B33963-4437-FA4F-5201-857C868B9180}"/>
              </a:ext>
            </a:extLst>
          </p:cNvPr>
          <p:cNvSpPr/>
          <p:nvPr/>
        </p:nvSpPr>
        <p:spPr>
          <a:xfrm>
            <a:off x="4334107" y="3822916"/>
            <a:ext cx="4624040" cy="1002831"/>
          </a:xfrm>
          <a:prstGeom prst="round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E847B5FB-33C1-628C-3A34-0DAB25EE6B75}"/>
              </a:ext>
            </a:extLst>
          </p:cNvPr>
          <p:cNvCxnSpPr>
            <a:cxnSpLocks/>
          </p:cNvCxnSpPr>
          <p:nvPr/>
        </p:nvCxnSpPr>
        <p:spPr>
          <a:xfrm>
            <a:off x="3810049" y="3910361"/>
            <a:ext cx="427512" cy="371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DA633832-C426-BA93-F609-B26A072BF192}"/>
              </a:ext>
            </a:extLst>
          </p:cNvPr>
          <p:cNvCxnSpPr/>
          <p:nvPr/>
        </p:nvCxnSpPr>
        <p:spPr>
          <a:xfrm>
            <a:off x="438615" y="1077951"/>
            <a:ext cx="23055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Picture 105" descr="dem_diagnostics_dashboard_17826219196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4607" y="737570"/>
            <a:ext cx="2852854" cy="1537280"/>
          </a:xfrm>
          <a:prstGeom prst="rect">
            <a:avLst/>
          </a:prstGeom>
        </p:spPr>
      </p:pic>
      <p:pic>
        <p:nvPicPr>
          <p:cNvPr id="107" name="Picture 106" descr="sep_risk_tab_mockup_17826225482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1484" y="2339008"/>
            <a:ext cx="5545978" cy="26046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xmlns="" id="{8B6AD321-391A-1A73-F166-A151C161F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Artboard eee– 2.png">
            <a:extLst>
              <a:ext uri="{FF2B5EF4-FFF2-40B4-BE49-F238E27FC236}">
                <a16:creationId xmlns:a16="http://schemas.microsoft.com/office/drawing/2014/main" xmlns="" id="{1DC21305-18E7-9E8E-5517-07252DA1FC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>
            <a:extLst>
              <a:ext uri="{FF2B5EF4-FFF2-40B4-BE49-F238E27FC236}">
                <a16:creationId xmlns:a16="http://schemas.microsoft.com/office/drawing/2014/main" xmlns="" id="{25CF7BC1-2F8F-3E68-D1B8-9E73B24DF323}"/>
              </a:ext>
            </a:extLst>
          </p:cNvPr>
          <p:cNvSpPr txBox="1"/>
          <p:nvPr/>
        </p:nvSpPr>
        <p:spPr>
          <a:xfrm>
            <a:off x="156884" y="519333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defRPr sz="2000" b="1">
                <a:solidFill>
                  <a:srgbClr val="0A192F"/>
                </a:solidFill>
                <a:latin typeface="Arial"/>
              </a:defRPr>
            </a:pPr>
            <a:r>
              <a:t>Estimated Implementation Cost :</a:t>
            </a:r>
          </a:p>
        </p:txBody>
      </p:sp>
      <p:sp>
        <p:nvSpPr>
          <p:cNvPr id="5" name="Google Shape;112;p22">
            <a:extLst>
              <a:ext uri="{FF2B5EF4-FFF2-40B4-BE49-F238E27FC236}">
                <a16:creationId xmlns:a16="http://schemas.microsoft.com/office/drawing/2014/main" xmlns="" id="{E16631A2-0F4B-D6FE-6C0A-D6F0B909071E}"/>
              </a:ext>
            </a:extLst>
          </p:cNvPr>
          <p:cNvSpPr txBox="1"/>
          <p:nvPr/>
        </p:nvSpPr>
        <p:spPr>
          <a:xfrm>
            <a:off x="256862" y="908933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defRPr sz="1400" b="1">
                <a:solidFill>
                  <a:srgbClr val="009664"/>
                </a:solidFill>
                <a:latin typeface="Arial"/>
              </a:defRPr>
            </a:pPr>
            <a:r>
              <a:t>FIXED COST (ONE-TIME SETUP):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BB3DE11B-D8A5-03B0-56A2-F3E2914D0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535531"/>
              </p:ext>
            </p:extLst>
          </p:nvPr>
        </p:nvGraphicFramePr>
        <p:xfrm>
          <a:off x="600381" y="1254262"/>
          <a:ext cx="7943238" cy="3450902"/>
        </p:xfrm>
        <a:graphic>
          <a:graphicData uri="http://schemas.openxmlformats.org/drawingml/2006/table">
            <a:tbl>
              <a:tblPr/>
              <a:tblGrid>
                <a:gridCol w="2647746">
                  <a:extLst>
                    <a:ext uri="{9D8B030D-6E8A-4147-A177-3AD203B41FA5}">
                      <a16:colId xmlns:a16="http://schemas.microsoft.com/office/drawing/2014/main" xmlns="" val="3969687526"/>
                    </a:ext>
                  </a:extLst>
                </a:gridCol>
                <a:gridCol w="2647746">
                  <a:extLst>
                    <a:ext uri="{9D8B030D-6E8A-4147-A177-3AD203B41FA5}">
                      <a16:colId xmlns:a16="http://schemas.microsoft.com/office/drawing/2014/main" xmlns="" val="107575902"/>
                    </a:ext>
                  </a:extLst>
                </a:gridCol>
                <a:gridCol w="2647746">
                  <a:extLst>
                    <a:ext uri="{9D8B030D-6E8A-4147-A177-3AD203B41FA5}">
                      <a16:colId xmlns:a16="http://schemas.microsoft.com/office/drawing/2014/main" xmlns="" val="2973354363"/>
                    </a:ext>
                  </a:extLst>
                </a:gridCol>
              </a:tblGrid>
              <a:tr h="233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Item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Cost</a:t>
                      </a:r>
                      <a:r>
                        <a:rPr lang="en-IN" sz="1100" dirty="0"/>
                        <a:t> (₹)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Description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0838222"/>
                  </a:ext>
                </a:extLst>
              </a:tr>
              <a:tr h="3977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Telemetry Ingestion &amp; Fusion Pipeline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₹50,000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Multi-instrument (SoLEXS &amp; HEL1OS) FITS data alignment.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55474189"/>
                  </a:ext>
                </a:extLst>
              </a:tr>
              <a:tr h="3977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Causal Nowcasting Engine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₹50,000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Zero-lookahead rolling statistical threshold detector.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36954389"/>
                  </a:ext>
                </a:extLst>
              </a:tr>
              <a:tr h="3977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Physics-Informed ML Forecaster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₹1,00,000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RandomForest model trained on precursor features.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77255732"/>
                  </a:ext>
                </a:extLst>
              </a:tr>
              <a:tr h="3977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Interactive Operator Dashboard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₹40,000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Streamlit web interface with real-time risk alerts.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92429862"/>
                  </a:ext>
                </a:extLst>
              </a:tr>
              <a:tr h="3977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NOAA GOES Validation System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₹40,000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Benchmarking engine for automated cross-validation.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33041314"/>
                  </a:ext>
                </a:extLst>
              </a:tr>
              <a:tr h="3977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Local Workstation GPU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₹1,50,000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Hardware for training and telemetry hosting.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3817274"/>
                  </a:ext>
                </a:extLst>
              </a:tr>
              <a:tr h="3977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Documentation &amp; SOP Handover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₹30,000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Operational guidelines for space-weather centers.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66167544"/>
                  </a:ext>
                </a:extLst>
              </a:tr>
              <a:tr h="3977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Public Dashboard Deployment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₹25,000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Secure public hosting and remote access configuration.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57391991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DDCDAB84-CDA2-4800-8689-D351EAA239F5}"/>
              </a:ext>
            </a:extLst>
          </p:cNvPr>
          <p:cNvCxnSpPr/>
          <p:nvPr/>
        </p:nvCxnSpPr>
        <p:spPr>
          <a:xfrm>
            <a:off x="527824" y="4710015"/>
            <a:ext cx="81552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5493B61-6403-F4FB-3F5A-73F33D20B366}"/>
              </a:ext>
            </a:extLst>
          </p:cNvPr>
          <p:cNvSpPr txBox="1"/>
          <p:nvPr/>
        </p:nvSpPr>
        <p:spPr>
          <a:xfrm>
            <a:off x="3025698" y="4706781"/>
            <a:ext cx="6980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Arial"/>
              </a:defRPr>
            </a:pPr>
            <a:r>
              <a:t>= ₹4,85,000 (Estimated Cost (may vary based on final deployment and resources.))</a:t>
            </a:r>
          </a:p>
        </p:txBody>
      </p:sp>
    </p:spTree>
    <p:extLst>
      <p:ext uri="{BB962C8B-B14F-4D97-AF65-F5344CB8AC3E}">
        <p14:creationId xmlns:p14="http://schemas.microsoft.com/office/powerpoint/2010/main" val="4098040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xmlns="" id="{B0537DE6-CBC6-51C0-C749-C2DCF25EE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Artboard eee– 2.png">
            <a:extLst>
              <a:ext uri="{FF2B5EF4-FFF2-40B4-BE49-F238E27FC236}">
                <a16:creationId xmlns:a16="http://schemas.microsoft.com/office/drawing/2014/main" xmlns="" id="{6B1A383A-4C68-286A-B536-5FFAE9B119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>
            <a:extLst>
              <a:ext uri="{FF2B5EF4-FFF2-40B4-BE49-F238E27FC236}">
                <a16:creationId xmlns:a16="http://schemas.microsoft.com/office/drawing/2014/main" xmlns="" id="{5BFC3E76-940C-5845-DF54-7BE2CD760020}"/>
              </a:ext>
            </a:extLst>
          </p:cNvPr>
          <p:cNvSpPr txBox="1"/>
          <p:nvPr/>
        </p:nvSpPr>
        <p:spPr>
          <a:xfrm>
            <a:off x="138404" y="520592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</a:pP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8BF6FE6B-01C0-6346-1309-4E25CA726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461950"/>
              </p:ext>
            </p:extLst>
          </p:nvPr>
        </p:nvGraphicFramePr>
        <p:xfrm>
          <a:off x="739100" y="4602923"/>
          <a:ext cx="8521700" cy="274320"/>
        </p:xfrm>
        <a:graphic>
          <a:graphicData uri="http://schemas.openxmlformats.org/drawingml/2006/table">
            <a:tbl>
              <a:tblPr/>
              <a:tblGrid>
                <a:gridCol w="4260850">
                  <a:extLst>
                    <a:ext uri="{9D8B030D-6E8A-4147-A177-3AD203B41FA5}">
                      <a16:colId xmlns:a16="http://schemas.microsoft.com/office/drawing/2014/main" xmlns="" val="2409542892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xmlns="" val="1195869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9086516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675052CC-1F90-EC48-0CAF-7DD8BBF31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408031"/>
              </p:ext>
            </p:extLst>
          </p:nvPr>
        </p:nvGraphicFramePr>
        <p:xfrm>
          <a:off x="680704" y="4792607"/>
          <a:ext cx="8521700" cy="274320"/>
        </p:xfrm>
        <a:graphic>
          <a:graphicData uri="http://schemas.openxmlformats.org/drawingml/2006/table">
            <a:tbl>
              <a:tblPr/>
              <a:tblGrid>
                <a:gridCol w="4260850">
                  <a:extLst>
                    <a:ext uri="{9D8B030D-6E8A-4147-A177-3AD203B41FA5}">
                      <a16:colId xmlns:a16="http://schemas.microsoft.com/office/drawing/2014/main" xmlns="" val="537806894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xmlns="" val="3459984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36842602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5D9E8647-A197-22B7-7C9C-33364DB2D45F}"/>
              </a:ext>
            </a:extLst>
          </p:cNvPr>
          <p:cNvSpPr/>
          <p:nvPr/>
        </p:nvSpPr>
        <p:spPr>
          <a:xfrm>
            <a:off x="4021874" y="788725"/>
            <a:ext cx="4805669" cy="376863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7FFFDCD-D59C-886B-D579-F2BBDFA6D0BF}"/>
              </a:ext>
            </a:extLst>
          </p:cNvPr>
          <p:cNvSpPr txBox="1"/>
          <p:nvPr/>
        </p:nvSpPr>
        <p:spPr>
          <a:xfrm>
            <a:off x="5861157" y="866871"/>
            <a:ext cx="1345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DBB2542-80F4-F05E-C8F5-0687C9BC79BB}"/>
              </a:ext>
            </a:extLst>
          </p:cNvPr>
          <p:cNvSpPr txBox="1"/>
          <p:nvPr/>
        </p:nvSpPr>
        <p:spPr>
          <a:xfrm>
            <a:off x="4216004" y="1147506"/>
            <a:ext cx="46115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0">
                <a:solidFill>
                  <a:srgbClr val="282828"/>
                </a:solidFill>
                <a:latin typeface="Arial"/>
              </a:defRPr>
            </a:pPr>
            <a:r>
              <a:t>Scientific References</a:t>
            </a:r>
            <a:br/>
            <a:r>
              <a:t>-----------------------------------------------------------------------</a:t>
            </a:r>
            <a:br/>
            <a:r>
              <a:t>1. Sarwade et al., 2025: In-flight calibration and performance of the Solar Low Energy X-ray Spectrometer (SoLEXS) onboard Aditya-L1. Solar Physics.</a:t>
            </a:r>
            <a:br/>
            <a:r>
              <a:t>2. Nandi et al., 2025: Hard X-ray diagnostics of solar flares: First results from HEL1OS onboard Aditya-L1. The Astrophysical Journal.</a:t>
            </a:r>
            <a:br/>
            <a:r>
              <a:t>3. Tylka &amp; Dietrich, 2009: A new parameterization of solar energetic proton (SEP) spectra. Proceedings of the 31st International Cosmic Ray Conference.</a:t>
            </a:r>
            <a:br/>
            <a:r>
              <a:t>4. Vrsnak et al., 2013: Propagation of Interplanetary Coronal Mass Ejections: The Drag-Based Model. Solar Physics.</a:t>
            </a:r>
            <a:br/>
            <a:r>
              <a:t>5. Dere et al., 1997: CHIANTI - an atomic database for emission lines. Astronomy and Astrophysics Supplement Series.</a:t>
            </a:r>
            <a:br/>
            <a:br/>
            <a:r>
              <a:t>Other Resources</a:t>
            </a:r>
            <a:br/>
            <a:r>
              <a:t>-----------------------------------------------------------------------</a:t>
            </a:r>
            <a:br/>
            <a:r>
              <a:t>• ISRO ISSDC Aditya-L1 Data Portal (SoLEXS and HEL1OS level-1 telemetry logs).</a:t>
            </a:r>
            <a:br/>
            <a:r>
              <a:t>• NOAA Space Weather Prediction Center (GOES XRS solar flare event catalog).</a:t>
            </a:r>
            <a:br/>
            <a:r>
              <a:t>• COntinuous Spectral Inversion (COSI) framework for Differential Emission Measure (DEM) diagnostics.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0189B6AA-8A8F-1169-F4BB-8E81BEBFBC23}"/>
              </a:ext>
            </a:extLst>
          </p:cNvPr>
          <p:cNvSpPr txBox="1"/>
          <p:nvPr/>
        </p:nvSpPr>
        <p:spPr>
          <a:xfrm>
            <a:off x="149212" y="4674532"/>
            <a:ext cx="8858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We, as a dedicated team, are excited to solve this problem and actively contribute to India’s AI vision 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xmlns="" id="{CCC49F65-E269-B8F9-8BDF-15C2DA2EDD34}"/>
              </a:ext>
            </a:extLst>
          </p:cNvPr>
          <p:cNvSpPr/>
          <p:nvPr/>
        </p:nvSpPr>
        <p:spPr>
          <a:xfrm>
            <a:off x="256057" y="803056"/>
            <a:ext cx="2645978" cy="260921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31144C03-5362-3EE8-7A2D-4806D532509D}"/>
              </a:ext>
            </a:extLst>
          </p:cNvPr>
          <p:cNvGrpSpPr/>
          <p:nvPr/>
        </p:nvGrpSpPr>
        <p:grpSpPr>
          <a:xfrm>
            <a:off x="401442" y="940262"/>
            <a:ext cx="2653992" cy="2346797"/>
            <a:chOff x="401442" y="940262"/>
            <a:chExt cx="2653992" cy="234679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B8EE1686-36CF-8243-72B4-9447E4DB4092}"/>
                </a:ext>
              </a:extLst>
            </p:cNvPr>
            <p:cNvSpPr txBox="1"/>
            <p:nvPr/>
          </p:nvSpPr>
          <p:spPr>
            <a:xfrm>
              <a:off x="401442" y="940262"/>
              <a:ext cx="19180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Team Roles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640253EA-AB97-629D-49C3-4AFFEFEC3C58}"/>
                </a:ext>
              </a:extLst>
            </p:cNvPr>
            <p:cNvSpPr txBox="1"/>
            <p:nvPr/>
          </p:nvSpPr>
          <p:spPr>
            <a:xfrm>
              <a:off x="401443" y="1248039"/>
              <a:ext cx="2653991" cy="2039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Krish Vaghasia (Team Leader)</a:t>
              </a:r>
            </a:p>
            <a:p>
              <a:r>
                <a:rPr lang="en-US" sz="1000" dirty="0"/>
                <a:t>Full Stack Developer</a:t>
              </a:r>
            </a:p>
            <a:p>
              <a:endParaRPr lang="en-US" sz="1200" dirty="0"/>
            </a:p>
            <a:p>
              <a:r>
                <a:rPr lang="en-US" sz="1200" dirty="0"/>
                <a:t>Heli Shah</a:t>
              </a:r>
            </a:p>
            <a:p>
              <a:r>
                <a:rPr lang="en-US" sz="1000" dirty="0"/>
                <a:t>AI/ML Developer</a:t>
              </a:r>
            </a:p>
            <a:p>
              <a:endParaRPr lang="en-US" sz="1200" dirty="0"/>
            </a:p>
            <a:p>
              <a:r>
                <a:rPr lang="en-US" sz="1200" dirty="0"/>
                <a:t>Hensi Patel</a:t>
              </a:r>
            </a:p>
            <a:p>
              <a:r>
                <a:rPr lang="en-US" sz="1000" dirty="0"/>
                <a:t>Backend Developer</a:t>
              </a:r>
            </a:p>
            <a:p>
              <a:endParaRPr lang="en-US" sz="1200" dirty="0"/>
            </a:p>
            <a:p>
              <a:r>
                <a:rPr lang="en-US" sz="1200" dirty="0"/>
                <a:t>Nisarg Vashi</a:t>
              </a:r>
            </a:p>
            <a:p>
              <a:r>
                <a:rPr lang="en-US" sz="1000" dirty="0"/>
                <a:t>AI/ML Developer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6F90ED86-FE88-7752-53CA-43F3BB8172F2}"/>
              </a:ext>
            </a:extLst>
          </p:cNvPr>
          <p:cNvCxnSpPr>
            <a:cxnSpLocks/>
          </p:cNvCxnSpPr>
          <p:nvPr/>
        </p:nvCxnSpPr>
        <p:spPr>
          <a:xfrm>
            <a:off x="460917" y="1218303"/>
            <a:ext cx="10853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85DE5D0B-65D6-511F-0BFA-9A925B6F01E6}"/>
              </a:ext>
            </a:extLst>
          </p:cNvPr>
          <p:cNvSpPr txBox="1"/>
          <p:nvPr/>
        </p:nvSpPr>
        <p:spPr>
          <a:xfrm rot="16200000">
            <a:off x="152397" y="3955271"/>
            <a:ext cx="869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Results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xmlns="" id="{2F864A20-E26A-1C70-F0D9-29C2B20EA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36" y="3698054"/>
            <a:ext cx="1919852" cy="8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73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 eee– 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2052</TotalTime>
  <Words>1068</Words>
  <Application>Microsoft Office PowerPoint</Application>
  <PresentationFormat>On-screen Show (16:9)</PresentationFormat>
  <Paragraphs>225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Abadi</vt:lpstr>
      <vt:lpstr>Google Sans Medium</vt:lpstr>
      <vt:lpstr>Google Sans</vt:lpstr>
      <vt:lpstr>Wingdings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Nisarg</dc:creator>
  <cp:lastModifiedBy>Welcome</cp:lastModifiedBy>
  <cp:revision>37</cp:revision>
  <dcterms:modified xsi:type="dcterms:W3CDTF">2026-06-27T03:07:10Z</dcterms:modified>
</cp:coreProperties>
</file>