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8" r:id="rId4"/>
    <p:sldId id="259" r:id="rId5"/>
    <p:sldId id="266" r:id="rId6"/>
    <p:sldId id="261" r:id="rId7"/>
    <p:sldId id="262" r:id="rId8"/>
    <p:sldId id="263" r:id="rId9"/>
    <p:sldId id="269" r:id="rId10"/>
    <p:sldId id="267" r:id="rId11"/>
  </p:sldIdLst>
  <p:sldSz cx="9144000" cy="5143500" type="screen16x9"/>
  <p:notesSz cx="6858000" cy="9144000"/>
  <p:embeddedFontLst>
    <p:embeddedFont>
      <p:font typeface="Google Sans Medium" panose="020B0603030502040203" pitchFamily="34" charset="0"/>
      <p:regular r:id="rId13"/>
      <p:italic r:id="rId14"/>
    </p:embeddedFont>
    <p:embeddedFont>
      <p:font typeface="Google Sans" panose="020B0503030502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3702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59BE04-28B4-45B1-9943-30B73749E06D}">
  <a:tblStyle styleId="{7759BE04-28B4-45B1-9943-30B73749E06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8" y="9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1613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355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39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8869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9665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619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21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837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04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7664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457200" y="329184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D28C"/>
                </a:solidFill>
                <a:latin typeface="Arial"/>
              </a:defRPr>
            </a:pPr>
            <a:r>
              <a:rPr sz="1600" dirty="0" smtClean="0">
                <a:solidFill>
                  <a:schemeClr val="tx1"/>
                </a:solidFill>
                <a:latin typeface="Abadi"/>
              </a:rPr>
              <a:t>Team </a:t>
            </a:r>
            <a:r>
              <a:rPr sz="1600" dirty="0">
                <a:solidFill>
                  <a:schemeClr val="tx1"/>
                </a:solidFill>
                <a:latin typeface="Abadi"/>
              </a:rPr>
              <a:t>Name: </a:t>
            </a:r>
            <a:r>
              <a:rPr sz="1600" dirty="0" err="1">
                <a:solidFill>
                  <a:schemeClr val="tx1"/>
                </a:solidFill>
                <a:latin typeface="Abadi"/>
              </a:rPr>
              <a:t>SuryaDrishti</a:t>
            </a:r>
            <a:r>
              <a:rPr sz="1600" dirty="0">
                <a:solidFill>
                  <a:schemeClr val="tx1"/>
                </a:solidFill>
                <a:latin typeface="Abadi"/>
              </a:rPr>
              <a:t> </a:t>
            </a:r>
            <a:endParaRPr lang="en-US" sz="1600" dirty="0" smtClean="0">
              <a:solidFill>
                <a:schemeClr val="tx1"/>
              </a:solidFill>
              <a:latin typeface="Abad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0701" y="3946792"/>
            <a:ext cx="87362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Abadi"/>
              </a:rPr>
              <a:t>Problem Statement: </a:t>
            </a:r>
            <a:r>
              <a:rPr lang="en-US" sz="1600" b="1" dirty="0" smtClean="0">
                <a:solidFill>
                  <a:schemeClr val="tx1"/>
                </a:solidFill>
                <a:latin typeface="Abadi"/>
              </a:rPr>
              <a:t>Forecasting </a:t>
            </a:r>
            <a:r>
              <a:rPr lang="en-US" sz="1600" b="1" dirty="0">
                <a:solidFill>
                  <a:schemeClr val="tx1"/>
                </a:solidFill>
                <a:latin typeface="Abadi"/>
              </a:rPr>
              <a:t>and/or </a:t>
            </a:r>
            <a:r>
              <a:rPr lang="en-US" sz="1600" b="1" dirty="0" err="1">
                <a:solidFill>
                  <a:schemeClr val="tx1"/>
                </a:solidFill>
                <a:latin typeface="Abadi"/>
              </a:rPr>
              <a:t>Nowcasting</a:t>
            </a:r>
            <a:r>
              <a:rPr lang="en-US" sz="1600" b="1" dirty="0">
                <a:solidFill>
                  <a:schemeClr val="tx1"/>
                </a:solidFill>
                <a:latin typeface="Abadi"/>
              </a:rPr>
              <a:t> of Solar Flares using combined Soft and Hard X-ray data from </a:t>
            </a:r>
            <a:r>
              <a:rPr lang="en-US" sz="1600" b="1" dirty="0" smtClean="0">
                <a:solidFill>
                  <a:schemeClr val="tx1"/>
                </a:solidFill>
                <a:latin typeface="Abadi"/>
              </a:rPr>
              <a:t>Aditya-L1 || </a:t>
            </a:r>
            <a:r>
              <a:rPr lang="en-US" sz="1600" b="1" dirty="0">
                <a:solidFill>
                  <a:schemeClr val="tx1"/>
                </a:solidFill>
                <a:latin typeface="Abadi"/>
              </a:rPr>
              <a:t>PS #15 </a:t>
            </a:r>
          </a:p>
        </p:txBody>
      </p:sp>
      <p:sp>
        <p:nvSpPr>
          <p:cNvPr id="3" name="Rectangle 2"/>
          <p:cNvSpPr/>
          <p:nvPr/>
        </p:nvSpPr>
        <p:spPr>
          <a:xfrm>
            <a:off x="345987" y="3598335"/>
            <a:ext cx="36375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D28C"/>
                </a:solidFill>
                <a:latin typeface="Arial"/>
              </a:defRPr>
            </a:pPr>
            <a:r>
              <a:rPr lang="en-US" sz="1600" dirty="0">
                <a:solidFill>
                  <a:schemeClr val="tx1"/>
                </a:solidFill>
                <a:latin typeface="Abadi"/>
              </a:rPr>
              <a:t>Team Leader: Deep </a:t>
            </a:r>
            <a:r>
              <a:rPr lang="en-US" sz="1600" dirty="0" err="1" smtClean="0">
                <a:solidFill>
                  <a:schemeClr val="tx1"/>
                </a:solidFill>
                <a:latin typeface="Abadi"/>
              </a:rPr>
              <a:t>shekhar</a:t>
            </a:r>
            <a:r>
              <a:rPr lang="en-US" sz="1600" dirty="0" smtClean="0">
                <a:solidFill>
                  <a:schemeClr val="tx1"/>
                </a:solidFill>
                <a:latin typeface="Abadi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badi"/>
              </a:rPr>
              <a:t>Halder</a:t>
            </a:r>
            <a:endParaRPr lang="en-US" sz="1600" dirty="0">
              <a:solidFill>
                <a:schemeClr val="tx1"/>
              </a:solidFill>
              <a:latin typeface="Abad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10896" y="619760"/>
            <a:ext cx="8522208" cy="3154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0A192F"/>
                </a:solidFill>
                <a:latin typeface="Arial"/>
              </a:defRPr>
            </a:pPr>
            <a:r>
              <a:rPr sz="2050" dirty="0">
                <a:latin typeface="Google Sans Medium"/>
              </a:rPr>
              <a:t>Team Members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76284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1737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Team Leader &amp; Tech Lead</a:t>
                      </a:r>
                    </a:p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Name: Deep </a:t>
                      </a:r>
                      <a:r>
                        <a:rPr sz="1400" b="0" dirty="0" err="1">
                          <a:latin typeface="Abadi"/>
                        </a:rPr>
                        <a:t>Shekhar</a:t>
                      </a:r>
                      <a:r>
                        <a:rPr sz="1400" b="0" dirty="0">
                          <a:latin typeface="Abadi"/>
                        </a:rPr>
                        <a:t> </a:t>
                      </a:r>
                      <a:r>
                        <a:rPr sz="1400" b="0" dirty="0" err="1">
                          <a:latin typeface="Abadi"/>
                        </a:rPr>
                        <a:t>Halder</a:t>
                      </a:r>
                      <a:endParaRPr sz="1400" b="0" dirty="0">
                        <a:latin typeface="Abadi"/>
                      </a:endParaRP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Email: deephalder209@gmail.com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College: </a:t>
                      </a:r>
                      <a:r>
                        <a:rPr sz="1400" b="0" dirty="0" err="1">
                          <a:latin typeface="Abadi"/>
                        </a:rPr>
                        <a:t>Adamas</a:t>
                      </a:r>
                      <a:r>
                        <a:rPr sz="1400" b="0" dirty="0">
                          <a:latin typeface="Abadi"/>
                        </a:rPr>
                        <a:t>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solidFill>
                            <a:srgbClr val="F37021"/>
                          </a:solidFill>
                          <a:latin typeface="Abadi"/>
                        </a:rPr>
                        <a:t>Responsibility: 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badi"/>
                        </a:rPr>
                        <a:t>Algorithm design, data pipeline integration, and ML modeling.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Team Member (Data &amp; Preprocessing)</a:t>
                      </a:r>
                    </a:p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Name: </a:t>
                      </a:r>
                      <a:r>
                        <a:rPr sz="1400" b="0" dirty="0" err="1">
                          <a:latin typeface="Abadi"/>
                        </a:rPr>
                        <a:t>Rituraj</a:t>
                      </a:r>
                      <a:r>
                        <a:rPr sz="1400" b="0" dirty="0">
                          <a:latin typeface="Abadi"/>
                        </a:rPr>
                        <a:t> </a:t>
                      </a:r>
                      <a:r>
                        <a:rPr sz="1400" b="0" dirty="0" err="1">
                          <a:latin typeface="Abadi"/>
                        </a:rPr>
                        <a:t>Saha</a:t>
                      </a:r>
                      <a:endParaRPr sz="1400" b="0" dirty="0">
                        <a:latin typeface="Abadi"/>
                      </a:endParaRP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Email: saharituraj805@gmail.com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College: </a:t>
                      </a:r>
                      <a:r>
                        <a:rPr sz="1400" b="0" dirty="0" err="1">
                          <a:latin typeface="Abadi"/>
                        </a:rPr>
                        <a:t>Adamas</a:t>
                      </a:r>
                      <a:r>
                        <a:rPr sz="1400" b="0" dirty="0">
                          <a:latin typeface="Abadi"/>
                        </a:rPr>
                        <a:t>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solidFill>
                            <a:srgbClr val="F37021"/>
                          </a:solidFill>
                          <a:latin typeface="Abadi"/>
                        </a:rPr>
                        <a:t>Responsibility:</a:t>
                      </a:r>
                      <a:r>
                        <a:rPr sz="1400" b="0" dirty="0">
                          <a:latin typeface="Abadi"/>
                        </a:rPr>
                        <a:t> 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badi"/>
                        </a:rPr>
                        <a:t>Feature engineering, telemetry calibration, and scientific visualization.</a:t>
                      </a:r>
                    </a:p>
                  </a:txBody>
                  <a:tcPr>
                    <a:noFill/>
                  </a:tcPr>
                </a:tc>
              </a:tr>
              <a:tr h="1737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Team Member (ML Modeling &amp; Validation)</a:t>
                      </a:r>
                    </a:p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Name: </a:t>
                      </a:r>
                      <a:r>
                        <a:rPr sz="1400" b="0" dirty="0" err="1">
                          <a:latin typeface="Abadi"/>
                        </a:rPr>
                        <a:t>Mahalaxmi</a:t>
                      </a:r>
                      <a:r>
                        <a:rPr sz="1400" b="0" dirty="0">
                          <a:latin typeface="Abadi"/>
                        </a:rPr>
                        <a:t> </a:t>
                      </a:r>
                      <a:r>
                        <a:rPr sz="1400" b="0" dirty="0" err="1">
                          <a:latin typeface="Abadi"/>
                        </a:rPr>
                        <a:t>Macha</a:t>
                      </a:r>
                      <a:endParaRPr sz="1400" b="0" dirty="0">
                        <a:latin typeface="Abadi"/>
                      </a:endParaRP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Email: mahalaxmimacha14@gmail.com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College: G. </a:t>
                      </a:r>
                      <a:r>
                        <a:rPr sz="1400" b="0" dirty="0" err="1">
                          <a:latin typeface="Abadi"/>
                        </a:rPr>
                        <a:t>Narayanamma</a:t>
                      </a:r>
                      <a:r>
                        <a:rPr sz="1400" b="0" dirty="0">
                          <a:latin typeface="Abadi"/>
                        </a:rPr>
                        <a:t> Institute of Technology and Science, Hyderabad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solidFill>
                            <a:srgbClr val="F37021"/>
                          </a:solidFill>
                          <a:latin typeface="Abadi"/>
                        </a:rPr>
                        <a:t>Responsibility: 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badi"/>
                        </a:rPr>
                        <a:t>Telemetry preprocessing, metadata alignment, and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Abadi"/>
                        </a:rPr>
                        <a:t>nowcasting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badi"/>
                        </a:rPr>
                        <a:t> validation.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A192F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Team Member (Dashboard &amp; Benchmarking)</a:t>
                      </a:r>
                    </a:p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Name: </a:t>
                      </a:r>
                      <a:r>
                        <a:rPr sz="1400" b="0" dirty="0" err="1">
                          <a:latin typeface="Abadi"/>
                        </a:rPr>
                        <a:t>Ashfaque</a:t>
                      </a:r>
                      <a:r>
                        <a:rPr sz="1400" b="0" dirty="0">
                          <a:latin typeface="Abadi"/>
                        </a:rPr>
                        <a:t> </a:t>
                      </a:r>
                      <a:r>
                        <a:rPr sz="1400" b="0" dirty="0" err="1">
                          <a:latin typeface="Abadi"/>
                        </a:rPr>
                        <a:t>Ahamed</a:t>
                      </a:r>
                      <a:r>
                        <a:rPr sz="1400" b="0" dirty="0">
                          <a:latin typeface="Abadi"/>
                        </a:rPr>
                        <a:t> Khan</a:t>
                      </a:r>
                    </a:p>
                    <a:p>
                      <a:pPr>
                        <a:defRPr sz="9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Email: ashfaqueahamedkhan591@gmail.com</a:t>
                      </a:r>
                    </a:p>
                    <a:p>
                      <a:pPr>
                        <a:defRPr sz="9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latin typeface="Abadi"/>
                        </a:rPr>
                        <a:t>College: </a:t>
                      </a:r>
                      <a:r>
                        <a:rPr sz="1400" b="0" dirty="0" err="1">
                          <a:latin typeface="Abadi"/>
                        </a:rPr>
                        <a:t>Adamas</a:t>
                      </a:r>
                      <a:r>
                        <a:rPr sz="1400" b="0" dirty="0">
                          <a:latin typeface="Abadi"/>
                        </a:rPr>
                        <a:t> University, Kolkata</a:t>
                      </a:r>
                    </a:p>
                    <a:p>
                      <a:pPr>
                        <a:spcBef>
                          <a:spcPts val="400"/>
                        </a:spcBef>
                        <a:defRPr sz="900">
                          <a:solidFill>
                            <a:srgbClr val="009664"/>
                          </a:solidFill>
                          <a:latin typeface="Arial"/>
                        </a:defRPr>
                      </a:pPr>
                      <a:r>
                        <a:rPr sz="1400" b="0" dirty="0">
                          <a:solidFill>
                            <a:srgbClr val="F37021"/>
                          </a:solidFill>
                          <a:latin typeface="Abadi"/>
                        </a:rPr>
                        <a:t>Responsibility: 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Abadi"/>
                        </a:rPr>
                        <a:t>Cross-catalog benchmarking, NOAA GOES validation, and dashboard deployment.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Rounded Rectangle 71"/>
          <p:cNvSpPr/>
          <p:nvPr/>
        </p:nvSpPr>
        <p:spPr>
          <a:xfrm>
            <a:off x="5164282" y="963591"/>
            <a:ext cx="3846116" cy="3913209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500877" y="1043480"/>
            <a:ext cx="3200401" cy="3949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0A192F"/>
                </a:solidFill>
                <a:latin typeface="Arial"/>
              </a:defRPr>
            </a:pPr>
            <a:r>
              <a:rPr sz="1610" dirty="0">
                <a:latin typeface="Google Sans"/>
              </a:rPr>
              <a:t>USP of the Proposed Solution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  <a:latin typeface="+mn-lt"/>
              </a:rPr>
              <a:t>• </a:t>
            </a:r>
            <a:r>
              <a:rPr sz="1100" b="1" dirty="0">
                <a:solidFill>
                  <a:srgbClr val="282828"/>
                </a:solidFill>
                <a:latin typeface="+mn-lt"/>
              </a:rPr>
              <a:t>Strictly Causal Design</a:t>
            </a:r>
            <a:r>
              <a:rPr sz="1100" b="0" dirty="0">
                <a:solidFill>
                  <a:srgbClr val="282828"/>
                </a:solidFill>
                <a:latin typeface="+mn-lt"/>
              </a:rPr>
              <a:t>: 100% past-only rolling baseline calculations ensure direct compatibility with real-time telemetry streams.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  <a:latin typeface="+mn-lt"/>
              </a:rPr>
              <a:t>• </a:t>
            </a:r>
            <a:r>
              <a:rPr sz="1100" b="1" dirty="0">
                <a:solidFill>
                  <a:srgbClr val="282828"/>
                </a:solidFill>
                <a:latin typeface="+mn-lt"/>
              </a:rPr>
              <a:t>93.2% Verified Recall</a:t>
            </a:r>
            <a:r>
              <a:rPr sz="1100" b="0" dirty="0">
                <a:solidFill>
                  <a:srgbClr val="282828"/>
                </a:solidFill>
                <a:latin typeface="+mn-lt"/>
              </a:rPr>
              <a:t>: Successfully identified 68 out of 73 major NOAA GOES reference events.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  <a:latin typeface="+mn-lt"/>
              </a:rPr>
              <a:t>• </a:t>
            </a:r>
            <a:r>
              <a:rPr sz="1100" b="1" dirty="0" err="1">
                <a:solidFill>
                  <a:srgbClr val="282828"/>
                </a:solidFill>
                <a:latin typeface="+mn-lt"/>
              </a:rPr>
              <a:t>Microflare</a:t>
            </a:r>
            <a:r>
              <a:rPr sz="1100" b="1" dirty="0">
                <a:solidFill>
                  <a:srgbClr val="282828"/>
                </a:solidFill>
                <a:latin typeface="+mn-lt"/>
              </a:rPr>
              <a:t> Discovery</a:t>
            </a:r>
            <a:r>
              <a:rPr sz="1100" b="0" dirty="0">
                <a:solidFill>
                  <a:srgbClr val="282828"/>
                </a:solidFill>
                <a:latin typeface="+mn-lt"/>
              </a:rPr>
              <a:t>: Found 136 sub-threshold events (including a 679s event absent from official catalogs).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  <a:latin typeface="+mn-lt"/>
              </a:rPr>
              <a:t>• </a:t>
            </a:r>
            <a:r>
              <a:rPr sz="1100" b="1" dirty="0">
                <a:solidFill>
                  <a:srgbClr val="282828"/>
                </a:solidFill>
                <a:latin typeface="+mn-lt"/>
              </a:rPr>
              <a:t>10-Tab Space Weather HUD</a:t>
            </a:r>
            <a:r>
              <a:rPr sz="1100" b="0" dirty="0">
                <a:solidFill>
                  <a:srgbClr val="282828"/>
                </a:solidFill>
                <a:latin typeface="+mn-lt"/>
              </a:rPr>
              <a:t>: Integrates CME drag-based model, Parker Spiral tracing, and </a:t>
            </a:r>
            <a:r>
              <a:rPr sz="1100" b="0" dirty="0" err="1">
                <a:solidFill>
                  <a:srgbClr val="282828"/>
                </a:solidFill>
                <a:latin typeface="+mn-lt"/>
              </a:rPr>
              <a:t>Tikhonov</a:t>
            </a:r>
            <a:r>
              <a:rPr sz="1100" b="0" dirty="0">
                <a:solidFill>
                  <a:srgbClr val="282828"/>
                </a:solidFill>
                <a:latin typeface="+mn-lt"/>
              </a:rPr>
              <a:t> regularized DEM solver</a:t>
            </a:r>
            <a:r>
              <a:rPr sz="1100" b="0" dirty="0" smtClean="0">
                <a:solidFill>
                  <a:srgbClr val="282828"/>
                </a:solidFill>
                <a:latin typeface="+mn-lt"/>
              </a:rPr>
              <a:t>.</a:t>
            </a:r>
            <a:endParaRPr lang="en-US" sz="1100" b="0" dirty="0" smtClean="0">
              <a:solidFill>
                <a:srgbClr val="282828"/>
              </a:solidFill>
              <a:latin typeface="+mn-lt"/>
            </a:endParaRPr>
          </a:p>
          <a:p>
            <a:pPr>
              <a:spcBef>
                <a:spcPts val="600"/>
              </a:spcBef>
              <a:defRPr sz="1300">
                <a:solidFill>
                  <a:srgbClr val="323232"/>
                </a:solidFill>
                <a:latin typeface="Arial"/>
              </a:defRPr>
            </a:pPr>
            <a:r>
              <a:rPr lang="en-US" sz="1100" dirty="0">
                <a:latin typeface="+mn-lt"/>
              </a:rPr>
              <a:t>• Native Payload Integration: Purpose-built for India's premier Aditya-L1 observatory (ISSDC).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rPr lang="en-US" sz="1100" dirty="0">
                <a:latin typeface="+mn-lt"/>
              </a:rPr>
              <a:t>• Hybrid Intelligence: Merges data-driven AI with hard physical bounds (Physics-Informed ML).</a:t>
            </a:r>
          </a:p>
          <a:p>
            <a:pPr>
              <a:defRPr sz="1300">
                <a:solidFill>
                  <a:srgbClr val="323232"/>
                </a:solidFill>
                <a:latin typeface="Arial"/>
              </a:defRPr>
            </a:pPr>
            <a:r>
              <a:rPr lang="en-US" sz="1100" dirty="0">
                <a:latin typeface="+mn-lt"/>
              </a:rPr>
              <a:t>• Operational Readiness: High recall, low-latency pipeline ready for immediate Space Weather deployment.</a:t>
            </a:r>
          </a:p>
          <a:p>
            <a:pPr>
              <a:spcBef>
                <a:spcPts val="0"/>
              </a:spcBef>
              <a:spcAft>
                <a:spcPts val="600"/>
              </a:spcAft>
              <a:defRPr sz="880">
                <a:latin typeface="Arial"/>
              </a:defRPr>
            </a:pPr>
            <a:endParaRPr sz="1100" b="0" dirty="0">
              <a:solidFill>
                <a:srgbClr val="28282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1494" y="645818"/>
            <a:ext cx="85474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rial"/>
              </a:defRPr>
            </a:pPr>
            <a:r>
              <a:rPr lang="en-US" sz="1610" dirty="0">
                <a:latin typeface="Google Sans Medium"/>
              </a:rPr>
              <a:t> Opportunity should be able to explain the following:</a:t>
            </a:r>
            <a:endParaRPr sz="1610" dirty="0">
              <a:latin typeface="Google Sans Medium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9367" y="963591"/>
            <a:ext cx="4768770" cy="1964805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0A192F"/>
                </a:solidFill>
                <a:latin typeface="Arial"/>
              </a:defRPr>
            </a:pPr>
            <a:r>
              <a:rPr sz="1610" dirty="0">
                <a:solidFill>
                  <a:srgbClr val="000000"/>
                </a:solidFill>
                <a:latin typeface="Google Sans"/>
              </a:rPr>
              <a:t>1. How different is it from any of the other existing ideas?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00"/>
                </a:solidFill>
              </a:rPr>
              <a:t>Existing Methods:</a:t>
            </a:r>
            <a:r>
              <a:rPr lang="en-US" sz="1100" dirty="0">
                <a:solidFill>
                  <a:srgbClr val="000000"/>
                </a:solidFill>
              </a:rPr>
              <a:t> Rely on single-instrument ground proxies or delayed batch processing of GOES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00"/>
                </a:solidFill>
              </a:rPr>
              <a:t>The </a:t>
            </a:r>
            <a:r>
              <a:rPr lang="en-US" sz="1100" b="1" dirty="0" err="1">
                <a:solidFill>
                  <a:srgbClr val="000000"/>
                </a:solidFill>
              </a:rPr>
              <a:t>SuryaDrishti</a:t>
            </a:r>
            <a:r>
              <a:rPr lang="en-US" sz="1100" b="1" dirty="0">
                <a:solidFill>
                  <a:srgbClr val="000000"/>
                </a:solidFill>
              </a:rPr>
              <a:t> Difference:</a:t>
            </a:r>
            <a:r>
              <a:rPr lang="en-US" sz="1100" dirty="0">
                <a:solidFill>
                  <a:srgbClr val="000000"/>
                </a:solidFill>
              </a:rPr>
              <a:t> First to dynamically fuse multi-instrument (</a:t>
            </a:r>
            <a:r>
              <a:rPr lang="en-US" sz="1100" dirty="0" err="1">
                <a:solidFill>
                  <a:srgbClr val="000000"/>
                </a:solidFill>
              </a:rPr>
              <a:t>SoLEXS</a:t>
            </a:r>
            <a:r>
              <a:rPr lang="en-US" sz="1100" dirty="0">
                <a:solidFill>
                  <a:srgbClr val="000000"/>
                </a:solidFill>
              </a:rPr>
              <a:t> &amp; HEL1OS) native telemetry directly from Aditya-L1.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 smtClean="0">
                <a:solidFill>
                  <a:srgbClr val="000000"/>
                </a:solidFill>
              </a:rPr>
              <a:t>Architecture</a:t>
            </a:r>
            <a:r>
              <a:rPr lang="en-US" sz="1100" b="1" dirty="0">
                <a:solidFill>
                  <a:srgbClr val="000000"/>
                </a:solidFill>
              </a:rPr>
              <a:t>:</a:t>
            </a:r>
            <a:r>
              <a:rPr lang="en-US" sz="1100" dirty="0">
                <a:solidFill>
                  <a:srgbClr val="000000"/>
                </a:solidFill>
              </a:rPr>
              <a:t> Uses a real-time, event-driven streaming pipeline rather than post-facto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367" y="3001126"/>
            <a:ext cx="4768770" cy="1948411"/>
          </a:xfrm>
          <a:prstGeom prst="roundRect">
            <a:avLst/>
          </a:prstGeom>
          <a:solidFill>
            <a:srgbClr val="F5F8FA"/>
          </a:solidFill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>
              <a:defRPr sz="1600" b="1">
                <a:solidFill>
                  <a:srgbClr val="0A192F"/>
                </a:solidFill>
                <a:latin typeface="Arial"/>
              </a:defRPr>
            </a:pPr>
            <a:r>
              <a:rPr sz="1610" dirty="0">
                <a:solidFill>
                  <a:srgbClr val="000000"/>
                </a:solidFill>
                <a:latin typeface="Google Sans"/>
              </a:rPr>
              <a:t>2. How will it be able to solve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00"/>
                </a:solidFill>
              </a:rPr>
              <a:t>Hybrid AI Approach:</a:t>
            </a:r>
            <a:r>
              <a:rPr lang="en-US" sz="1100" dirty="0">
                <a:solidFill>
                  <a:srgbClr val="000000"/>
                </a:solidFill>
              </a:rPr>
              <a:t> Combines a Causal </a:t>
            </a:r>
            <a:r>
              <a:rPr lang="en-US" sz="1100" dirty="0" err="1">
                <a:solidFill>
                  <a:srgbClr val="000000"/>
                </a:solidFill>
              </a:rPr>
              <a:t>RandomForest</a:t>
            </a:r>
            <a:r>
              <a:rPr lang="en-US" sz="1100" dirty="0">
                <a:solidFill>
                  <a:srgbClr val="000000"/>
                </a:solidFill>
              </a:rPr>
              <a:t> ML model with established Solar Physics constraints (</a:t>
            </a:r>
            <a:r>
              <a:rPr lang="en-US" sz="1100" dirty="0" err="1">
                <a:solidFill>
                  <a:srgbClr val="000000"/>
                </a:solidFill>
              </a:rPr>
              <a:t>Neupert</a:t>
            </a:r>
            <a:r>
              <a:rPr lang="en-US" sz="1100" dirty="0">
                <a:solidFill>
                  <a:srgbClr val="000000"/>
                </a:solidFill>
              </a:rPr>
              <a:t> effect).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00"/>
                </a:solidFill>
              </a:rPr>
              <a:t>Early-Warning </a:t>
            </a:r>
            <a:r>
              <a:rPr lang="en-US" sz="1100" b="1" dirty="0" err="1">
                <a:solidFill>
                  <a:srgbClr val="000000"/>
                </a:solidFill>
              </a:rPr>
              <a:t>Nowcaster</a:t>
            </a:r>
            <a:r>
              <a:rPr lang="en-US" sz="1100" b="1" dirty="0">
                <a:solidFill>
                  <a:srgbClr val="000000"/>
                </a:solidFill>
              </a:rPr>
              <a:t>:</a:t>
            </a:r>
            <a:r>
              <a:rPr lang="en-US" sz="1100" dirty="0">
                <a:solidFill>
                  <a:srgbClr val="000000"/>
                </a:solidFill>
              </a:rPr>
              <a:t> Accurately predicts X-ray flux thresholds ahead of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000000"/>
                </a:solidFill>
              </a:rPr>
              <a:t>Actionable Output:</a:t>
            </a:r>
            <a:r>
              <a:rPr lang="en-US" sz="1100" dirty="0">
                <a:solidFill>
                  <a:srgbClr val="000000"/>
                </a:solidFill>
              </a:rPr>
              <a:t> Provides immediate alerts for dangerous M and X-class flares before peak intensity impacts critical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30010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extBox 75"/>
          <p:cNvSpPr txBox="1"/>
          <p:nvPr/>
        </p:nvSpPr>
        <p:spPr>
          <a:xfrm>
            <a:off x="365760" y="802130"/>
            <a:ext cx="852220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latin typeface="Google Sans Medium"/>
              </a:rPr>
              <a:t>List of features offered by the solution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3403" y="1159065"/>
            <a:ext cx="4206240" cy="24827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>
                <a:solidFill>
                  <a:srgbClr val="F37021"/>
                </a:solidFill>
                <a:latin typeface="+mn-lt"/>
              </a:rPr>
              <a:t>■ Phase 1: Ingestion &amp; Alignment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rPr sz="1100" dirty="0" smtClean="0">
                <a:latin typeface="+mn-lt"/>
              </a:rPr>
              <a:t>Harmonizes raw </a:t>
            </a:r>
            <a:r>
              <a:rPr sz="1100" dirty="0" err="1" smtClean="0">
                <a:latin typeface="+mn-lt"/>
              </a:rPr>
              <a:t>SoLEXS</a:t>
            </a:r>
            <a:r>
              <a:rPr sz="1100" dirty="0" smtClean="0">
                <a:latin typeface="+mn-lt"/>
              </a:rPr>
              <a:t> &amp; </a:t>
            </a:r>
            <a:r>
              <a:rPr sz="1100" dirty="0">
                <a:latin typeface="+mn-lt"/>
              </a:rPr>
              <a:t>HEL1OS FITS telemetry to Unix epoch, merging them on 1-second cadence (259,071 overlap points).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>
                <a:solidFill>
                  <a:srgbClr val="F37021"/>
                </a:solidFill>
                <a:latin typeface="+mn-lt"/>
              </a:rPr>
              <a:t>■ Phase 2: Causal </a:t>
            </a:r>
            <a:r>
              <a:rPr sz="1100" dirty="0" err="1">
                <a:solidFill>
                  <a:srgbClr val="F37021"/>
                </a:solidFill>
                <a:latin typeface="+mn-lt"/>
              </a:rPr>
              <a:t>Nowcasting</a:t>
            </a:r>
            <a:endParaRPr sz="1100" dirty="0">
              <a:solidFill>
                <a:srgbClr val="F37021"/>
              </a:solidFill>
              <a:latin typeface="+mn-lt"/>
            </a:endParaRP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rPr sz="1100" dirty="0">
                <a:latin typeface="+mn-lt"/>
              </a:rPr>
              <a:t>Zero-</a:t>
            </a:r>
            <a:r>
              <a:rPr sz="1100" dirty="0" err="1">
                <a:latin typeface="+mn-lt"/>
              </a:rPr>
              <a:t>lookahead</a:t>
            </a:r>
            <a:r>
              <a:rPr sz="1100" dirty="0">
                <a:latin typeface="+mn-lt"/>
              </a:rPr>
              <a:t> baseline </a:t>
            </a:r>
            <a:r>
              <a:rPr sz="1100" dirty="0" err="1">
                <a:latin typeface="+mn-lt"/>
              </a:rPr>
              <a:t>thresholding</a:t>
            </a:r>
            <a:r>
              <a:rPr sz="1100" dirty="0">
                <a:latin typeface="+mn-lt"/>
              </a:rPr>
              <a:t> (Counts &gt; Median + n × σ) with 120s event merging to prevent fragmentation.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>
                <a:solidFill>
                  <a:srgbClr val="F37021"/>
                </a:solidFill>
                <a:latin typeface="+mn-lt"/>
              </a:rPr>
              <a:t>■ Phase 3: ML Forecasting Prototype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rPr sz="1100" dirty="0" err="1">
                <a:latin typeface="+mn-lt"/>
              </a:rPr>
              <a:t>RandomForest</a:t>
            </a:r>
            <a:r>
              <a:rPr sz="1100" dirty="0">
                <a:latin typeface="+mn-lt"/>
              </a:rPr>
              <a:t> trained on precursor features (hardness ratio, QPPs) with balanced class weights to handle 98.5% data imbalance.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 smtClean="0">
                <a:solidFill>
                  <a:srgbClr val="F37021"/>
                </a:solidFill>
                <a:latin typeface="+mn-lt"/>
              </a:rPr>
              <a:t>■ Phase 4: 10-Tab Scientific Dashboard</a:t>
            </a:r>
          </a:p>
          <a:p>
            <a:pPr>
              <a:spcAft>
                <a:spcPts val="200"/>
              </a:spcAft>
              <a:defRPr sz="919">
                <a:solidFill>
                  <a:srgbClr val="282828"/>
                </a:solidFill>
                <a:latin typeface="Arial"/>
              </a:defRPr>
            </a:pPr>
            <a:r>
              <a:rPr sz="1100" dirty="0" smtClean="0">
                <a:latin typeface="+mn-lt"/>
              </a:rPr>
              <a:t>Runs </a:t>
            </a:r>
            <a:r>
              <a:rPr sz="1100" dirty="0">
                <a:latin typeface="+mn-lt"/>
              </a:rPr>
              <a:t>locally in &lt;100ms on commodity hardware, offering 3D Sun disk, CME tracking, SEP spiral, and AI </a:t>
            </a:r>
            <a:r>
              <a:rPr sz="1100" dirty="0" smtClean="0">
                <a:latin typeface="+mn-lt"/>
              </a:rPr>
              <a:t>assistant.</a:t>
            </a:r>
            <a:endParaRPr sz="1100" dirty="0">
              <a:latin typeface="+mn-lt"/>
            </a:endParaRPr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1920240" cy="13716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754880" y="2514600"/>
            <a:ext cx="2103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Figure 1: </a:t>
            </a:r>
            <a:r>
              <a:rPr sz="1100" dirty="0" err="1">
                <a:latin typeface="Arial" panose="020B0604020202020204" pitchFamily="34" charset="0"/>
                <a:cs typeface="Arial" panose="020B0604020202020204" pitchFamily="34" charset="0"/>
              </a:rPr>
              <a:t>Nowcast</a:t>
            </a:r>
            <a:r>
              <a:rPr sz="1100" dirty="0">
                <a:latin typeface="Arial" panose="020B0604020202020204" pitchFamily="34" charset="0"/>
                <a:cs typeface="Arial" panose="020B0604020202020204" pitchFamily="34" charset="0"/>
              </a:rPr>
              <a:t> Baseline</a:t>
            </a:r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97280"/>
            <a:ext cx="1920240" cy="13716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0" y="251460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Figure 2: Event Zoom</a:t>
            </a:r>
          </a:p>
        </p:txBody>
      </p:sp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926080"/>
            <a:ext cx="1920240" cy="13716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754880" y="434340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Figure 3: M-Class Flare</a:t>
            </a:r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2926080"/>
            <a:ext cx="1920240" cy="137160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834969" y="4297680"/>
            <a:ext cx="214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Figure 4: </a:t>
            </a:r>
            <a:r>
              <a:rPr sz="1100" dirty="0" err="1"/>
              <a:t>Nowcast</a:t>
            </a:r>
            <a:r>
              <a:rPr sz="1100" dirty="0"/>
              <a:t>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75;p16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095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/>
          <p:cNvSpPr txBox="1"/>
          <p:nvPr/>
        </p:nvSpPr>
        <p:spPr>
          <a:xfrm>
            <a:off x="365759" y="607179"/>
            <a:ext cx="7804388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latin typeface="Google Sans Medium"/>
              </a:rPr>
              <a:t>Process flow diagram or Use-case diagram</a:t>
            </a:r>
          </a:p>
        </p:txBody>
      </p:sp>
      <p:sp>
        <p:nvSpPr>
          <p:cNvPr id="8" name="Google Shape;135;p3">
            <a:extLst>
              <a:ext uri="{FF2B5EF4-FFF2-40B4-BE49-F238E27FC236}">
                <a16:creationId xmlns:a16="http://schemas.microsoft.com/office/drawing/2014/main" xmlns="" id="{1BAD1CF2-DD90-0DC4-224B-EFC9B133780B}"/>
              </a:ext>
            </a:extLst>
          </p:cNvPr>
          <p:cNvSpPr txBox="1"/>
          <p:nvPr/>
        </p:nvSpPr>
        <p:spPr>
          <a:xfrm>
            <a:off x="7437446" y="1987852"/>
            <a:ext cx="163900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200" b="1" dirty="0" smtClean="0"/>
              <a:t>Satellite(Aditya-L1</a:t>
            </a:r>
          </a:p>
          <a:p>
            <a:pPr lvl="0" algn="ctr"/>
            <a:r>
              <a:rPr lang="en-US" sz="1200" b="1" dirty="0" smtClean="0"/>
              <a:t>(</a:t>
            </a:r>
            <a:r>
              <a:rPr lang="en-US" sz="1200" b="1" dirty="0" err="1" smtClean="0"/>
              <a:t>SoLEXS</a:t>
            </a:r>
            <a:r>
              <a:rPr lang="en-US" sz="1200" b="1" dirty="0" smtClean="0"/>
              <a:t> / HEL1OS))</a:t>
            </a:r>
            <a:endParaRPr dirty="0"/>
          </a:p>
        </p:txBody>
      </p:sp>
      <p:sp>
        <p:nvSpPr>
          <p:cNvPr id="9" name="Google Shape;141;p3">
            <a:extLst>
              <a:ext uri="{FF2B5EF4-FFF2-40B4-BE49-F238E27FC236}">
                <a16:creationId xmlns:a16="http://schemas.microsoft.com/office/drawing/2014/main" xmlns="" id="{CC7A73E3-768B-32C9-BEFF-83A16902999C}"/>
              </a:ext>
            </a:extLst>
          </p:cNvPr>
          <p:cNvSpPr txBox="1"/>
          <p:nvPr/>
        </p:nvSpPr>
        <p:spPr>
          <a:xfrm>
            <a:off x="6064668" y="3416462"/>
            <a:ext cx="154584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200" b="1" dirty="0" smtClean="0"/>
              <a:t>Database(ISSDC </a:t>
            </a:r>
            <a:r>
              <a:rPr lang="en-US" sz="1200" b="1" dirty="0"/>
              <a:t>Telemetry </a:t>
            </a:r>
            <a:r>
              <a:rPr lang="en-US" sz="1200" b="1" dirty="0" smtClean="0"/>
              <a:t>Feed)</a:t>
            </a:r>
            <a:endParaRPr sz="1200" dirty="0"/>
          </a:p>
        </p:txBody>
      </p:sp>
      <p:sp>
        <p:nvSpPr>
          <p:cNvPr id="11" name="Cylinder 81">
            <a:extLst>
              <a:ext uri="{FF2B5EF4-FFF2-40B4-BE49-F238E27FC236}">
                <a16:creationId xmlns:a16="http://schemas.microsoft.com/office/drawing/2014/main" xmlns="" id="{457C3236-13B1-55DD-F365-6EAB4DFE40B3}"/>
              </a:ext>
            </a:extLst>
          </p:cNvPr>
          <p:cNvSpPr/>
          <p:nvPr/>
        </p:nvSpPr>
        <p:spPr>
          <a:xfrm rot="16200000">
            <a:off x="4813239" y="2410896"/>
            <a:ext cx="337915" cy="1079989"/>
          </a:xfrm>
          <a:prstGeom prst="ca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47D94820-7554-81E7-63C2-8F456B19A5D9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522191" y="2950890"/>
            <a:ext cx="70452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5D14415A-07E5-2F13-1192-851BD4E7EAC5}"/>
              </a:ext>
            </a:extLst>
          </p:cNvPr>
          <p:cNvSpPr txBox="1"/>
          <p:nvPr/>
        </p:nvSpPr>
        <p:spPr>
          <a:xfrm>
            <a:off x="3978230" y="3084930"/>
            <a:ext cx="2288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/>
              <a:t>Preprocessing</a:t>
            </a:r>
            <a:r>
              <a:rPr lang="en-IN" sz="1200" b="1" dirty="0"/>
              <a:t> </a:t>
            </a:r>
            <a:r>
              <a:rPr lang="en-IN" sz="1200" b="1" dirty="0" smtClean="0"/>
              <a:t>Pipeline     (</a:t>
            </a:r>
            <a:r>
              <a:rPr lang="en-US" sz="1200" b="1" dirty="0"/>
              <a:t>Time-sync &amp; </a:t>
            </a:r>
            <a:r>
              <a:rPr lang="en-US" sz="1200" b="1" dirty="0" smtClean="0"/>
              <a:t>Alignment</a:t>
            </a:r>
            <a:r>
              <a:rPr lang="en-IN" sz="1200" b="1" dirty="0" smtClean="0"/>
              <a:t>)</a:t>
            </a:r>
            <a:endParaRPr lang="en-US" sz="12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E3D4A5D2-2B49-B656-F1BF-E92A0987B08A}"/>
              </a:ext>
            </a:extLst>
          </p:cNvPr>
          <p:cNvGrpSpPr/>
          <p:nvPr/>
        </p:nvGrpSpPr>
        <p:grpSpPr>
          <a:xfrm>
            <a:off x="4490538" y="2337859"/>
            <a:ext cx="941903" cy="293720"/>
            <a:chOff x="5484122" y="2950165"/>
            <a:chExt cx="1139702" cy="35540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xmlns="" id="{DE84EBED-C147-F3E8-B97A-EA58314FE401}"/>
                </a:ext>
              </a:extLst>
            </p:cNvPr>
            <p:cNvSpPr/>
            <p:nvPr/>
          </p:nvSpPr>
          <p:spPr>
            <a:xfrm>
              <a:off x="5583044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xmlns="" id="{742BCBED-2DAC-4460-9A2B-23E98C93B751}"/>
                </a:ext>
              </a:extLst>
            </p:cNvPr>
            <p:cNvSpPr/>
            <p:nvPr/>
          </p:nvSpPr>
          <p:spPr>
            <a:xfrm>
              <a:off x="5843628" y="3024771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68D5E7DC-B5DB-DAC2-E3C9-9A7B4BC014DE}"/>
                </a:ext>
              </a:extLst>
            </p:cNvPr>
            <p:cNvSpPr/>
            <p:nvPr/>
          </p:nvSpPr>
          <p:spPr>
            <a:xfrm>
              <a:off x="6104212" y="3028769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xmlns="" id="{82176083-CBB5-5A1E-52E3-7552632D512E}"/>
                </a:ext>
              </a:extLst>
            </p:cNvPr>
            <p:cNvSpPr/>
            <p:nvPr/>
          </p:nvSpPr>
          <p:spPr>
            <a:xfrm>
              <a:off x="6362831" y="3024770"/>
              <a:ext cx="200722" cy="2004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xmlns="" id="{72451BB0-43F3-14B9-6F56-0FB8C7CBD0C9}"/>
                </a:ext>
              </a:extLst>
            </p:cNvPr>
            <p:cNvCxnSpPr/>
            <p:nvPr/>
          </p:nvCxnSpPr>
          <p:spPr>
            <a:xfrm>
              <a:off x="5484122" y="2950165"/>
              <a:ext cx="107943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xmlns="" id="{B0AD8555-4FB5-BE91-0D73-485C8D9654A4}"/>
                </a:ext>
              </a:extLst>
            </p:cNvPr>
            <p:cNvCxnSpPr/>
            <p:nvPr/>
          </p:nvCxnSpPr>
          <p:spPr>
            <a:xfrm>
              <a:off x="5484122" y="3305567"/>
              <a:ext cx="113970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DB532CEC-937A-5084-1586-D4820DCAE154}"/>
              </a:ext>
            </a:extLst>
          </p:cNvPr>
          <p:cNvCxnSpPr>
            <a:cxnSpLocks/>
          </p:cNvCxnSpPr>
          <p:nvPr/>
        </p:nvCxnSpPr>
        <p:spPr>
          <a:xfrm flipH="1" flipV="1">
            <a:off x="2497413" y="2976403"/>
            <a:ext cx="1878351" cy="52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83B15A1-5E20-40A6-3708-0E1FDD72C8AD}"/>
              </a:ext>
            </a:extLst>
          </p:cNvPr>
          <p:cNvSpPr txBox="1"/>
          <p:nvPr/>
        </p:nvSpPr>
        <p:spPr>
          <a:xfrm>
            <a:off x="317161" y="3502500"/>
            <a:ext cx="3184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Model </a:t>
            </a:r>
          </a:p>
          <a:p>
            <a:pPr algn="ctr"/>
            <a:r>
              <a:rPr lang="en-IN" sz="1200" b="1" dirty="0" smtClean="0"/>
              <a:t>Architecture</a:t>
            </a:r>
          </a:p>
          <a:p>
            <a:pPr algn="ctr"/>
            <a:r>
              <a:rPr lang="en-IN" sz="1200" b="1" dirty="0" smtClean="0"/>
              <a:t>(</a:t>
            </a:r>
            <a:r>
              <a:rPr lang="en-US" sz="1200" b="1" dirty="0"/>
              <a:t>Causal </a:t>
            </a:r>
            <a:r>
              <a:rPr lang="en-US" sz="1200" b="1" dirty="0" err="1"/>
              <a:t>RandomForest</a:t>
            </a:r>
            <a:r>
              <a:rPr lang="en-US" sz="1200" b="1" dirty="0"/>
              <a:t> </a:t>
            </a:r>
            <a:r>
              <a:rPr lang="en-US" sz="1200" b="1" dirty="0" err="1"/>
              <a:t>Nowcaster</a:t>
            </a:r>
            <a:r>
              <a:rPr lang="en-IN" sz="1200" b="1" dirty="0" smtClean="0"/>
              <a:t>)</a:t>
            </a:r>
            <a:endParaRPr lang="en-US" sz="1200" b="1" dirty="0"/>
          </a:p>
        </p:txBody>
      </p:sp>
      <p:cxnSp>
        <p:nvCxnSpPr>
          <p:cNvPr id="17" name="Connector: Elbow 108">
            <a:extLst>
              <a:ext uri="{FF2B5EF4-FFF2-40B4-BE49-F238E27FC236}">
                <a16:creationId xmlns:a16="http://schemas.microsoft.com/office/drawing/2014/main" xmlns="" id="{C455C234-819C-058F-439A-135328E8E3A6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7668211" y="2387665"/>
            <a:ext cx="342261" cy="83521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4DAD74A-E921-2BC3-2C29-A9643F7588CA}"/>
              </a:ext>
            </a:extLst>
          </p:cNvPr>
          <p:cNvCxnSpPr>
            <a:cxnSpLocks/>
          </p:cNvCxnSpPr>
          <p:nvPr/>
        </p:nvCxnSpPr>
        <p:spPr>
          <a:xfrm flipV="1">
            <a:off x="3026802" y="4174814"/>
            <a:ext cx="4041101" cy="512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2D864D9-2EC6-274F-8A17-A7F3ABA13E24}"/>
              </a:ext>
            </a:extLst>
          </p:cNvPr>
          <p:cNvCxnSpPr/>
          <p:nvPr/>
        </p:nvCxnSpPr>
        <p:spPr>
          <a:xfrm flipV="1">
            <a:off x="6991933" y="3847274"/>
            <a:ext cx="0" cy="327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127">
            <a:extLst>
              <a:ext uri="{FF2B5EF4-FFF2-40B4-BE49-F238E27FC236}">
                <a16:creationId xmlns:a16="http://schemas.microsoft.com/office/drawing/2014/main" xmlns="" id="{099C9F60-42BF-EFEE-AE95-27992D529E97}"/>
              </a:ext>
            </a:extLst>
          </p:cNvPr>
          <p:cNvCxnSpPr>
            <a:cxnSpLocks/>
          </p:cNvCxnSpPr>
          <p:nvPr/>
        </p:nvCxnSpPr>
        <p:spPr>
          <a:xfrm rot="10800000">
            <a:off x="1198084" y="3003931"/>
            <a:ext cx="6830482" cy="1366483"/>
          </a:xfrm>
          <a:prstGeom prst="bentConnector3">
            <a:avLst>
              <a:gd name="adj1" fmla="val 112051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B1273DB4-B989-3569-DBD4-D450D2976D65}"/>
              </a:ext>
            </a:extLst>
          </p:cNvPr>
          <p:cNvSpPr txBox="1"/>
          <p:nvPr/>
        </p:nvSpPr>
        <p:spPr>
          <a:xfrm>
            <a:off x="5987252" y="2177953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81193530-9E56-8129-4FFC-B7367A3E9FF8}"/>
              </a:ext>
            </a:extLst>
          </p:cNvPr>
          <p:cNvSpPr txBox="1"/>
          <p:nvPr/>
        </p:nvSpPr>
        <p:spPr>
          <a:xfrm>
            <a:off x="6558610" y="2013265"/>
            <a:ext cx="920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232A70D-8794-F136-7076-9F889734E78B}"/>
              </a:ext>
            </a:extLst>
          </p:cNvPr>
          <p:cNvSpPr txBox="1"/>
          <p:nvPr/>
        </p:nvSpPr>
        <p:spPr>
          <a:xfrm>
            <a:off x="3315654" y="4143971"/>
            <a:ext cx="17777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Predicted Frames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72E8F1C-3F6E-28A8-FB39-C9C8A6F153CE}"/>
              </a:ext>
            </a:extLst>
          </p:cNvPr>
          <p:cNvSpPr txBox="1"/>
          <p:nvPr/>
        </p:nvSpPr>
        <p:spPr>
          <a:xfrm>
            <a:off x="4442202" y="2069821"/>
            <a:ext cx="14843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Input Frames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FD2DD5D9-CCF3-AF0E-698F-F0B3E53C1F78}"/>
              </a:ext>
            </a:extLst>
          </p:cNvPr>
          <p:cNvSpPr txBox="1"/>
          <p:nvPr/>
        </p:nvSpPr>
        <p:spPr>
          <a:xfrm>
            <a:off x="5427393" y="4394587"/>
            <a:ext cx="26194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Self Supervised </a:t>
            </a:r>
            <a:r>
              <a:rPr lang="en-IN" sz="1200" dirty="0" smtClean="0"/>
              <a:t>Learning(</a:t>
            </a:r>
            <a:r>
              <a:rPr lang="en-US" sz="1200" b="1" dirty="0"/>
              <a:t>GOES Label Calibration</a:t>
            </a:r>
            <a:r>
              <a:rPr lang="en-IN" sz="1200" dirty="0" smtClean="0"/>
              <a:t>)</a:t>
            </a:r>
            <a:endParaRPr lang="en-US" sz="1200" dirty="0"/>
          </a:p>
        </p:txBody>
      </p:sp>
      <p:cxnSp>
        <p:nvCxnSpPr>
          <p:cNvPr id="28" name="Connector: Curved 15">
            <a:extLst>
              <a:ext uri="{FF2B5EF4-FFF2-40B4-BE49-F238E27FC236}">
                <a16:creationId xmlns:a16="http://schemas.microsoft.com/office/drawing/2014/main" xmlns="" id="{B1DB6B82-92FF-FC1D-1A3A-5CBCF35F6C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5158" y="2087943"/>
            <a:ext cx="467459" cy="285076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323F591D-BF25-65CF-2B14-BF31387239E7}"/>
              </a:ext>
            </a:extLst>
          </p:cNvPr>
          <p:cNvSpPr txBox="1"/>
          <p:nvPr/>
        </p:nvSpPr>
        <p:spPr>
          <a:xfrm>
            <a:off x="7351420" y="3716469"/>
            <a:ext cx="67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actual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791E922-37B3-ECC1-AF3E-037E71810B6E}"/>
              </a:ext>
            </a:extLst>
          </p:cNvPr>
          <p:cNvSpPr txBox="1"/>
          <p:nvPr/>
        </p:nvSpPr>
        <p:spPr>
          <a:xfrm>
            <a:off x="7928327" y="3485453"/>
            <a:ext cx="830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predicted</a:t>
            </a:r>
            <a:endParaRPr lang="en-US" dirty="0"/>
          </a:p>
        </p:txBody>
      </p:sp>
      <p:cxnSp>
        <p:nvCxnSpPr>
          <p:cNvPr id="31" name="Connector: Curved 22">
            <a:extLst>
              <a:ext uri="{FF2B5EF4-FFF2-40B4-BE49-F238E27FC236}">
                <a16:creationId xmlns:a16="http://schemas.microsoft.com/office/drawing/2014/main" xmlns="" id="{9086B0E6-E507-6086-841E-27F8B58E092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82280" y="3405509"/>
            <a:ext cx="617969" cy="571782"/>
          </a:xfrm>
          <a:prstGeom prst="curvedConnector3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708CD317-4A71-F492-8F05-D4599CE77EAA}"/>
              </a:ext>
            </a:extLst>
          </p:cNvPr>
          <p:cNvSpPr txBox="1"/>
          <p:nvPr/>
        </p:nvSpPr>
        <p:spPr>
          <a:xfrm>
            <a:off x="5536540" y="892218"/>
            <a:ext cx="1737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800" b="1">
                <a:solidFill>
                  <a:srgbClr val="0A192F"/>
                </a:solidFill>
              </a:defRPr>
            </a:pPr>
            <a:r>
              <a:rPr lang="en-US" sz="1200" dirty="0" smtClean="0"/>
              <a:t>Operator  Dashboard</a:t>
            </a:r>
            <a:endParaRPr lang="en-US" sz="1200" dirty="0"/>
          </a:p>
        </p:txBody>
      </p:sp>
      <p:cxnSp>
        <p:nvCxnSpPr>
          <p:cNvPr id="34" name="Connector: Curved 43">
            <a:extLst>
              <a:ext uri="{FF2B5EF4-FFF2-40B4-BE49-F238E27FC236}">
                <a16:creationId xmlns:a16="http://schemas.microsoft.com/office/drawing/2014/main" xmlns="" id="{33958795-2E69-057C-FFA5-05DBCC5515D3}"/>
              </a:ext>
            </a:extLst>
          </p:cNvPr>
          <p:cNvCxnSpPr/>
          <p:nvPr/>
        </p:nvCxnSpPr>
        <p:spPr>
          <a:xfrm rot="10800000">
            <a:off x="3819100" y="1559252"/>
            <a:ext cx="1793681" cy="3856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C3C8AFB6-FF5D-8AEC-1CEE-AECBA2F350CA}"/>
              </a:ext>
            </a:extLst>
          </p:cNvPr>
          <p:cNvSpPr txBox="1"/>
          <p:nvPr/>
        </p:nvSpPr>
        <p:spPr>
          <a:xfrm>
            <a:off x="1559154" y="2079268"/>
            <a:ext cx="107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(POC)</a:t>
            </a:r>
          </a:p>
        </p:txBody>
      </p:sp>
      <p:pic>
        <p:nvPicPr>
          <p:cNvPr id="45" name="Picture 4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057" y="965250"/>
            <a:ext cx="2129394" cy="117099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82828"/>
                </a:solidFill>
                <a:latin typeface="Arial"/>
              </a:defRPr>
            </a:pPr>
            <a:r>
              <a:rPr dirty="0"/>
              <a:t>* We will scale the pipeline with multi-month archival telemetry and attitude correction for operational deployment.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01" y="993686"/>
            <a:ext cx="1358982" cy="10345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687" y="2487702"/>
            <a:ext cx="1175726" cy="1058893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430" y="1170611"/>
            <a:ext cx="1521306" cy="84158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06" y="2494839"/>
            <a:ext cx="1150152" cy="979275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327" y="4020474"/>
            <a:ext cx="806012" cy="75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9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TextBox 87"/>
          <p:cNvSpPr txBox="1"/>
          <p:nvPr/>
        </p:nvSpPr>
        <p:spPr>
          <a:xfrm>
            <a:off x="148284" y="648866"/>
            <a:ext cx="541225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Google Sans Medium"/>
              </a:rPr>
              <a:t>Wireframes/Mock diagrams of the proposed </a:t>
            </a:r>
            <a:r>
              <a:rPr lang="en-US" sz="1600" b="1" dirty="0" smtClean="0">
                <a:solidFill>
                  <a:schemeClr val="tx1"/>
                </a:solidFill>
                <a:latin typeface="Google Sans Medium"/>
              </a:rPr>
              <a:t>solution</a:t>
            </a:r>
            <a:endParaRPr lang="en-US" sz="1600" b="1" dirty="0">
              <a:solidFill>
                <a:schemeClr val="tx1"/>
              </a:solidFill>
              <a:latin typeface="Google Sans Medium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974605" y="3093169"/>
            <a:ext cx="2813591" cy="1917319"/>
            <a:chOff x="5774995" y="1097280"/>
            <a:chExt cx="3393987" cy="1917319"/>
          </a:xfrm>
        </p:grpSpPr>
        <p:pic>
          <p:nvPicPr>
            <p:cNvPr id="91" name="Picture 90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28360" y="1097280"/>
              <a:ext cx="3017520" cy="1691640"/>
            </a:xfrm>
            <a:prstGeom prst="rect">
              <a:avLst/>
            </a:prstGeom>
          </p:spPr>
        </p:pic>
        <p:sp>
          <p:nvSpPr>
            <p:cNvPr id="92" name="TextBox 91"/>
            <p:cNvSpPr txBox="1"/>
            <p:nvPr/>
          </p:nvSpPr>
          <p:spPr>
            <a:xfrm>
              <a:off x="5774995" y="2752989"/>
              <a:ext cx="3393987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" b="1">
                  <a:solidFill>
                    <a:srgbClr val="0A192F"/>
                  </a:solidFill>
                  <a:latin typeface="Arial"/>
                </a:defRPr>
              </a:pPr>
              <a:r>
                <a:rPr sz="1100" dirty="0"/>
                <a:t>Figure </a:t>
              </a:r>
              <a:r>
                <a:rPr lang="en-US" sz="1100" dirty="0" smtClean="0"/>
                <a:t>3</a:t>
              </a:r>
              <a:r>
                <a:rPr sz="1100" dirty="0" smtClean="0"/>
                <a:t>: </a:t>
              </a:r>
              <a:r>
                <a:rPr sz="1100" dirty="0"/>
                <a:t>Live Operator Flare Alert HUD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33690" y="1052542"/>
            <a:ext cx="4707742" cy="2050332"/>
            <a:chOff x="530879" y="3180908"/>
            <a:chExt cx="4705424" cy="2167007"/>
          </a:xfrm>
        </p:grpSpPr>
        <p:grpSp>
          <p:nvGrpSpPr>
            <p:cNvPr id="4" name="Group 3"/>
            <p:cNvGrpSpPr/>
            <p:nvPr/>
          </p:nvGrpSpPr>
          <p:grpSpPr>
            <a:xfrm>
              <a:off x="530879" y="3180908"/>
              <a:ext cx="4705424" cy="2167007"/>
              <a:chOff x="264160" y="3136625"/>
              <a:chExt cx="4705424" cy="2167007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64160" y="3136625"/>
                <a:ext cx="4477751" cy="1737360"/>
                <a:chOff x="-2082703" y="1091568"/>
                <a:chExt cx="9419770" cy="2428018"/>
              </a:xfrm>
            </p:grpSpPr>
            <p:cxnSp>
              <p:nvCxnSpPr>
                <p:cNvPr id="11" name="Connector 8"/>
                <p:cNvCxnSpPr/>
                <p:nvPr/>
              </p:nvCxnSpPr>
              <p:spPr>
                <a:xfrm>
                  <a:off x="1435184" y="1645920"/>
                  <a:ext cx="731519" cy="0"/>
                </a:xfrm>
                <a:prstGeom prst="line">
                  <a:avLst/>
                </a:prstGeom>
                <a:ln w="19050">
                  <a:solidFill>
                    <a:srgbClr val="F3702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9" name="Picture 8" descr="html_dashboard_main_1782899027409.png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33547" y="1091568"/>
                  <a:ext cx="5303520" cy="2428018"/>
                </a:xfrm>
                <a:prstGeom prst="rect">
                  <a:avLst/>
                </a:prstGeom>
              </p:spPr>
            </p:pic>
            <p:sp>
              <p:nvSpPr>
                <p:cNvPr id="10" name="TextBox 9"/>
                <p:cNvSpPr txBox="1"/>
                <p:nvPr/>
              </p:nvSpPr>
              <p:spPr>
                <a:xfrm>
                  <a:off x="-2082703" y="1371600"/>
                  <a:ext cx="3911503" cy="5161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>
                    <a:defRPr sz="1200" b="1">
                      <a:solidFill>
                        <a:srgbClr val="F37021"/>
                      </a:solidFill>
                      <a:latin typeface="Arial"/>
                    </a:defRPr>
                  </a:pPr>
                  <a:r>
                    <a:rPr dirty="0"/>
                    <a:t>Real-Time </a:t>
                  </a:r>
                  <a:r>
                    <a:rPr dirty="0" err="1"/>
                    <a:t>Nowcast</a:t>
                  </a:r>
                  <a:r>
                    <a:rPr dirty="0"/>
                    <a:t> Alert</a:t>
                  </a:r>
                  <a:br>
                    <a:rPr dirty="0"/>
                  </a:br>
                  <a:r>
                    <a:rPr dirty="0"/>
                    <a:t>(Causal </a:t>
                  </a:r>
                  <a:r>
                    <a:rPr dirty="0" err="1"/>
                    <a:t>RandomForest</a:t>
                  </a:r>
                  <a:r>
                    <a:rPr dirty="0"/>
                    <a:t>)</a:t>
                  </a:r>
                </a:p>
              </p:txBody>
            </p:sp>
          </p:grpSp>
          <p:sp>
            <p:nvSpPr>
              <p:cNvPr id="16" name="TextBox 15"/>
              <p:cNvSpPr txBox="1"/>
              <p:nvPr/>
            </p:nvSpPr>
            <p:spPr>
              <a:xfrm>
                <a:off x="1972384" y="4848225"/>
                <a:ext cx="2997200" cy="455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100" b="1">
                    <a:solidFill>
                      <a:srgbClr val="71717A"/>
                    </a:solidFill>
                  </a:defRPr>
                </a:pPr>
                <a:r>
                  <a:rPr sz="1100" dirty="0">
                    <a:solidFill>
                      <a:schemeClr val="tx1"/>
                    </a:solidFill>
                  </a:rPr>
                  <a:t>Figure </a:t>
                </a:r>
                <a:r>
                  <a:rPr lang="en-US" sz="1100" dirty="0" smtClean="0">
                    <a:solidFill>
                      <a:schemeClr val="tx1"/>
                    </a:solidFill>
                  </a:rPr>
                  <a:t>1</a:t>
                </a:r>
                <a:r>
                  <a:rPr sz="1100" dirty="0" smtClean="0">
                    <a:solidFill>
                      <a:schemeClr val="tx1"/>
                    </a:solidFill>
                  </a:rPr>
                  <a:t>: </a:t>
                </a:r>
                <a:r>
                  <a:rPr sz="1100" dirty="0">
                    <a:solidFill>
                      <a:schemeClr val="tx1"/>
                    </a:solidFill>
                  </a:rPr>
                  <a:t>Real-Time 3D Sun Disk &amp; Telemetry Alerts HUD</a:t>
                </a: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542028" y="4262392"/>
              <a:ext cx="1943055" cy="369332"/>
              <a:chOff x="-4819557" y="4209136"/>
              <a:chExt cx="6696482" cy="410601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-4819557" y="4209136"/>
                <a:ext cx="6302918" cy="41060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defRPr sz="1200" b="1">
                    <a:solidFill>
                      <a:srgbClr val="F37021"/>
                    </a:solidFill>
                    <a:latin typeface="Arial"/>
                  </a:defRPr>
                </a:pPr>
                <a:r>
                  <a:rPr dirty="0"/>
                  <a:t>Interactive 3D Sun Disk</a:t>
                </a:r>
                <a:br>
                  <a:rPr dirty="0"/>
                </a:br>
                <a:r>
                  <a:rPr dirty="0"/>
                  <a:t>(EUV Imager Mode)</a:t>
                </a:r>
              </a:p>
            </p:txBody>
          </p:sp>
          <p:cxnSp>
            <p:nvCxnSpPr>
              <p:cNvPr id="14" name="Connector 6"/>
              <p:cNvCxnSpPr/>
              <p:nvPr/>
            </p:nvCxnSpPr>
            <p:spPr>
              <a:xfrm>
                <a:off x="962524" y="4483456"/>
                <a:ext cx="914401" cy="0"/>
              </a:xfrm>
              <a:prstGeom prst="line">
                <a:avLst/>
              </a:prstGeom>
              <a:ln w="19050">
                <a:solidFill>
                  <a:srgbClr val="F3702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4974544" y="1019337"/>
            <a:ext cx="3983940" cy="1871863"/>
            <a:chOff x="0" y="2985284"/>
            <a:chExt cx="4091427" cy="1988715"/>
          </a:xfrm>
        </p:grpSpPr>
        <p:sp>
          <p:nvSpPr>
            <p:cNvPr id="22" name="TextBox 21"/>
            <p:cNvSpPr txBox="1"/>
            <p:nvPr/>
          </p:nvSpPr>
          <p:spPr>
            <a:xfrm>
              <a:off x="3038694" y="3004664"/>
              <a:ext cx="1052733" cy="117716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defRPr sz="1200" b="1">
                  <a:solidFill>
                    <a:srgbClr val="F37021"/>
                  </a:solidFill>
                  <a:latin typeface="Arial"/>
                </a:defRPr>
              </a:pPr>
              <a:r>
                <a:rPr dirty="0"/>
                <a:t>SHAP Precursor Feature Weights</a:t>
              </a:r>
              <a:br>
                <a:rPr dirty="0"/>
              </a:br>
              <a:r>
                <a:rPr dirty="0"/>
                <a:t>(ML Explanations)</a:t>
              </a:r>
            </a:p>
          </p:txBody>
        </p:sp>
        <p:cxnSp>
          <p:nvCxnSpPr>
            <p:cNvPr id="23" name="Connector 10"/>
            <p:cNvCxnSpPr/>
            <p:nvPr/>
          </p:nvCxnSpPr>
          <p:spPr>
            <a:xfrm flipH="1" flipV="1">
              <a:off x="2379262" y="3742643"/>
              <a:ext cx="561578" cy="8091"/>
            </a:xfrm>
            <a:prstGeom prst="line">
              <a:avLst/>
            </a:prstGeom>
            <a:ln w="19050">
              <a:solidFill>
                <a:srgbClr val="F3702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 descr="final_dashboard_explain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0267" y="2985284"/>
              <a:ext cx="2198992" cy="173736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0" y="4696058"/>
              <a:ext cx="2663668" cy="277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71717A"/>
                  </a:solidFill>
                </a:defRPr>
              </a:pPr>
              <a:r>
                <a:rPr sz="1100" dirty="0">
                  <a:solidFill>
                    <a:schemeClr val="tx1"/>
                  </a:solidFill>
                </a:rPr>
                <a:t>Figure </a:t>
              </a:r>
              <a:r>
                <a:rPr lang="en-US" sz="1100" dirty="0" smtClean="0">
                  <a:solidFill>
                    <a:schemeClr val="tx1"/>
                  </a:solidFill>
                </a:rPr>
                <a:t>2</a:t>
              </a:r>
              <a:r>
                <a:rPr sz="1100" dirty="0" smtClean="0">
                  <a:solidFill>
                    <a:schemeClr val="tx1"/>
                  </a:solidFill>
                </a:rPr>
                <a:t>: </a:t>
              </a:r>
              <a:r>
                <a:rPr sz="1100" dirty="0">
                  <a:solidFill>
                    <a:schemeClr val="tx1"/>
                  </a:solidFill>
                </a:rPr>
                <a:t>Model </a:t>
              </a:r>
              <a:r>
                <a:rPr sz="1100" dirty="0" err="1">
                  <a:solidFill>
                    <a:schemeClr val="tx1"/>
                  </a:solidFill>
                </a:rPr>
                <a:t>Explainability</a:t>
              </a:r>
              <a:r>
                <a:rPr sz="1100" dirty="0">
                  <a:solidFill>
                    <a:schemeClr val="tx1"/>
                  </a:solidFill>
                </a:rPr>
                <a:t> Tab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923436" y="2995513"/>
            <a:ext cx="4024125" cy="2030077"/>
            <a:chOff x="6847104" y="1162800"/>
            <a:chExt cx="4024125" cy="2405363"/>
          </a:xfrm>
        </p:grpSpPr>
        <p:pic>
          <p:nvPicPr>
            <p:cNvPr id="33" name="Picture 32" descr="final_dashboard_flar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3743" y="1162800"/>
              <a:ext cx="2141222" cy="210312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9595548" y="1539007"/>
              <a:ext cx="1275681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defRPr sz="1200" b="1">
                  <a:solidFill>
                    <a:srgbClr val="F37021"/>
                  </a:solidFill>
                  <a:latin typeface="Arial"/>
                </a:defRPr>
              </a:pPr>
              <a:r>
                <a:rPr dirty="0"/>
                <a:t>Quasi-Periodic Pulsations (QPP)</a:t>
              </a:r>
              <a:br>
                <a:rPr dirty="0"/>
              </a:br>
              <a:r>
                <a:rPr dirty="0"/>
                <a:t>(FFT Spectrum Diagnostics)</a:t>
              </a:r>
            </a:p>
          </p:txBody>
        </p:sp>
        <p:cxnSp>
          <p:nvCxnSpPr>
            <p:cNvPr id="35" name="Connector 12"/>
            <p:cNvCxnSpPr/>
            <p:nvPr/>
          </p:nvCxnSpPr>
          <p:spPr>
            <a:xfrm flipV="1">
              <a:off x="9214965" y="1904767"/>
              <a:ext cx="288280" cy="13234"/>
            </a:xfrm>
            <a:prstGeom prst="line">
              <a:avLst/>
            </a:prstGeom>
            <a:ln w="19050">
              <a:solidFill>
                <a:srgbClr val="F3702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6847104" y="3258191"/>
              <a:ext cx="2624697" cy="309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100" b="1">
                  <a:solidFill>
                    <a:srgbClr val="71717A"/>
                  </a:solidFill>
                </a:defRPr>
              </a:pPr>
              <a:r>
                <a:rPr dirty="0">
                  <a:solidFill>
                    <a:schemeClr val="tx1"/>
                  </a:solidFill>
                </a:rPr>
                <a:t>Figure </a:t>
              </a:r>
              <a:r>
                <a:rPr lang="en-US" dirty="0" smtClean="0">
                  <a:solidFill>
                    <a:schemeClr val="tx1"/>
                  </a:solidFill>
                </a:rPr>
                <a:t>4</a:t>
              </a:r>
              <a:r>
                <a:rPr dirty="0" smtClean="0">
                  <a:solidFill>
                    <a:schemeClr val="tx1"/>
                  </a:solidFill>
                </a:rPr>
                <a:t>: Pulsation</a:t>
              </a:r>
              <a:r>
                <a:rPr lang="en-US" dirty="0" smtClean="0">
                  <a:solidFill>
                    <a:schemeClr val="tx1"/>
                  </a:solidFill>
                </a:rPr>
                <a:t> </a:t>
              </a:r>
              <a:r>
                <a:rPr dirty="0" smtClean="0">
                  <a:solidFill>
                    <a:schemeClr val="tx1"/>
                  </a:solidFill>
                </a:rPr>
                <a:t>Diagnostics </a:t>
              </a:r>
              <a:r>
                <a:rPr dirty="0">
                  <a:solidFill>
                    <a:schemeClr val="tx1"/>
                  </a:solidFill>
                </a:rPr>
                <a:t>Tab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81;p17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43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TextBox 93"/>
          <p:cNvSpPr txBox="1"/>
          <p:nvPr/>
        </p:nvSpPr>
        <p:spPr>
          <a:xfrm>
            <a:off x="211076" y="637219"/>
            <a:ext cx="4497859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Google Sans Medium"/>
              </a:rPr>
              <a:t>Architecture diagram of the proposed solution</a:t>
            </a:r>
          </a:p>
          <a:p>
            <a:endParaRPr lang="en-US" sz="1600" b="1" dirty="0">
              <a:solidFill>
                <a:schemeClr val="tx1"/>
              </a:solidFill>
              <a:latin typeface="Google Sans Medium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203425" y="1074420"/>
            <a:ext cx="4214855" cy="323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Data Architecture &amp; Physics Precursors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Thermal (</a:t>
            </a:r>
            <a:r>
              <a:rPr sz="1100" b="1" dirty="0" err="1">
                <a:solidFill>
                  <a:srgbClr val="F37021"/>
                </a:solidFill>
              </a:rPr>
              <a:t>SoLEXS</a:t>
            </a:r>
            <a:r>
              <a:rPr sz="1100" b="1" dirty="0">
                <a:solidFill>
                  <a:srgbClr val="F37021"/>
                </a:solidFill>
              </a:rPr>
              <a:t>)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Rolling mean and slope capture </a:t>
            </a:r>
            <a:r>
              <a:rPr sz="1100" b="0" dirty="0" err="1">
                <a:solidFill>
                  <a:srgbClr val="282828"/>
                </a:solidFill>
              </a:rPr>
              <a:t>chromospheric</a:t>
            </a:r>
            <a:r>
              <a:rPr sz="1100" b="0" dirty="0">
                <a:solidFill>
                  <a:srgbClr val="282828"/>
                </a:solidFill>
              </a:rPr>
              <a:t> evaporation rise.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Non-Thermal (HEL1OS)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Rolling standard deviation isolates high-frequency QPP variance</a:t>
            </a:r>
            <a:r>
              <a:rPr sz="1100" b="0" dirty="0" smtClean="0">
                <a:solidFill>
                  <a:srgbClr val="282828"/>
                </a:solidFill>
              </a:rPr>
              <a:t>.</a:t>
            </a:r>
            <a:endParaRPr sz="1100" b="0" dirty="0">
              <a:solidFill>
                <a:srgbClr val="282828"/>
              </a:solidFill>
            </a:endParaRP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Hardness Ratio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 smtClean="0">
                <a:solidFill>
                  <a:srgbClr val="282828"/>
                </a:solidFill>
              </a:rPr>
              <a:t>HR </a:t>
            </a:r>
            <a:r>
              <a:rPr sz="1100" b="0" dirty="0">
                <a:solidFill>
                  <a:srgbClr val="282828"/>
                </a:solidFill>
              </a:rPr>
              <a:t>= Counts_HEL1OS / </a:t>
            </a:r>
            <a:r>
              <a:rPr sz="1100" b="0" dirty="0" err="1">
                <a:solidFill>
                  <a:srgbClr val="282828"/>
                </a:solidFill>
              </a:rPr>
              <a:t>Counts_SoLEXS</a:t>
            </a:r>
            <a:r>
              <a:rPr sz="1100" b="0" dirty="0">
                <a:solidFill>
                  <a:srgbClr val="282828"/>
                </a:solidFill>
              </a:rPr>
              <a:t> models non-thermal conversion (</a:t>
            </a:r>
            <a:r>
              <a:rPr sz="1100" b="0" dirty="0" err="1">
                <a:solidFill>
                  <a:srgbClr val="282828"/>
                </a:solidFill>
              </a:rPr>
              <a:t>Neupert</a:t>
            </a:r>
            <a:r>
              <a:rPr sz="1100" b="0" dirty="0">
                <a:solidFill>
                  <a:srgbClr val="282828"/>
                </a:solidFill>
              </a:rPr>
              <a:t> Effect).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Anti-Leakage</a:t>
            </a:r>
            <a:r>
              <a:rPr sz="1100" b="1" dirty="0">
                <a:solidFill>
                  <a:srgbClr val="282828"/>
                </a:solidFill>
              </a:rPr>
              <a:t> </a:t>
            </a:r>
            <a:r>
              <a:rPr sz="1100" b="1" dirty="0">
                <a:solidFill>
                  <a:srgbClr val="F37021"/>
                </a:solidFill>
              </a:rPr>
              <a:t>Split</a:t>
            </a:r>
            <a:r>
              <a:rPr sz="1100" b="0" dirty="0">
                <a:solidFill>
                  <a:srgbClr val="F37021"/>
                </a:solidFill>
              </a:rPr>
              <a:t>:</a:t>
            </a:r>
            <a:r>
              <a:rPr sz="1100" b="0" dirty="0">
                <a:solidFill>
                  <a:srgbClr val="282828"/>
                </a:solidFill>
              </a:rPr>
              <a:t> Chronological time-series splitting prevents temporal data leakage.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Physics-Informed Core Layers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Regularized </a:t>
            </a:r>
            <a:r>
              <a:rPr sz="1100" b="1" dirty="0" smtClean="0">
                <a:solidFill>
                  <a:srgbClr val="F37021"/>
                </a:solidFill>
              </a:rPr>
              <a:t>DEM</a:t>
            </a:r>
            <a:r>
              <a:rPr sz="1100" b="0" dirty="0" smtClean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Coronal temperature distribution solved in real-time using </a:t>
            </a:r>
            <a:r>
              <a:rPr sz="1100" b="0" dirty="0" err="1">
                <a:solidFill>
                  <a:srgbClr val="282828"/>
                </a:solidFill>
              </a:rPr>
              <a:t>Tikhonov</a:t>
            </a:r>
            <a:r>
              <a:rPr sz="1100" b="0" dirty="0">
                <a:solidFill>
                  <a:srgbClr val="282828"/>
                </a:solidFill>
              </a:rPr>
              <a:t> matrix </a:t>
            </a:r>
            <a:r>
              <a:rPr sz="1100" b="0" dirty="0" err="1">
                <a:solidFill>
                  <a:srgbClr val="282828"/>
                </a:solidFill>
              </a:rPr>
              <a:t>deconvolution</a:t>
            </a:r>
            <a:r>
              <a:rPr sz="1100" b="0" dirty="0">
                <a:solidFill>
                  <a:srgbClr val="282828"/>
                </a:solidFill>
              </a:rPr>
              <a:t>: E = K · DEM + </a:t>
            </a:r>
            <a:r>
              <a:rPr sz="1100" b="0" dirty="0" err="1">
                <a:solidFill>
                  <a:srgbClr val="282828"/>
                </a:solidFill>
              </a:rPr>
              <a:t>λ‖L</a:t>
            </a:r>
            <a:r>
              <a:rPr sz="1100" b="0" dirty="0">
                <a:solidFill>
                  <a:srgbClr val="282828"/>
                </a:solidFill>
              </a:rPr>
              <a:t> · DEM‖².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Hydrodynamic PINN Loss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Physical energy conservation constraints loop: L_PINN = ∂E/∂t + ∂F/∂s + n²Λ(T) - H.</a:t>
            </a:r>
          </a:p>
          <a:p>
            <a:pPr>
              <a:spcBef>
                <a:spcPts val="0"/>
              </a:spcBef>
              <a:spcAft>
                <a:spcPts val="300"/>
              </a:spcAft>
              <a:defRPr sz="900">
                <a:latin typeface="Arial"/>
              </a:defRPr>
            </a:pPr>
            <a:r>
              <a:rPr sz="1100" b="0" dirty="0">
                <a:solidFill>
                  <a:srgbClr val="282828"/>
                </a:solidFill>
              </a:rPr>
              <a:t>• </a:t>
            </a:r>
            <a:r>
              <a:rPr sz="1100" b="1" dirty="0" err="1">
                <a:solidFill>
                  <a:srgbClr val="F37021"/>
                </a:solidFill>
              </a:rPr>
              <a:t>RandomForest</a:t>
            </a:r>
            <a:r>
              <a:rPr sz="1100" b="1" dirty="0">
                <a:solidFill>
                  <a:srgbClr val="F37021"/>
                </a:solidFill>
              </a:rPr>
              <a:t> Classifier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Predicts peak intensity classes 30 minutes in advance using balanced class weights.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18160" y="11430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A192F"/>
                </a:solidFill>
              </a:defRPr>
            </a:pPr>
            <a:r>
              <a:rPr dirty="0"/>
              <a:t>Raw Telemetry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469840" y="114300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➔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744160" y="960120"/>
            <a:ext cx="886968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rPr dirty="0" err="1"/>
              <a:t>SoLEXS</a:t>
            </a:r>
            <a:r>
              <a:rPr dirty="0"/>
              <a:t> (Soft X-rays)</a:t>
            </a:r>
            <a:br>
              <a:rPr dirty="0"/>
            </a:br>
            <a:r>
              <a:rPr dirty="0"/>
              <a:t>Thermal Precursors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97366" y="1181685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rPr dirty="0"/>
              <a:t>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878719" y="960120"/>
            <a:ext cx="907366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Spatio-Temporal</a:t>
            </a:r>
            <a:br/>
            <a:r>
              <a:t>Alignment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22427" y="116586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961598" y="960120"/>
            <a:ext cx="937242" cy="6858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HEL1OS (Hard X-rays)</a:t>
            </a:r>
            <a:br/>
            <a:r>
              <a:t>Non-thermal Precursors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65100" y="1874520"/>
            <a:ext cx="3133739" cy="5029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0A192F"/>
                </a:solidFill>
              </a:defRPr>
            </a:pPr>
            <a:r>
              <a:t>Physics Precursors (Rolling Mean/Std)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18679" y="24231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⬇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161480" y="2788920"/>
            <a:ext cx="1143000" cy="868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Causal Nowcaster</a:t>
            </a:r>
            <a:br/>
            <a:r>
              <a:t>(Thresholding)</a:t>
            </a:r>
            <a:br/>
            <a:r>
              <a:t>Forecast Target</a:t>
            </a:r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160" y="2788920"/>
            <a:ext cx="1234440" cy="74066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792921" y="3520440"/>
            <a:ext cx="10454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0A192F"/>
                </a:solidFill>
              </a:defRPr>
            </a:pPr>
            <a:r>
              <a:rPr sz="700" dirty="0" err="1"/>
              <a:t>RandomForest</a:t>
            </a:r>
            <a:r>
              <a:rPr sz="700" dirty="0"/>
              <a:t> Core</a:t>
            </a:r>
            <a:br>
              <a:rPr sz="700" dirty="0"/>
            </a:br>
            <a:r>
              <a:rPr sz="700" dirty="0"/>
              <a:t>(Balanced Weights)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05448" y="30175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64"/>
                </a:solidFill>
              </a:defRPr>
            </a:pPr>
            <a:r>
              <a:t>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161480" y="3931919"/>
            <a:ext cx="1143000" cy="457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192F"/>
                </a:solidFill>
              </a:defRPr>
            </a:pPr>
            <a:r>
              <a:t>Microflare Discovery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18679" y="36576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9664"/>
                </a:solidFill>
              </a:defRPr>
            </a:pPr>
            <a:r>
              <a:t>⬇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09600" y="174456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Spectral Hardness</a:t>
            </a:r>
            <a:br/>
            <a:r>
              <a:t>Ratio (Neupert Effect)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652720" y="17373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18160" y="2658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Unix Time Integration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52720" y="26517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18160" y="3573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0A192F"/>
                </a:solidFill>
              </a:defRPr>
            </a:pPr>
            <a:r>
              <a:t>GOES Benchmarking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52720" y="3566160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9664"/>
                </a:solidFill>
              </a:defRPr>
            </a:pPr>
            <a:r>
              <a:t>↗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282828"/>
                </a:solidFill>
                <a:latin typeface="Arial"/>
              </a:defRPr>
            </a:pPr>
            <a:r>
              <a:t>* POC developed on Aditya-L1 telemetry (259,071 overlap timestamps, 16 flares).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310896" y="640080"/>
            <a:ext cx="774508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>
                <a:latin typeface="Google Sans Medium"/>
              </a:rPr>
              <a:t>Technologies to be used in the solution:</a:t>
            </a:r>
          </a:p>
          <a:p>
            <a:endParaRPr lang="en-US" sz="1600" b="1" dirty="0">
              <a:latin typeface="Google Sans Medium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77091" y="1887722"/>
            <a:ext cx="2166740" cy="20415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1. Data Ingestion &amp; Align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 err="1">
                <a:solidFill>
                  <a:srgbClr val="F37021"/>
                </a:solidFill>
              </a:rPr>
              <a:t>astropy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Core FITS parsing and MJD (Modified Julian Date) time system conversions.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pandas &amp; </a:t>
            </a:r>
            <a:r>
              <a:rPr sz="1100" b="1" dirty="0" err="1">
                <a:solidFill>
                  <a:srgbClr val="F37021"/>
                </a:solidFill>
              </a:rPr>
              <a:t>numpy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Cadence alignment, time-series interpolation, and rolling statistical features extraction.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 err="1">
                <a:solidFill>
                  <a:srgbClr val="F37021"/>
                </a:solidFill>
              </a:rPr>
              <a:t>scipy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Signal smoothing, FFT </a:t>
            </a:r>
            <a:r>
              <a:rPr sz="1100" b="0" dirty="0" err="1">
                <a:solidFill>
                  <a:srgbClr val="282828"/>
                </a:solidFill>
              </a:rPr>
              <a:t>bandpass</a:t>
            </a:r>
            <a:r>
              <a:rPr sz="1100" b="0" dirty="0">
                <a:solidFill>
                  <a:srgbClr val="282828"/>
                </a:solidFill>
              </a:rPr>
              <a:t> filtering, and power spectrum density calculation.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19100" y="1877566"/>
            <a:ext cx="2166740" cy="23801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2. Core Models &amp; Physics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 err="1">
                <a:solidFill>
                  <a:srgbClr val="F37021"/>
                </a:solidFill>
              </a:rPr>
              <a:t>scikit</a:t>
            </a:r>
            <a:r>
              <a:rPr sz="1100" b="1" dirty="0">
                <a:solidFill>
                  <a:srgbClr val="F37021"/>
                </a:solidFill>
              </a:rPr>
              <a:t>-learn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 err="1">
                <a:solidFill>
                  <a:srgbClr val="282828"/>
                </a:solidFill>
              </a:rPr>
              <a:t>RandomForest</a:t>
            </a:r>
            <a:r>
              <a:rPr sz="1100" b="0" dirty="0">
                <a:solidFill>
                  <a:srgbClr val="282828"/>
                </a:solidFill>
              </a:rPr>
              <a:t> classifier configured with balanced weights to handle severe class imbalance.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 err="1">
                <a:solidFill>
                  <a:srgbClr val="F37021"/>
                </a:solidFill>
              </a:rPr>
              <a:t>Tikhonov</a:t>
            </a:r>
            <a:r>
              <a:rPr sz="1100" b="1" dirty="0">
                <a:solidFill>
                  <a:srgbClr val="F37021"/>
                </a:solidFill>
              </a:rPr>
              <a:t> </a:t>
            </a:r>
            <a:r>
              <a:rPr sz="1100" b="1" dirty="0" err="1">
                <a:solidFill>
                  <a:srgbClr val="F37021"/>
                </a:solidFill>
              </a:rPr>
              <a:t>regularizer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Regularized matrix inversion for real-time DEM temperature extraction.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CME DBM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Drag-Based Model for forecasting coronal mass ejection shock arrival times (</a:t>
            </a:r>
            <a:r>
              <a:rPr sz="1100" b="0" dirty="0" err="1">
                <a:solidFill>
                  <a:srgbClr val="282828"/>
                </a:solidFill>
              </a:rPr>
              <a:t>Vrsnak</a:t>
            </a:r>
            <a:r>
              <a:rPr sz="1100" b="0" dirty="0">
                <a:solidFill>
                  <a:srgbClr val="282828"/>
                </a:solidFill>
              </a:rPr>
              <a:t> 2013).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73466" y="1878812"/>
            <a:ext cx="2001783" cy="22108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A192F"/>
                </a:solidFill>
                <a:latin typeface="Arial"/>
              </a:defRPr>
            </a:pPr>
            <a:r>
              <a:rPr sz="1100" dirty="0"/>
              <a:t>3. Real-Time Operator HUD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HTML5 &amp; Canvas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Five animated canvases displaying 3D solar disk, Parker Spiral tracing, and CME orbits.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Chart.js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Fast, hardware-accelerated time-series and spectral visualization plots.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919">
                <a:latin typeface="Arial"/>
              </a:defRPr>
            </a:pPr>
            <a:r>
              <a:rPr sz="1100" b="0" dirty="0">
                <a:solidFill>
                  <a:srgbClr val="F37021"/>
                </a:solidFill>
              </a:rPr>
              <a:t>• </a:t>
            </a:r>
            <a:r>
              <a:rPr sz="1100" b="1" dirty="0">
                <a:solidFill>
                  <a:srgbClr val="F37021"/>
                </a:solidFill>
              </a:rPr>
              <a:t>Web Audio API</a:t>
            </a:r>
            <a:r>
              <a:rPr sz="1100" b="0" dirty="0">
                <a:solidFill>
                  <a:srgbClr val="F37021"/>
                </a:solidFill>
              </a:rPr>
              <a:t>: </a:t>
            </a:r>
            <a:r>
              <a:rPr sz="1100" b="0" dirty="0">
                <a:solidFill>
                  <a:srgbClr val="282828"/>
                </a:solidFill>
              </a:rPr>
              <a:t>Real-time ambient solar wind synthesizer and acoustic alarm pitch modulation.</a:t>
            </a:r>
          </a:p>
        </p:txBody>
      </p:sp>
      <p:sp>
        <p:nvSpPr>
          <p:cNvPr id="2" name="Rectangle 1"/>
          <p:cNvSpPr/>
          <p:nvPr/>
        </p:nvSpPr>
        <p:spPr>
          <a:xfrm>
            <a:off x="6338707" y="1834328"/>
            <a:ext cx="2608914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>
                <a:latin typeface="Segoe WPC"/>
              </a:rPr>
              <a:t>        </a:t>
            </a:r>
            <a:r>
              <a:rPr lang="en-US" sz="1100" b="1" dirty="0" smtClean="0">
                <a:latin typeface="+mj-lt"/>
              </a:rPr>
              <a:t>  4. System </a:t>
            </a:r>
            <a:r>
              <a:rPr lang="en-US" sz="1100" b="1" dirty="0">
                <a:latin typeface="+mj-lt"/>
              </a:rPr>
              <a:t>Advantages:</a:t>
            </a:r>
            <a:endParaRPr lang="en-US" sz="1100" dirty="0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37021"/>
                </a:solidFill>
                <a:latin typeface="Segoe WPC"/>
              </a:rPr>
              <a:t>Ultra-Low Latency:</a:t>
            </a:r>
            <a:r>
              <a:rPr lang="en-US" sz="1100" dirty="0">
                <a:latin typeface="Segoe WPC"/>
              </a:rPr>
              <a:t> Under 100ms ingestion-to-forecast latency, ensuring immediate alerts.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37021"/>
                </a:solidFill>
                <a:latin typeface="Segoe WPC"/>
              </a:rPr>
              <a:t>Zero Leakage:</a:t>
            </a:r>
            <a:r>
              <a:rPr lang="en-US" sz="1100" dirty="0">
                <a:solidFill>
                  <a:srgbClr val="F37021"/>
                </a:solidFill>
                <a:latin typeface="Segoe WPC"/>
              </a:rPr>
              <a:t> </a:t>
            </a:r>
            <a:r>
              <a:rPr lang="en-US" sz="1100" dirty="0">
                <a:latin typeface="Segoe WPC"/>
              </a:rPr>
              <a:t>Chronological splitting ensures robust real-world generalization.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F37021"/>
                </a:solidFill>
                <a:latin typeface="Segoe WPC"/>
              </a:rPr>
              <a:t>Low Compute:</a:t>
            </a:r>
            <a:r>
              <a:rPr lang="en-US" sz="1100" dirty="0">
                <a:latin typeface="Segoe WPC"/>
              </a:rPr>
              <a:t> The </a:t>
            </a:r>
            <a:r>
              <a:rPr lang="en-US" sz="1100" dirty="0" err="1">
                <a:latin typeface="Segoe WPC"/>
              </a:rPr>
              <a:t>RandomForest</a:t>
            </a:r>
            <a:r>
              <a:rPr lang="en-US" sz="1100" dirty="0">
                <a:latin typeface="Segoe WPC"/>
              </a:rPr>
              <a:t> physics-core runs efficiently on commodity edge hardware without requiring expensive GPUs.</a:t>
            </a:r>
          </a:p>
        </p:txBody>
      </p:sp>
      <p:pic>
        <p:nvPicPr>
          <p:cNvPr id="8" name="Picture 7" descr="ingest_icon_17829185048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92" y="925456"/>
            <a:ext cx="914400" cy="914400"/>
          </a:xfrm>
          <a:prstGeom prst="rect">
            <a:avLst/>
          </a:prstGeom>
        </p:spPr>
      </p:pic>
      <p:pic>
        <p:nvPicPr>
          <p:cNvPr id="9" name="Picture 8" descr="model_icon_1782918532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1059" y="925456"/>
            <a:ext cx="914400" cy="914400"/>
          </a:xfrm>
          <a:prstGeom prst="rect">
            <a:avLst/>
          </a:prstGeom>
        </p:spPr>
      </p:pic>
      <p:pic>
        <p:nvPicPr>
          <p:cNvPr id="11" name="Picture 10" descr="hud_icon_17829185510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486" y="833256"/>
            <a:ext cx="914400" cy="91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068" y="925456"/>
            <a:ext cx="781287" cy="781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05;p21" title="wswswsw33d3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42100" y="555120"/>
            <a:ext cx="328968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dirty="0">
                <a:latin typeface="Google Sans Medium"/>
              </a:rPr>
              <a:t>Estimated implementation </a:t>
            </a:r>
            <a:r>
              <a:rPr lang="en-US" sz="1600" b="1" dirty="0" smtClean="0">
                <a:latin typeface="Google Sans Medium"/>
              </a:rPr>
              <a:t>cost:</a:t>
            </a:r>
            <a:endParaRPr lang="en-US" sz="1600" b="1" dirty="0">
              <a:latin typeface="Google Sans Medium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2900" y="891540"/>
          <a:ext cx="8455914" cy="3291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508760"/>
                <a:gridCol w="4341114"/>
              </a:tblGrid>
              <a:tr h="470263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dirty="0"/>
                        <a:t>Proposed Resource / Task</a:t>
                      </a:r>
                    </a:p>
                  </a:txBody>
                  <a:tcPr marL="68580" marR="68580" marT="34290" marB="34290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 dirty="0"/>
                        <a:t>Phase Cost (₹)</a:t>
                      </a:r>
                    </a:p>
                  </a:txBody>
                  <a:tcPr marL="68580" marR="68580" marT="34290" marB="34290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100"/>
                        <a:t>Description / Allocation Strategy</a:t>
                      </a:r>
                    </a:p>
                  </a:txBody>
                  <a:tcPr marL="68580" marR="68580" marT="34290" marB="34290">
                    <a:solidFill>
                      <a:srgbClr val="0A192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1. Real-time Ingestion &amp; FITS Preprocessing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sz="900"/>
                        <a:t>₹0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/>
                        <a:t>Uses open-source astropy + pandas; utilizes free ISSDC server telemetry feed.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2. Physics Inversion Core (Tikhonov &amp; PINN)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sz="900"/>
                        <a:t>₹0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/>
                        <a:t>Developed locally; physics deconvolution uses standard NumPy/SciPy algebra.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3. RandomForest Peak Intensity Predictor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7021"/>
                          </a:solidFill>
                          <a:latin typeface="Arial"/>
                        </a:defRPr>
                      </a:pPr>
                      <a:r>
                        <a:rPr sz="900"/>
                        <a:t>₹15,000 / month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/>
                        <a:t>Cloud hosting VM + CPU compute (AWS/GCP) for continuous models retraining.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4. 10-Tab Space Weather HUD Dashboard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3C3C3C"/>
                          </a:solidFill>
                          <a:latin typeface="Arial"/>
                        </a:defRPr>
                      </a:pPr>
                      <a:r>
                        <a:rPr sz="900"/>
                        <a:t>₹0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/>
                        <a:t>Built using React and HTML5 Canvas; operates locally on browser client side.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5. Prototype Maintenance &amp; Scaling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37021"/>
                          </a:solidFill>
                          <a:latin typeface="Arial"/>
                        </a:defRPr>
                      </a:pPr>
                      <a:r>
                        <a:rPr sz="900"/>
                        <a:t>₹10,000 / month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/>
                        <a:t>Database maintenance (Redis/Postgres), domain SSL, and API server backup.</a:t>
                      </a:r>
                    </a:p>
                  </a:txBody>
                  <a:tcPr marL="68580" marR="68580" marT="34290" marB="34290">
                    <a:solidFill>
                      <a:srgbClr val="FFFFFF"/>
                    </a:solidFill>
                  </a:tcPr>
                </a:tc>
              </a:tr>
              <a:tr h="47026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rPr sz="900"/>
                        <a:t>6. SSAC Production Feed Integration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64C8"/>
                          </a:solidFill>
                          <a:latin typeface="Arial"/>
                        </a:defRPr>
                      </a:pPr>
                      <a:r>
                        <a:rPr sz="900" dirty="0"/>
                        <a:t>ISRO Budget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05050"/>
                          </a:solidFill>
                          <a:latin typeface="Arial"/>
                        </a:defRPr>
                      </a:pPr>
                      <a:r>
                        <a:rPr sz="900" dirty="0"/>
                        <a:t>Requires direct feed integration with Space Situational Awareness Centre.</a:t>
                      </a:r>
                    </a:p>
                  </a:txBody>
                  <a:tcPr marL="68580" marR="68580" marT="34290" marB="3429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51730" y="4320540"/>
            <a:ext cx="743825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192F"/>
                </a:solidFill>
                <a:latin typeface="Arial"/>
              </a:defRPr>
            </a:pPr>
            <a:r>
              <a:rPr sz="1050"/>
              <a:t>Estimated Prototype Cost: ~₹25,000 / month (Zero Setup Cost on Public Data; scalable to ISRO SSAC Operations)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732020"/>
            <a:ext cx="376577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</a:defRPr>
            </a:pPr>
            <a:r>
              <a:rPr sz="750"/>
              <a:t>* Operational cost scales only with data archiving frequency and retraining iterations.</a:t>
            </a:r>
          </a:p>
        </p:txBody>
      </p:sp>
    </p:spTree>
    <p:extLst>
      <p:ext uri="{BB962C8B-B14F-4D97-AF65-F5344CB8AC3E}">
        <p14:creationId xmlns:p14="http://schemas.microsoft.com/office/powerpoint/2010/main" val="62789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8059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1161</Words>
  <Application>Microsoft Office PowerPoint</Application>
  <PresentationFormat>On-screen Show (16:9)</PresentationFormat>
  <Paragraphs>153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Segoe WPC</vt:lpstr>
      <vt:lpstr>Arial</vt:lpstr>
      <vt:lpstr>Google Sans Medium</vt:lpstr>
      <vt:lpstr>Google Sans</vt:lpstr>
      <vt:lpstr>Abadi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Welcome</cp:lastModifiedBy>
  <cp:revision>51</cp:revision>
  <dcterms:modified xsi:type="dcterms:W3CDTF">2026-07-01T16:38:21Z</dcterms:modified>
</cp:coreProperties>
</file>