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Google Sans Medium" panose="020B0604020202020204" charset="0"/>
      <p:regular r:id="rId13"/>
      <p:bold r:id="rId14"/>
      <p:italic r:id="rId15"/>
      <p:boldItalic r:id="rId16"/>
    </p:embeddedFont>
    <p:embeddedFont>
      <p:font typeface="Google Sans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59BE04-28B4-45B1-9943-30B73749E06D}">
  <a:tblStyle styleId="{7759BE04-28B4-45B1-9943-30B73749E06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2" y="1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16132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3550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139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3146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9665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589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21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837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04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549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7731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Project SuryaDrishti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D28C"/>
                </a:solidFill>
                <a:latin typeface="Arial"/>
              </a:defRPr>
            </a:pPr>
            <a:r>
              <a:t>Autonomous Space Weather Alert System: Real-Time Solar Flare Nowcasting &amp; Forecasting Using Aditya-L1 X-Ray Telemetry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Theme: Space Weather, Machine Learning, and Satellite Telemetry Processing</a:t>
            </a:r>
          </a:p>
          <a:p>
            <a:pPr>
              <a:spcAft>
                <a:spcPts val="400"/>
              </a:spcAft>
              <a:defRPr sz="1000" b="1">
                <a:solidFill>
                  <a:srgbClr val="00D28C"/>
                </a:solidFill>
                <a:latin typeface="Arial"/>
              </a:defRPr>
            </a:pPr>
            <a:r>
              <a:t>Team Name: SuryaDrishti | Problem Statement: PS #15 | Institution: Adamas University, Kolkata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Team Leader: Deep Shekhar Halder | Members: Mahalaxmi Macha, Ashfaque Ahamed Khan, Rituraj Saha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A192F"/>
                </a:solidFill>
                <a:latin typeface="Arial"/>
              </a:defRPr>
            </a:pPr>
            <a:r>
              <a:t>Team Members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1737360">
                <a:tc>
                  <a:txBody>
                    <a:bodyPr wrap="square" tIns="91440" bIns="91440"/>
                    <a:lstStyle/>
                    <a:p>
                      <a:pPr>
                        <a:spcAft>
                          <a:spcPts val="200"/>
                        </a:spcAft>
                        <a:defRPr b="1" sz="1100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Team Leader &amp; Tech Lead</a:t>
                      </a:r>
                    </a:p>
                    <a:p>
                      <a:pPr>
                        <a:defRPr b="1"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Name: Deep Shekhar Halder</a:t>
                      </a:r>
                    </a:p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Email: deephalder209@gmail.com</a:t>
                      </a:r>
                    </a:p>
                    <a:p>
                      <a:pPr>
                        <a:spcBef>
                          <a:spcPts val="400"/>
                        </a:spcBef>
                        <a:defRPr sz="90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Responsibility: Algorithm design, data pipeline integration, and machine learning modeling.</a:t>
                      </a:r>
                    </a:p>
                  </a:txBody>
                  <a:tcPr/>
                </a:tc>
                <a:tc>
                  <a:txBody>
                    <a:bodyPr wrap="square" tIns="91440" bIns="91440"/>
                    <a:lstStyle/>
                    <a:p>
                      <a:pPr>
                        <a:spcAft>
                          <a:spcPts val="200"/>
                        </a:spcAft>
                        <a:defRPr b="1" sz="1100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Team Member (Data &amp; Preprocessing)</a:t>
                      </a:r>
                    </a:p>
                    <a:p>
                      <a:pPr>
                        <a:defRPr b="1"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Name: Rituraj Saha</a:t>
                      </a:r>
                    </a:p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Email: saharituraj805@gmail.com</a:t>
                      </a:r>
                    </a:p>
                    <a:p>
                      <a:pPr>
                        <a:spcBef>
                          <a:spcPts val="400"/>
                        </a:spcBef>
                        <a:defRPr sz="90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Responsibility: Feature engineering, telemetry calibration, and scientific visualization.</a:t>
                      </a:r>
                    </a:p>
                  </a:txBody>
                  <a:tcPr/>
                </a:tc>
              </a:tr>
              <a:tr h="1737360">
                <a:tc>
                  <a:txBody>
                    <a:bodyPr wrap="square" tIns="91440" bIns="91440"/>
                    <a:lstStyle/>
                    <a:p>
                      <a:pPr>
                        <a:spcAft>
                          <a:spcPts val="200"/>
                        </a:spcAft>
                        <a:defRPr b="1" sz="1100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Team Member (ML Modeling &amp; Validation)</a:t>
                      </a:r>
                    </a:p>
                    <a:p>
                      <a:pPr>
                        <a:defRPr b="1"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Name: Mahalaxmi Macha</a:t>
                      </a:r>
                    </a:p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Email: mahalaxmimacha14@gmail.com</a:t>
                      </a:r>
                    </a:p>
                    <a:p>
                      <a:pPr>
                        <a:spcBef>
                          <a:spcPts val="400"/>
                        </a:spcBef>
                        <a:defRPr sz="90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Responsibility: Telemetry preprocessing, metadata alignment, and nowcasting validation.</a:t>
                      </a:r>
                    </a:p>
                  </a:txBody>
                  <a:tcPr/>
                </a:tc>
                <a:tc>
                  <a:txBody>
                    <a:bodyPr wrap="square" tIns="91440" bIns="91440"/>
                    <a:lstStyle/>
                    <a:p>
                      <a:pPr>
                        <a:spcAft>
                          <a:spcPts val="200"/>
                        </a:spcAft>
                        <a:defRPr b="1" sz="1100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Team Member (Dashboard &amp; Benchmarking)</a:t>
                      </a:r>
                    </a:p>
                    <a:p>
                      <a:pPr>
                        <a:defRPr b="1"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Name: Ashfaque Ahamed Khan</a:t>
                      </a:r>
                    </a:p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Email: ashfaqueahamedkhan591@gmail.com</a:t>
                      </a:r>
                    </a:p>
                    <a:p>
                      <a:pPr>
                        <a:spcBef>
                          <a:spcPts val="400"/>
                        </a:spcBef>
                        <a:defRPr sz="90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Responsibility: Cross-catalog benchmarking, NOAA GOES validation, and dashboard deployment.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Opportunity — What Makes SuryaDrishti Different?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50">
                <a:solidFill>
                  <a:srgbClr val="0A192F"/>
                </a:solidFill>
                <a:latin typeface="Arial"/>
              </a:defRPr>
            </a:pPr>
            <a:r>
              <a:t>How is it different from existing ideas?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Published Aditya-L1 papers focus on instrument calibration only — no real-time forecasting or ML pipelines exist.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Standard automated detectors use centered smoothing windows (requiring future data), making them impossible to deploy in live operations.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No existing pipeline benchmarks detection recall against NOAA GOES records.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50">
                <a:solidFill>
                  <a:srgbClr val="0A192F"/>
                </a:solidFill>
                <a:latin typeface="Arial"/>
              </a:defRPr>
            </a:pPr>
            <a:r>
              <a:t>How will it solve the problem?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Strictly causal rolling baseline (past-only) is fully compatible with live Aditya-L1 telemetry streams.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Extracts physics precursor features (Spectral Hardness Ratio, QPP std, thermal slope) to predict flares 30 minutes in advance.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Provides space-weather alert HUD with 3-tier risk alerts (GREEN/AMBER/RED) and Web Audio alarms.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50">
                <a:solidFill>
                  <a:srgbClr val="0A192F"/>
                </a:solidFill>
                <a:latin typeface="Arial"/>
              </a:defRPr>
            </a:pPr>
            <a:r>
              <a:t>USP of the proposed solution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93.2% Nowcast Recall</a:t>
            </a:r>
            <a:r>
              <a:rPr sz="919" b="0">
                <a:solidFill>
                  <a:srgbClr val="282828"/>
                </a:solidFill>
                <a:latin typeface="Arial"/>
              </a:rPr>
              <a:t>: 68 out of 73 NOAA GOES reference flares successfully detected.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Microflare Discovery</a:t>
            </a:r>
            <a:r>
              <a:rPr sz="919" b="0">
                <a:solidFill>
                  <a:srgbClr val="282828"/>
                </a:solidFill>
                <a:latin typeface="Arial"/>
              </a:rPr>
              <a:t>: 136 sub-threshold events discovered, including a confirmed 679s event absent from official NOAA catalog.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Leakage-Free Validation</a:t>
            </a:r>
            <a:r>
              <a:rPr sz="919" b="0">
                <a:solidFill>
                  <a:srgbClr val="282828"/>
                </a:solidFill>
                <a:latin typeface="Arial"/>
              </a:rPr>
              <a:t>: Strict time-based holdout train/test split ensures zero temporal data leakage.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10-Tab Dashboard</a:t>
            </a:r>
            <a:r>
              <a:rPr sz="919" b="0">
                <a:solidFill>
                  <a:srgbClr val="282828"/>
                </a:solidFill>
                <a:latin typeface="Arial"/>
              </a:rPr>
              <a:t>: Features CME Drag-Based Model, Parker Spiral SEP connection, and DEM Tikhonov solver running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TextBox 75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Features Offered by SuryaDrishti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■ Phase 1: Ingestion &amp; Alignment</a:t>
            </a:r>
          </a:p>
          <a:p>
            <a:pPr>
              <a:spcAft>
                <a:spcPts val="200"/>
              </a:spcAft>
              <a:defRPr sz="919">
                <a:solidFill>
                  <a:srgbClr val="282828"/>
                </a:solidFill>
                <a:latin typeface="Arial"/>
              </a:defRPr>
            </a:pPr>
            <a:r>
              <a:t>Harmonizes raw SoLEXS &amp; HEL1OS FITS telemetry to Unix epoch, merging them on 1-second cadence (259,071 overlap points).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■ Phase 2: Causal Nowcasting</a:t>
            </a:r>
          </a:p>
          <a:p>
            <a:pPr>
              <a:spcAft>
                <a:spcPts val="200"/>
              </a:spcAft>
              <a:defRPr sz="919">
                <a:solidFill>
                  <a:srgbClr val="282828"/>
                </a:solidFill>
                <a:latin typeface="Arial"/>
              </a:defRPr>
            </a:pPr>
            <a:r>
              <a:t>Zero-lookahead baseline thresholding ($COUNTS &gt; MEDIAN + n \times STD$) with 120s event merging to prevent fragmentation.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■ Phase 3: ML Forecasting Prototype</a:t>
            </a:r>
          </a:p>
          <a:p>
            <a:pPr>
              <a:spcAft>
                <a:spcPts val="200"/>
              </a:spcAft>
              <a:defRPr sz="919">
                <a:solidFill>
                  <a:srgbClr val="282828"/>
                </a:solidFill>
                <a:latin typeface="Arial"/>
              </a:defRPr>
            </a:pPr>
            <a:r>
              <a:t>RandomForest trained on precursor features (hardness ratio, QPPs) with balanced class weights to handle 98.5% data imbalance.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■ Phase 4: 10-Tab Scientific Dashboard</a:t>
            </a:r>
          </a:p>
          <a:p>
            <a:pPr>
              <a:spcAft>
                <a:spcPts val="200"/>
              </a:spcAft>
              <a:defRPr sz="919">
                <a:solidFill>
                  <a:srgbClr val="282828"/>
                </a:solidFill>
                <a:latin typeface="Arial"/>
              </a:defRPr>
            </a:pPr>
            <a:r>
              <a:t>Runs locally in &lt;100ms on commodity hardware, offering 3D Sun disk, CME tracking, SEP spiral, and AI assistant.</a:t>
            </a:r>
          </a:p>
        </p:txBody>
      </p:sp>
      <p:pic>
        <p:nvPicPr>
          <p:cNvPr id="78" name="Picture 77" descr="solexs_plot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97280"/>
            <a:ext cx="1920240" cy="13716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754880" y="25146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1: Nowcast Baseline</a:t>
            </a:r>
          </a:p>
        </p:txBody>
      </p:sp>
      <p:pic>
        <p:nvPicPr>
          <p:cNvPr id="80" name="Picture 79" descr="solexs_event_z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097280"/>
            <a:ext cx="1920240" cy="13716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0" y="25146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2: Event Zoom</a:t>
            </a:r>
          </a:p>
        </p:txBody>
      </p:sp>
      <p:pic>
        <p:nvPicPr>
          <p:cNvPr id="82" name="Picture 81" descr="solexs_plot_202606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26080"/>
            <a:ext cx="1920240" cy="13716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754880" y="43434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3: M-Class Flare</a:t>
            </a:r>
          </a:p>
        </p:txBody>
      </p:sp>
      <p:pic>
        <p:nvPicPr>
          <p:cNvPr id="84" name="Picture 83" descr="solexs_threshold_202606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926080"/>
            <a:ext cx="1920240" cy="137160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858000" y="43434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4: Nowcast Threshold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TextBox 81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SuryaDrishti — Pipeline Process Flow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1097280"/>
            <a:ext cx="12344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  <a:defRPr b="1" sz="1050">
                <a:solidFill>
                  <a:srgbClr val="009664"/>
                </a:solidFill>
                <a:latin typeface="Arial"/>
              </a:defRPr>
            </a:pPr>
            <a:r>
              <a:t>📡 INGEST</a:t>
            </a:r>
          </a:p>
          <a:p>
            <a:pPr algn="ctr">
              <a:defRPr sz="850">
                <a:solidFill>
                  <a:srgbClr val="282828"/>
                </a:solidFill>
                <a:latin typeface="Arial"/>
              </a:defRPr>
            </a:pPr>
            <a:r>
              <a:t>847,752 FITS files ingested from ISSDC portal.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83080" y="1097280"/>
            <a:ext cx="12344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  <a:defRPr b="1" sz="1050">
                <a:solidFill>
                  <a:srgbClr val="009664"/>
                </a:solidFill>
                <a:latin typeface="Arial"/>
              </a:defRPr>
            </a:pPr>
            <a:r>
              <a:t>🔧 ALIGN</a:t>
            </a:r>
          </a:p>
          <a:p>
            <a:pPr algn="ctr">
              <a:defRPr sz="850">
                <a:solidFill>
                  <a:srgbClr val="282828"/>
                </a:solidFill>
                <a:latin typeface="Arial"/>
              </a:defRPr>
            </a:pPr>
            <a:r>
              <a:t>MJD to Unix epoch; 1-sec cadence merge.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0" y="1097280"/>
            <a:ext cx="12344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  <a:defRPr b="1" sz="1050">
                <a:solidFill>
                  <a:srgbClr val="009664"/>
                </a:solidFill>
                <a:latin typeface="Arial"/>
              </a:defRPr>
            </a:pPr>
            <a:r>
              <a:t>📈 DETECT</a:t>
            </a:r>
          </a:p>
          <a:p>
            <a:pPr algn="ctr">
              <a:defRPr sz="850">
                <a:solidFill>
                  <a:srgbClr val="282828"/>
                </a:solidFill>
                <a:latin typeface="Arial"/>
              </a:defRPr>
            </a:pPr>
            <a:r>
              <a:t>Causal rolling baseline; 212 merged events.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17720" y="1097280"/>
            <a:ext cx="12344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  <a:defRPr b="1" sz="1050">
                <a:solidFill>
                  <a:srgbClr val="009664"/>
                </a:solidFill>
                <a:latin typeface="Arial"/>
              </a:defRPr>
            </a:pPr>
            <a:r>
              <a:t>✅ VALIDATE</a:t>
            </a:r>
          </a:p>
          <a:p>
            <a:pPr algn="ctr">
              <a:defRPr sz="850">
                <a:solidFill>
                  <a:srgbClr val="282828"/>
                </a:solidFill>
                <a:latin typeface="Arial"/>
              </a:defRPr>
            </a:pPr>
            <a:r>
              <a:t>Systematic match; 93.2% recall vs. GOES.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35040" y="1097280"/>
            <a:ext cx="12344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  <a:defRPr b="1" sz="1050">
                <a:solidFill>
                  <a:srgbClr val="009664"/>
                </a:solidFill>
                <a:latin typeface="Arial"/>
              </a:defRPr>
            </a:pPr>
            <a:r>
              <a:t>🤖 FORECAST</a:t>
            </a:r>
          </a:p>
          <a:p>
            <a:pPr algn="ctr">
              <a:defRPr sz="850">
                <a:solidFill>
                  <a:srgbClr val="282828"/>
                </a:solidFill>
                <a:latin typeface="Arial"/>
              </a:defRPr>
            </a:pPr>
            <a:r>
              <a:t>RandomForest with 30-min horizon.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52360" y="1097280"/>
            <a:ext cx="12344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  <a:defRPr b="1" sz="1050">
                <a:solidFill>
                  <a:srgbClr val="009664"/>
                </a:solidFill>
                <a:latin typeface="Arial"/>
              </a:defRPr>
            </a:pPr>
            <a:r>
              <a:t>🔴 ALERT</a:t>
            </a:r>
          </a:p>
          <a:p>
            <a:pPr algn="ctr">
              <a:defRPr sz="850">
                <a:solidFill>
                  <a:srgbClr val="282828"/>
                </a:solidFill>
                <a:latin typeface="Arial"/>
              </a:defRPr>
            </a:pPr>
            <a:r>
              <a:t>Streamlit HUD; GREEN/AMBER/RED alerts.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" y="2697480"/>
            <a:ext cx="84124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50">
                <a:solidFill>
                  <a:srgbClr val="0A192F"/>
                </a:solidFill>
                <a:latin typeface="Arial"/>
              </a:defRPr>
            </a:pPr>
            <a:r>
              <a:t>Key Pipeline Innovations (All Running Locally — Demo Ready)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Strictly Causal Design</a:t>
            </a:r>
            <a:r>
              <a:rPr sz="919" b="0">
                <a:solidFill>
                  <a:srgbClr val="282828"/>
                </a:solidFill>
                <a:latin typeface="Arial"/>
              </a:rPr>
              <a:t>: Shifting past-only windows guarantee nowcasting &amp; forecasting remain fully compatible with live spacecraft telemetry.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Pre-Flare Precursor Alarm</a:t>
            </a:r>
            <a:r>
              <a:rPr sz="919" b="0">
                <a:solidFill>
                  <a:srgbClr val="282828"/>
                </a:solidFill>
                <a:latin typeface="Arial"/>
              </a:rPr>
              <a:t>: Sliding-window derivative inflection detector flags flare onset, giving a 10-30 min warning before peak.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SEP Parker Spiral Risk Engine</a:t>
            </a:r>
            <a:r>
              <a:rPr sz="919" b="0">
                <a:solidFill>
                  <a:srgbClr val="282828"/>
                </a:solidFill>
                <a:latin typeface="Arial"/>
              </a:rPr>
              <a:t>: Models solar proton flux arrival times using Tylka-Dietrich regression and Parker Spiral connectivity.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Differential Emission Measure (DEM)</a:t>
            </a:r>
            <a:r>
              <a:rPr sz="919" b="0">
                <a:solidFill>
                  <a:srgbClr val="282828"/>
                </a:solidFill>
                <a:latin typeface="Arial"/>
              </a:rPr>
              <a:t>: Resolves the coronal temperature distribution in real-time using regularized Tikhonov inversion.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TextBox 87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Operator Interface &amp; Real-Time Visualization Mockups</a:t>
            </a:r>
          </a:p>
        </p:txBody>
      </p:sp>
      <p:pic>
        <p:nvPicPr>
          <p:cNvPr id="89" name="Picture 88" descr="dashboard_initial_17826446451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97280"/>
            <a:ext cx="4937760" cy="292608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57200" y="4114800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6: Live Space Weather Operator Dashboard (v3.0 HUD)</a:t>
            </a:r>
          </a:p>
        </p:txBody>
      </p:sp>
      <p:pic>
        <p:nvPicPr>
          <p:cNvPr id="91" name="Picture 90" descr="maximized_peak_flare_17826165298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097280"/>
            <a:ext cx="3017520" cy="1691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5669280" y="283464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A192F"/>
                </a:solidFill>
                <a:latin typeface="Arial"/>
              </a:defRPr>
            </a:pPr>
            <a:r>
              <a:t>Figure 7: Live Operator Flare Alert HUD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0" y="310896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Dashboard Details:</a:t>
            </a:r>
          </a:p>
          <a:p>
            <a:pPr>
              <a:spcAft>
                <a:spcPts val="200"/>
              </a:spcAft>
              <a:defRPr sz="850">
                <a:solidFill>
                  <a:srgbClr val="282828"/>
                </a:solidFill>
                <a:latin typeface="Arial"/>
              </a:defRPr>
            </a:pPr>
            <a:r>
              <a:t>• Real-time interactive operator interface featuring 3D rotating Sun disk composite.</a:t>
            </a:r>
          </a:p>
          <a:p>
            <a:pPr>
              <a:spcAft>
                <a:spcPts val="200"/>
              </a:spcAft>
              <a:defRPr sz="850">
                <a:solidFill>
                  <a:srgbClr val="282828"/>
                </a:solidFill>
                <a:latin typeface="Arial"/>
              </a:defRPr>
            </a:pPr>
            <a:r>
              <a:t>• Simultaneous soft/hard X-ray counts telemetry tracking.</a:t>
            </a:r>
          </a:p>
          <a:p>
            <a:pPr>
              <a:spcAft>
                <a:spcPts val="200"/>
              </a:spcAft>
              <a:defRPr sz="850">
                <a:solidFill>
                  <a:srgbClr val="282828"/>
                </a:solidFill>
                <a:latin typeface="Arial"/>
              </a:defRPr>
            </a:pPr>
            <a:r>
              <a:t>• Live SEP Risk Parker Spiral connection and CME propagation countdown maps.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TextBox 93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SuryaDrishti — System &amp; Data Architecture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1097280"/>
            <a:ext cx="43891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Data Architecture &amp; Precursors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Thermal (SoLEXS)</a:t>
            </a:r>
            <a:r>
              <a:rPr sz="900" b="0">
                <a:solidFill>
                  <a:srgbClr val="282828"/>
                </a:solidFill>
                <a:latin typeface="Arial"/>
              </a:rPr>
              <a:t>: Rolling mean and positive slope capture slow-rise plasma pre-heating.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Non-Thermal (HEL1OS)</a:t>
            </a:r>
            <a:r>
              <a:rPr sz="900" b="0">
                <a:solidFill>
                  <a:srgbClr val="282828"/>
                </a:solidFill>
                <a:latin typeface="Arial"/>
              </a:rPr>
              <a:t>: Rolling standard deviation isolates high-frequency QPP oscillatory variance.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Neupert Effect</a:t>
            </a:r>
            <a:r>
              <a:rPr sz="900" b="0">
                <a:solidFill>
                  <a:srgbClr val="282828"/>
                </a:solidFill>
                <a:latin typeface="Arial"/>
              </a:rPr>
              <a:t>: Hardness Ratio ($COUNTS_{HEL1OS}/COUNTS_{SoLEXS}$) models non-thermal to thermal energy conversion.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Anti-Leakage Split</a:t>
            </a:r>
            <a:r>
              <a:rPr sz="900" b="0">
                <a:solidFill>
                  <a:srgbClr val="282828"/>
                </a:solidFill>
                <a:latin typeface="Arial"/>
              </a:rPr>
              <a:t>: Chronological time-series splitting prevents temporal data leakage.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System Architecture Layers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Ingestion</a:t>
            </a:r>
            <a:r>
              <a:rPr sz="900" b="0">
                <a:solidFill>
                  <a:srgbClr val="282828"/>
                </a:solidFill>
                <a:latin typeface="Arial"/>
              </a:rPr>
              <a:t>: Parsed FITS Level-1 telemetry, Unix epoch conversion, and 1s cadence alignment (259k overlap points).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Physics Core</a:t>
            </a:r>
            <a:r>
              <a:rPr sz="900" b="0">
                <a:solidFill>
                  <a:srgbClr val="282828"/>
                </a:solidFill>
                <a:latin typeface="Arial"/>
              </a:rPr>
              <a:t>: Zero-lookahead nowcast, Tikhonov DEM inversion, CME Drag-Based Model, and Parker Spiral connection.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900" b="0">
                <a:solidFill>
                  <a:srgbClr val="282828"/>
                </a:solidFill>
                <a:latin typeface="Arial"/>
              </a:rPr>
              <a:t>• </a:t>
            </a:r>
            <a:r>
              <a:rPr sz="900" b="1">
                <a:solidFill>
                  <a:srgbClr val="282828"/>
                </a:solidFill>
                <a:latin typeface="Arial"/>
              </a:rPr>
              <a:t>Forecasting</a:t>
            </a:r>
            <a:r>
              <a:rPr sz="900" b="0">
                <a:solidFill>
                  <a:srgbClr val="282828"/>
                </a:solidFill>
                <a:latin typeface="Arial"/>
              </a:rPr>
              <a:t>: RandomForest model predicting flare peaks 30 minutes in advance using balanced class weights.</a:t>
            </a:r>
          </a:p>
        </p:txBody>
      </p:sp>
      <p:pic>
        <p:nvPicPr>
          <p:cNvPr id="96" name="Picture 95" descr="random_forest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188720"/>
            <a:ext cx="3657600" cy="301752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5120640" y="425196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8: RandomForest Forecasting Pipeline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TextBox 99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Technologies Used in SuryaDrishti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50">
                <a:solidFill>
                  <a:srgbClr val="0A192F"/>
                </a:solidFill>
                <a:latin typeface="Arial"/>
              </a:defRPr>
            </a:pPr>
            <a:r>
              <a:t>Frontend Dashboard HUD (3,900+ Lines)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Core Layout</a:t>
            </a:r>
            <a:r>
              <a:rPr sz="919" b="0">
                <a:solidFill>
                  <a:srgbClr val="282828"/>
                </a:solidFill>
                <a:latin typeface="Arial"/>
              </a:rPr>
              <a:t>: HTML5, Vanilla CSS, and JavaScript (ES6) — lightweight, dependency-free design.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Plots</a:t>
            </a:r>
            <a:r>
              <a:rPr sz="919" b="0">
                <a:solidFill>
                  <a:srgbClr val="282828"/>
                </a:solidFill>
                <a:latin typeface="Arial"/>
              </a:rPr>
              <a:t>: Chart.js for real-time telemetry, QPP spectrum, temperature inversion, and SEP blackouts.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Graphics</a:t>
            </a:r>
            <a:r>
              <a:rPr sz="919" b="0">
                <a:solidFill>
                  <a:srgbClr val="282828"/>
                </a:solidFill>
                <a:latin typeface="Arial"/>
              </a:rPr>
              <a:t>: 5 animated HTML5 canvases displaying the rotating solar disk, world map blackouts, CME orbit plane, and Parker Spiral connection.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Audio Engine</a:t>
            </a:r>
            <a:r>
              <a:rPr sz="919" b="0">
                <a:solidFill>
                  <a:srgbClr val="282828"/>
                </a:solidFill>
                <a:latin typeface="Arial"/>
              </a:rPr>
              <a:t>: Web Audio API synthesizing solar wind noise, alert tones, and pitch modulated by hardness ratio.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50">
                <a:solidFill>
                  <a:srgbClr val="0A192F"/>
                </a:solidFill>
                <a:latin typeface="Arial"/>
              </a:defRPr>
            </a:pPr>
            <a:r>
              <a:t>Backend Stack &amp; Scientific Models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Core Stack</a:t>
            </a:r>
            <a:r>
              <a:rPr sz="919" b="0">
                <a:solidFill>
                  <a:srgbClr val="282828"/>
                </a:solidFill>
                <a:latin typeface="Arial"/>
              </a:rPr>
              <a:t>: Python (scikit-learn, pandas, numpy, scipy, astropy) for training, preprocessing, and FITS files parsing.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Server</a:t>
            </a:r>
            <a:r>
              <a:rPr sz="919" b="0">
                <a:solidFill>
                  <a:srgbClr val="282828"/>
                </a:solidFill>
                <a:latin typeface="Arial"/>
              </a:rPr>
              <a:t>: Served via a built-in lightweight Python HTTP server.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</a:t>
            </a:r>
            <a:r>
              <a:rPr sz="919" b="1">
                <a:solidFill>
                  <a:srgbClr val="282828"/>
                </a:solidFill>
                <a:latin typeface="Arial"/>
              </a:rPr>
              <a:t>Mathematical Models</a:t>
            </a:r>
            <a:r>
              <a:rPr sz="919" b="0">
                <a:solidFill>
                  <a:srgbClr val="282828"/>
                </a:solidFill>
                <a:latin typeface="Arial"/>
              </a:rPr>
              <a:t>:
- Tylka-Dietrich regression for proton flux.
- Parker Spiral magnetic tracing.
- Tikhonov regularization for DEM matrix inversion.
- Drag-Based Model for CME Time-of-Arrival (Vrsnak 2013).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TextBox 105"/>
          <p:cNvSpPr txBox="1"/>
          <p:nvPr/>
        </p:nvSpPr>
        <p:spPr>
          <a:xfrm>
            <a:off x="310896" y="365760"/>
            <a:ext cx="8522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Arial"/>
              </a:defRPr>
            </a:pPr>
            <a:r>
              <a:t>Estimated Implementation Cost &amp; Scaling Plan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576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0A192F"/>
                </a:solidFill>
                <a:latin typeface="Arial"/>
              </a:defRPr>
            </a:pPr>
            <a:r>
              <a:t>Current Phase (Idea Submission)</a:t>
            </a:r>
          </a:p>
          <a:p>
            <a:pPr>
              <a:spcAft>
                <a:spcPts val="600"/>
              </a:spcAft>
              <a:defRPr b="1" sz="1100">
                <a:solidFill>
                  <a:srgbClr val="009664"/>
                </a:solidFill>
                <a:latin typeface="Arial"/>
              </a:defRPr>
            </a:pPr>
            <a:r>
              <a:t>Estimated Cost: ₹0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Development fully completed on personal hardware and free cloud services (Google Colab, GitHub).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Data sourced directly from ISRO ISSDC portal (free public access for registered researchers).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Pipeline and dashboard utilize open-source frameworks (Python, Chart.js, HTML5/CSS).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0A192F"/>
                </a:solidFill>
                <a:latin typeface="Arial"/>
              </a:defRPr>
            </a:pPr>
            <a:r>
              <a:t>Phase 2 (Prototype Scaling)</a:t>
            </a:r>
          </a:p>
          <a:p>
            <a:pPr>
              <a:spcAft>
                <a:spcPts val="600"/>
              </a:spcAft>
              <a:defRPr b="1" sz="1100">
                <a:solidFill>
                  <a:srgbClr val="009664"/>
                </a:solidFill>
                <a:latin typeface="Arial"/>
              </a:defRPr>
            </a:pPr>
            <a:r>
              <a:t>Est. Cost: ₹20k - ₹35k/month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Ingesting multi-month archives from ISRO PRADAN (150+ major flares) to scale up RandomForest models.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Cloud VM hosting for live data server: ~₹5,000 - ₹10,000/month.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GPU compute (AWS/GCP) for real-time DRM spectral deconvolution: ~₹15,000 - ₹25,000/month.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0A192F"/>
                </a:solidFill>
                <a:latin typeface="Arial"/>
              </a:defRPr>
            </a:pPr>
            <a:r>
              <a:t>Phase 3 (Operational)</a:t>
            </a:r>
          </a:p>
          <a:p>
            <a:pPr>
              <a:spcAft>
                <a:spcPts val="600"/>
              </a:spcAft>
              <a:defRPr b="1" sz="1100">
                <a:solidFill>
                  <a:srgbClr val="009664"/>
                </a:solidFill>
                <a:latin typeface="Arial"/>
              </a:defRPr>
            </a:pPr>
            <a:r>
              <a:t>ISRO Operational Budget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Retraining ML to forecast specific peak classes (C, M, or X-class) instead of binary detection.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Integrating auxiliary attitude data to correct pointing and jitter.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919" b="0">
                <a:solidFill>
                  <a:srgbClr val="282828"/>
                </a:solidFill>
                <a:latin typeface="Arial"/>
              </a:rPr>
              <a:t>• Direct connection to the ISRO Space Situational Awareness Centre (SSAC) operations feed.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TextBox 111"/>
          <p:cNvSpPr txBox="1"/>
          <p:nvPr/>
        </p:nvSpPr>
        <p:spPr>
          <a:xfrm>
            <a:off x="457200" y="914400"/>
            <a:ext cx="4114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FFFFFF"/>
                </a:solidFill>
                <a:latin typeface="Arial"/>
              </a:defRPr>
            </a:pPr>
            <a:r>
              <a:t>Scientific References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>
                <a:latin typeface="Arial"/>
              </a:defRPr>
            </a:pPr>
            <a:r>
              <a:rPr sz="850" b="0">
                <a:solidFill>
                  <a:srgbClr val="FFFFFF"/>
                </a:solidFill>
                <a:latin typeface="Arial"/>
              </a:rPr>
              <a:t>• </a:t>
            </a:r>
            <a:r>
              <a:rPr sz="850" b="1">
                <a:solidFill>
                  <a:srgbClr val="FFFFFF"/>
                </a:solidFill>
                <a:latin typeface="Arial"/>
              </a:rPr>
              <a:t>Sarwade et al. 2025</a:t>
            </a:r>
            <a:r>
              <a:rPr sz="850" b="0">
                <a:solidFill>
                  <a:srgbClr val="FFFFFF"/>
                </a:solidFill>
                <a:latin typeface="Arial"/>
              </a:rPr>
              <a:t>: In-flight calibration and performance of SoLEXS onboard Aditya-L1. Solar Physics.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>
                <a:latin typeface="Arial"/>
              </a:defRPr>
            </a:pPr>
            <a:r>
              <a:rPr sz="850" b="0">
                <a:solidFill>
                  <a:srgbClr val="FFFFFF"/>
                </a:solidFill>
                <a:latin typeface="Arial"/>
              </a:rPr>
              <a:t>• </a:t>
            </a:r>
            <a:r>
              <a:rPr sz="850" b="1">
                <a:solidFill>
                  <a:srgbClr val="FFFFFF"/>
                </a:solidFill>
                <a:latin typeface="Arial"/>
              </a:rPr>
              <a:t>Nandi et al. 2025</a:t>
            </a:r>
            <a:r>
              <a:rPr sz="850" b="0">
                <a:solidFill>
                  <a:srgbClr val="FFFFFF"/>
                </a:solidFill>
                <a:latin typeface="Arial"/>
              </a:rPr>
              <a:t>: Hard X-ray diagnostics of solar flares: First results from HEL1OS onboard Aditya-L1. ApJ.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>
                <a:latin typeface="Arial"/>
              </a:defRPr>
            </a:pPr>
            <a:r>
              <a:rPr sz="850" b="0">
                <a:solidFill>
                  <a:srgbClr val="FFFFFF"/>
                </a:solidFill>
                <a:latin typeface="Arial"/>
              </a:rPr>
              <a:t>• </a:t>
            </a:r>
            <a:r>
              <a:rPr sz="850" b="1">
                <a:solidFill>
                  <a:srgbClr val="FFFFFF"/>
                </a:solidFill>
                <a:latin typeface="Arial"/>
              </a:rPr>
              <a:t>Vrsnak et al. 2013</a:t>
            </a:r>
            <a:r>
              <a:rPr sz="850" b="0">
                <a:solidFill>
                  <a:srgbClr val="FFFFFF"/>
                </a:solidFill>
                <a:latin typeface="Arial"/>
              </a:rPr>
              <a:t>: Propagation of Interplanetary Coronal Mass Ejections: The Drag-Based Model. Solar Physics.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>
                <a:latin typeface="Arial"/>
              </a:defRPr>
            </a:pPr>
            <a:r>
              <a:rPr sz="850" b="0">
                <a:solidFill>
                  <a:srgbClr val="FFFFFF"/>
                </a:solidFill>
                <a:latin typeface="Arial"/>
              </a:rPr>
              <a:t>• </a:t>
            </a:r>
            <a:r>
              <a:rPr sz="850" b="1">
                <a:solidFill>
                  <a:srgbClr val="FFFFFF"/>
                </a:solidFill>
                <a:latin typeface="Arial"/>
              </a:rPr>
              <a:t>Tylka &amp; Dietrich 2009</a:t>
            </a:r>
            <a:r>
              <a:rPr sz="850" b="0">
                <a:solidFill>
                  <a:srgbClr val="FFFFFF"/>
                </a:solidFill>
                <a:latin typeface="Arial"/>
              </a:rPr>
              <a:t>: A new parameterization of solar energetic proton (SEP) spectra. ICRC.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>
                <a:latin typeface="Arial"/>
              </a:defRPr>
            </a:pPr>
            <a:r>
              <a:rPr sz="850" b="0">
                <a:solidFill>
                  <a:srgbClr val="FFFFFF"/>
                </a:solidFill>
                <a:latin typeface="Arial"/>
              </a:rPr>
              <a:t>• </a:t>
            </a:r>
            <a:r>
              <a:rPr sz="850" b="1">
                <a:solidFill>
                  <a:srgbClr val="FFFFFF"/>
                </a:solidFill>
                <a:latin typeface="Arial"/>
              </a:rPr>
              <a:t>Dere et al. 1997</a:t>
            </a:r>
            <a:r>
              <a:rPr sz="850" b="0">
                <a:solidFill>
                  <a:srgbClr val="FFFFFF"/>
                </a:solidFill>
                <a:latin typeface="Arial"/>
              </a:rPr>
              <a:t>: CHIANTI - an atomic database for emission lines. A&amp;AS.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2400">
                <a:solidFill>
                  <a:srgbClr val="00D28C"/>
                </a:solidFill>
                <a:latin typeface="Arial"/>
              </a:defRPr>
            </a:pPr>
            <a:r>
              <a:t>Thank You!</a:t>
            </a:r>
          </a:p>
          <a:p>
            <a:pPr>
              <a:spcAft>
                <a:spcPts val="1400"/>
              </a:spcAft>
              <a:defRPr sz="1050">
                <a:solidFill>
                  <a:srgbClr val="FFFFFF"/>
                </a:solidFill>
                <a:latin typeface="Arial"/>
              </a:defRPr>
            </a:pPr>
            <a:r>
              <a:t>We are excited to contribute to India's space situational awareness and AI-driven space weather monitoring vision.</a:t>
            </a:r>
            <a:br/>
            <a:br/>
            <a:r>
              <a:t>Project SuryaDrishti delivers a scientifically grounded, operationally robust, and deployment-ready alert system to protect India's space assets.</a:t>
            </a:r>
          </a:p>
          <a:p>
            <a:pPr>
              <a:defRPr sz="950" b="1">
                <a:solidFill>
                  <a:srgbClr val="00D28C"/>
                </a:solidFill>
                <a:latin typeface="Arial"/>
              </a:defRPr>
            </a:pPr>
            <a:r>
              <a:t>Team: SuryaDrishti</a:t>
            </a:r>
            <a:br/>
            <a:r>
              <a:t>Institution: Adamas University, Kolkata</a:t>
            </a:r>
            <a:br/>
            <a:r>
              <a:t>GitHub: github.com/deepshekhar555/PS15_SolarFlare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163</Words>
  <Application>Microsoft Office PowerPoint</Application>
  <PresentationFormat>On-screen Show (16:9)</PresentationFormat>
  <Paragraphs>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Google Sans Medium</vt:lpstr>
      <vt:lpstr>Arial</vt:lpstr>
      <vt:lpstr>Google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Welcome</cp:lastModifiedBy>
  <cp:revision>2</cp:revision>
  <dcterms:modified xsi:type="dcterms:W3CDTF">2026-06-30T22:30:15Z</dcterms:modified>
</cp:coreProperties>
</file>