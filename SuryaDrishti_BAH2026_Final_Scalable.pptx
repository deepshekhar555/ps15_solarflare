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Google Sans" panose="020B0604020202020204" charset="0"/>
      <p:regular r:id="rId13"/>
      <p:bold r:id="rId14"/>
      <p:italic r:id="rId15"/>
      <p:boldItalic r:id="rId16"/>
    </p:embeddedFont>
    <p:embeddedFont>
      <p:font typeface="Google Sans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CBF80B-8226-4400-B092-E5475EF013AD}">
  <a:tblStyle styleId="{38CBF80B-8226-4400-B092-E5475EF013A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64593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31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51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516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9530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7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1800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528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305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406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2823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85800" y="11887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SuryaDrishti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1828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D28C"/>
                </a:solidFill>
                <a:latin typeface="Arial"/>
              </a:defRPr>
            </a:pPr>
            <a:r>
              <a:t>Autonomous Space Weather Alert System: Real-Time Solar Flare Nowcasting &amp; Forecasting Using Aditya-L1 X-Ray Telemetry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329184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Theme: Space Weather, Machine Learning, and Satellite Telemetry Processing</a:t>
            </a:r>
          </a:p>
          <a:p>
            <a:pPr>
              <a:spcBef>
                <a:spcPts val="400"/>
              </a:spcBef>
              <a:defRPr sz="1000">
                <a:solidFill>
                  <a:srgbClr val="00D28C"/>
                </a:solidFill>
                <a:latin typeface="Arial"/>
              </a:defRPr>
            </a:pPr>
            <a:r>
              <a:t>Team Name: SuryaDrishti | Problem Statement: PS #15 | Institution: Adamas University, Kolkata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Team Leader: Deep Shekhar Halder | Members: Mahalaxmi Macha, Ashfaque Ahamed Khan, Rituraj Saha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Team Members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737360"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2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Leader &amp; Tech Lead</a:t>
                      </a:r>
                    </a:p>
                    <a:p>
                      <a:pPr>
                        <a:defRPr b="1"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Deep Shekhar Halder</a:t>
                      </a:r>
                    </a:p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deephalder209@gmail.com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5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Algorithm design, data pipeline integration, and machine learning modeling.</a:t>
                      </a:r>
                    </a:p>
                  </a:txBody>
                  <a:tcPr/>
                </a:tc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2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(Data &amp; Preprocessing)</a:t>
                      </a:r>
                    </a:p>
                    <a:p>
                      <a:pPr>
                        <a:defRPr b="1"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Rituraj Saha</a:t>
                      </a:r>
                    </a:p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saharituraj805@gmail.com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5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Feature engineering, telemetry calibration, and scientific visualization.</a:t>
                      </a:r>
                    </a:p>
                  </a:txBody>
                  <a:tcPr/>
                </a:tc>
              </a:tr>
              <a:tr h="1737360"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2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(ML Modeling &amp; Validation)</a:t>
                      </a:r>
                    </a:p>
                    <a:p>
                      <a:pPr>
                        <a:defRPr b="1"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Mahalaxmi Macha</a:t>
                      </a:r>
                    </a:p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mahalaxmimacha14@gmail.com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5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Telemetry preprocessing, metadata alignment, and nowcasting validation.</a:t>
                      </a:r>
                    </a:p>
                  </a:txBody>
                  <a:tcPr/>
                </a:tc>
                <a:tc>
                  <a:txBody>
                    <a:bodyPr wrap="square" tIns="91440" bIns="91440"/>
                    <a:lstStyle/>
                    <a:p>
                      <a:pPr>
                        <a:spcAft>
                          <a:spcPts val="200"/>
                        </a:spcAft>
                        <a:defRPr b="1" sz="1200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t>Team Member (Dashboard &amp; Benchmarking)</a:t>
                      </a:r>
                    </a:p>
                    <a:p>
                      <a:pPr>
                        <a:defRPr b="1"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Name: Ashfaque Ahamed Khan</a:t>
                      </a:r>
                    </a:p>
                    <a:p>
                      <a:pPr>
                        <a:defRPr sz="95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Email: ashfaqueahamedkhan591@gmail.com</a:t>
                      </a:r>
                    </a:p>
                    <a:p>
                      <a:pPr>
                        <a:spcBef>
                          <a:spcPts val="400"/>
                        </a:spcBef>
                        <a:defRPr sz="95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t>Responsibility: Cross-catalog benchmarking, NOAA GOES validation, and dashboard deployment.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Opportunity — What Makes SuryaDrishti Different?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How is it different from existing ideas?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Published Aditya-L1 papers focus on instrument calibration only — no real-time forecasting or ML pipelines exist.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Standard automated detectors use centered smoothing windows (requiring future data), making them impossible to deploy in live operations.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No existing pipeline benchmarks detection recall against NOAA GOES records.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How will it solve the problem?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Strictly causal rolling baseline (past-only) is fully compatible with live Aditya-L1 telemetry streams.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Extracts physics precursor features (Spectral Hardness Ratio, QPP std, thermal slope) to predict flares 30 minutes in advance.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Provides space-weather alert HUD with 3-tier risk alerts (GREEN/AMBER/RED) and Web Audio alarms.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**93.2% Nowcast Recall**: 68 out of 73 NOAA GOES reference flares successfully detected.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**Microflare Discovery**: 136 sub-threshold events discovered, including a confirmed 679s event absent from official NOAA catalog.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**Leakage-Free Validation**: Strict time-based holdout train/test split ensures zero temporal data leakage.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**10-Tab Dashboard**: Features CME Drag-Based Model, Parker Spiral SEP connection, and DEM Tikhonov solver running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Features Offered by SuryaDrishti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1: Ingestion &amp; Alignment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Harmonizes raw SoLEXS &amp; HEL1OS FITS telemetry to Unix epoch, merging them on 1-second cadence (259,071 overlap points).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2: Causal Nowcasting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Zero-lookahead baseline thresholding ($COUNTS &gt; MEDIAN + n 	imes STD$) with 120s event merging to prevent fragmentation.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3: ML Forecasting Prototype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RandomForest trained on precursor features (hardness ratio, QPPs) with balanced class weights to handle 98.5% data imbalance.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100">
                <a:solidFill>
                  <a:srgbClr val="0A192F"/>
                </a:solidFill>
                <a:latin typeface="Arial"/>
              </a:defRPr>
            </a:pPr>
            <a:r>
              <a:t>■ Phase 4: 10-Tab Scientific Dashboard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Runs locally in &lt;100ms on commodity hardware, offering 3D Sun disk, CME tracking, SEP spiral, and AI assistant.</a:t>
            </a:r>
          </a:p>
        </p:txBody>
      </p:sp>
      <p:pic>
        <p:nvPicPr>
          <p:cNvPr id="78" name="Picture 77" descr="solexs_plot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1920240" cy="13716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754880" y="2514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1: Nowcast Baseline</a:t>
            </a:r>
          </a:p>
        </p:txBody>
      </p:sp>
      <p:pic>
        <p:nvPicPr>
          <p:cNvPr id="80" name="Picture 79" descr="solexs_event_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97280"/>
            <a:ext cx="1920240" cy="13716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0" y="25146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2: Event Zoom</a:t>
            </a:r>
          </a:p>
        </p:txBody>
      </p:sp>
      <p:pic>
        <p:nvPicPr>
          <p:cNvPr id="82" name="Picture 81" descr="solexs_plot_202606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1920240" cy="13716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754880" y="43434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3: M-Class Flare</a:t>
            </a:r>
          </a:p>
        </p:txBody>
      </p:sp>
      <p:pic>
        <p:nvPicPr>
          <p:cNvPr id="84" name="Picture 83" descr="solexs_threshold_202606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926080"/>
            <a:ext cx="1920240" cy="13716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858000" y="43434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4: Nowcast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TextBox 81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SuryaDrishti — Pipeline Process 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1097280"/>
            <a:ext cx="1234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📡 INGEST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847,752 FITS files ingested from ISSDC portal.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83080" y="1097280"/>
            <a:ext cx="1234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🔧 ALIGN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MJD to Unix epoch; 1-sec cadence merge.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0" y="1097280"/>
            <a:ext cx="1234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📈 DETECT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Causal rolling baseline; 212 merged events.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17720" y="1097280"/>
            <a:ext cx="1234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✅ VALIDATE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Systematic match; 93.2% recall vs. GOES.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0" y="1097280"/>
            <a:ext cx="1234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🤖 FORECAST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RandomForest with 30-min horizon.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52360" y="1097280"/>
            <a:ext cx="1234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🔴 ALERT</a:t>
            </a:r>
          </a:p>
          <a:p>
            <a:pPr>
              <a:defRPr sz="900">
                <a:solidFill>
                  <a:srgbClr val="282828"/>
                </a:solidFill>
                <a:latin typeface="Arial"/>
              </a:defRPr>
            </a:pPr>
            <a:r>
              <a:t>Streamlit HUD; GREEN/AMBER/RED alerts.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2743200"/>
            <a:ext cx="8412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Key Pipeline Innovations (All Running Locally — Demo Ready)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**Strictly Causal Design**: Shifting past-only windows guarantee nowcasting &amp; forecasting remain fully compatible with live spacecraft telemetry.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**Pre-Flare Precursor Alarm**: Sliding-window derivative inflection detector flags flare onset, giving a 10-30 min warning before peak.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**SEP Parker Spiral Risk Engine**: Models solar proton flux arrival times using Tylka-Dietrich regression and Parker Spiral connectivity.</a:t>
            </a:r>
          </a:p>
          <a:p>
            <a:pPr>
              <a:spcAft>
                <a:spcPts val="3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**Differential Emission Measure (DEM)**: Resolves the coronal temperature distribution in real-time using regularized Tikhonov inversion.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TextBox 87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SuryaDrishti — Data Architecture &amp; Feature Engineering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Physics-Informed Precursor Features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**SoLEXS Features (Soft X-ray — Thermal Heating)**:</a:t>
            </a:r>
            <a:br/>
            <a:r>
              <a:t>- Rolling Mean (10-min window): Captures pre-flare slow-rise coronal heating.</a:t>
            </a:r>
            <a:br/>
            <a:r>
              <a:t>- Rolling Slope: Detects monotonic flux increase before impulsive phase.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**HEL1OS Features (Hard X-ray — Non-thermal Acceleration)**:</a:t>
            </a:r>
            <a:br/>
            <a:r>
              <a:t>- Rolling Std Dev: Captures Quasi-Periodic Pulsations (QPPs) — indicators of magnetic reconnection loops and MHD wave modes.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**Spectral Hardness Ratio ($COUNTS_{HEL1OS} / COUNTS_{SoLEXS}$)**:</a:t>
            </a:r>
            <a:br/>
            <a:r>
              <a:t>- Models the Neupert Effect directly in the feature space, tracing energy transition from particle acceleration to thermal heating.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Validation &amp; Anti-Leakage Architecture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**NOAA GOES Cross-Validation**: Matches 212 nowcast events against 73 GOES records with a ±5-minute peak window overlap.</a:t>
            </a:r>
            <a:br/>
            <a:r>
              <a:t>- **Result**: 93.2% recall (68/73 flares recovered). Only 5 weak C-class flares missed.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**Temporal Integrity (Anti-Leakage)**: Employs strict chronological time-splitting (train on earlier days, test on later days) rather than random shuffle, preventing data leakage.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**Honest ML Baseline**: Achieved ROC-AUC 0.533 (near-random, scientifically expected for 16 training events). Verifies architecture, scaling requires multi-month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TextBox 93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SuryaDrishti — System 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1097280"/>
            <a:ext cx="45720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  <a:defRPr b="1" sz="1050">
                <a:solidFill>
                  <a:srgbClr val="0A192F"/>
                </a:solidFill>
                <a:latin typeface="Arial"/>
              </a:defRPr>
            </a:pPr>
            <a:r>
              <a:t>■ Layer 1: Telemetry Ingestion &amp; Preprocessing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Fetches Level-1 FITS telemetry files, performs counts calibration, MJD to Unix epoch conversion, and 1-second cadence temporal alignment.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050">
                <a:solidFill>
                  <a:srgbClr val="0A192F"/>
                </a:solidFill>
                <a:latin typeface="Arial"/>
              </a:defRPr>
            </a:pPr>
            <a:r>
              <a:t>■ Layer 2: Physics Engines (dashboard.js)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Zero-lookahead nowcast detector, Differential Emission Measure solver (Tikhonov regularized), CME Drag-Based Model, and Parker Spiral connection tracker.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050">
                <a:solidFill>
                  <a:srgbClr val="0A192F"/>
                </a:solidFill>
                <a:latin typeface="Arial"/>
              </a:defRPr>
            </a:pPr>
            <a:r>
              <a:t>■ Layer 3: Machine Learning Forecasting Core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RandomForest model trained on precursor features using chronological splitting and balanced class weights to predict flare peaks 30 minutes in advance.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b="1" sz="1050">
                <a:solidFill>
                  <a:srgbClr val="0A192F"/>
                </a:solidFill>
                <a:latin typeface="Arial"/>
              </a:defRPr>
            </a:pPr>
            <a:r>
              <a:t>■ Layer 4: 10-Tab Web Operator Dashboard</a:t>
            </a:r>
          </a:p>
          <a:p>
            <a:pPr>
              <a:spcAft>
                <a:spcPts val="2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Visualizes real-time flux, CME orbits, SEP risk, and chromospheric evaporation. Provides automated warnings with under 100ms response time.</a:t>
            </a:r>
          </a:p>
        </p:txBody>
      </p:sp>
      <p:pic>
        <p:nvPicPr>
          <p:cNvPr id="96" name="Picture 95" descr="random_forest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188720"/>
            <a:ext cx="3657600" cy="310896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120640" y="434340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t>Figure 5: RandomForest Forecasting Pipeline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Technologies Used in SuryaDrishti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Frontend Dashboard HUD (3,900+ Lines)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**Core Layout**: HTML5, Vanilla CSS, and JavaScript (ES6) — lightweight, dependency-free design.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**Plots**: Chart.js for real-time telemetry, QPP spectrum, temperature inversion, and SEP blackouts.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**Graphics**: 5 animated HTML5 canvases displaying the rotating solar disk, world map blackouts, CME orbit plane, and Parker Spiral connection.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**Audio Engine**: Web Audio API synthesizing solar wind noise, alert tones, and pitch modulated by hardness ratio.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192F"/>
                </a:solidFill>
                <a:latin typeface="Arial"/>
              </a:defRPr>
            </a:pPr>
            <a:r>
              <a:t>Backend Stack &amp; Scientific Models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**Core Stack**: Python (scikit-learn, pandas, numpy, scipy, astropy) for training, preprocessing, and FITS files parsing.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**Server**: Served via a built-in lightweight Python HTTP server.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**Mathematical Models**:</a:t>
            </a:r>
            <a:br/>
            <a:r>
              <a:t>- Tylka-Dietrich regression for proton flux.</a:t>
            </a:r>
            <a:br/>
            <a:r>
              <a:t>- Parker Spiral magnetic tracing.</a:t>
            </a:r>
            <a:br/>
            <a:r>
              <a:t>- Tikhonov regularization for DEM matrix inversion.</a:t>
            </a:r>
            <a:br/>
            <a:r>
              <a:t>- Drag-Based Model for CME Time-of-Arrival (Vrsnak 2013).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TextBox 105"/>
          <p:cNvSpPr txBox="1"/>
          <p:nvPr/>
        </p:nvSpPr>
        <p:spPr>
          <a:xfrm>
            <a:off x="310896" y="365760"/>
            <a:ext cx="757123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Arial"/>
              </a:defRPr>
            </a:pPr>
            <a:r>
              <a:t>Estimated Implementation Cost &amp; Scaling Plan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Current Phase (Idea Submission)</a:t>
            </a:r>
          </a:p>
          <a:p>
            <a:pPr>
              <a:spcAft>
                <a:spcPts val="6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Estimated Cost: ₹0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Development fully completed on personal hardware and free cloud services (Google Colab, GitHub).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Data sourced directly from ISRO ISSDC portal (free public access for registered researchers).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Pipeline and dashboard utilize open-source frameworks (Python, Chart.js, HTML5/CSS).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Phase 2 (Prototype Scaling)</a:t>
            </a:r>
          </a:p>
          <a:p>
            <a:pPr>
              <a:spcAft>
                <a:spcPts val="6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Est. Cost: ₹20k - ₹35k/month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Ingesting multi-month archives from ISRO PRADAN (150+ major flares) to scale up RandomForest models.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Cloud VM hosting for live data server: ~₹5,000 - ₹10,000/month.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GPU compute (AWS/GCP) for real-time DRM spectral deconvolution: ~₹15,000 - ₹25,000/month.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A192F"/>
                </a:solidFill>
                <a:latin typeface="Arial"/>
              </a:defRPr>
            </a:pPr>
            <a:r>
              <a:t>Phase 3 (Operational)</a:t>
            </a:r>
          </a:p>
          <a:p>
            <a:pPr>
              <a:spcAft>
                <a:spcPts val="600"/>
              </a:spcAft>
              <a:defRPr b="1" sz="1100">
                <a:solidFill>
                  <a:srgbClr val="009664"/>
                </a:solidFill>
                <a:latin typeface="Arial"/>
              </a:defRPr>
            </a:pPr>
            <a:r>
              <a:t>ISRO Operational Budget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Retraining ML to forecast specific peak classes (C, M, or X-class) instead of binary detection.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Integrating auxiliary attitude data to correct pointing and jitter.</a:t>
            </a:r>
          </a:p>
          <a:p>
            <a:pPr>
              <a:spcAft>
                <a:spcPts val="400"/>
              </a:spcAft>
              <a:defRPr sz="950">
                <a:solidFill>
                  <a:srgbClr val="282828"/>
                </a:solidFill>
                <a:latin typeface="Arial"/>
              </a:defRPr>
            </a:pPr>
            <a:r>
              <a:t>• Direct connection to the ISRO Space Situational Awareness Centre (SSAC) operations feed.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TextBox 111"/>
          <p:cNvSpPr txBox="1"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FFFFFF"/>
                </a:solidFill>
                <a:latin typeface="Arial"/>
              </a:defRPr>
            </a:pPr>
            <a:r>
              <a:t>Scientific References</a:t>
            </a:r>
          </a:p>
          <a:p>
            <a:pPr>
              <a:spcAft>
                <a:spcPts val="4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Sarwade et al. 2025: In-flight calibration and performance of SoLEXS onboard Aditya-L1. Solar Physics.</a:t>
            </a:r>
          </a:p>
          <a:p>
            <a:pPr>
              <a:spcAft>
                <a:spcPts val="4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Nandi et al. 2025: Hard X-ray diagnostics of solar flares: First results from HEL1OS onboard Aditya-L1. ApJ.</a:t>
            </a:r>
          </a:p>
          <a:p>
            <a:pPr>
              <a:spcAft>
                <a:spcPts val="4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Vrsnak et al. 2013: Propagation of Interplanetary Coronal Mass Ejections: The Drag-Based Model. Solar Physics.</a:t>
            </a:r>
          </a:p>
          <a:p>
            <a:pPr>
              <a:spcAft>
                <a:spcPts val="4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Tylka &amp; Dietrich 2009: A new parameterization of solar energetic proton (SEP) spectra. ICRC.</a:t>
            </a:r>
          </a:p>
          <a:p>
            <a:pPr>
              <a:spcAft>
                <a:spcPts val="4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Dere et al. 1997: CHIANTI - an atomic database for emission lines. A&amp;AS.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2400">
                <a:solidFill>
                  <a:srgbClr val="00D28C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We are excited to contribute to India's space situational awareness and AI-driven space weather monitoring vision.</a:t>
            </a:r>
            <a:br/>
            <a:br/>
            <a:r>
              <a:t>Project SuryaDrishti delivers a scientifically grounded, operationally robust, and deployment-ready alert system to protect India's space assets.</a:t>
            </a:r>
          </a:p>
          <a:p>
            <a:pPr>
              <a:defRPr sz="1000" b="1">
                <a:solidFill>
                  <a:srgbClr val="00D28C"/>
                </a:solidFill>
                <a:latin typeface="Arial"/>
              </a:defRPr>
            </a:pPr>
            <a:r>
              <a:t>Team: SuryaDrishti</a:t>
            </a:r>
            <a:br/>
            <a:r>
              <a:t>Institution: Adamas University, Kolkata</a:t>
            </a:r>
            <a:br/>
            <a:r>
              <a:t>GitHub: github.com/deepshekhar555/PS15_SolarFlare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2720</Words>
  <Application>Microsoft Office PowerPoint</Application>
  <PresentationFormat>On-screen Show (16:9)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Google Sans</vt:lpstr>
      <vt:lpstr>Google Sans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1</cp:revision>
  <dcterms:modified xsi:type="dcterms:W3CDTF">2026-06-30T13:32:39Z</dcterms:modified>
</cp:coreProperties>
</file>