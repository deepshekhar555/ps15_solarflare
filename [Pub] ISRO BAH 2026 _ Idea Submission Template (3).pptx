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Google Sans Medium" panose="020B0604020202020204" charset="0"/>
      <p:regular r:id="rId13"/>
      <p:bold r:id="rId14"/>
      <p:italic r:id="rId15"/>
      <p:boldItalic r:id="rId16"/>
    </p:embeddedFont>
    <p:embeddedFont>
      <p:font typeface="Google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59BE04-28B4-45B1-9943-30B73749E06D}">
  <a:tblStyle styleId="{7759BE04-28B4-45B1-9943-30B73749E0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2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16132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55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39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14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665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589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21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837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04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549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731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SuryaDrishti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D28C"/>
                </a:solidFill>
                <a:latin typeface="Arial"/>
              </a:defRPr>
            </a:pPr>
            <a:r>
              <a:t>Real-Time Solar Weather Alerts: Causal Nowcasting &amp; RandomForest Peak Forecasting using Aditya-L1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Theme: Space Weather, Machine Learning, and Satellite Telemetry Processing</a:t>
            </a:r>
          </a:p>
          <a:p>
            <a:pPr>
              <a:spcAft>
                <a:spcPts val="400"/>
              </a:spcAft>
              <a:defRPr sz="1000" b="1">
                <a:solidFill>
                  <a:srgbClr val="00D28C"/>
                </a:solidFill>
                <a:latin typeface="Arial"/>
              </a:defRPr>
            </a:pPr>
            <a:r>
              <a:t>Team Name: SuryaDrishti | Problem Statement: PS #15 | Institution: Adamas University / GNITS Hyderabad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Team Leader: Deep Shekhar Halder | Members: Mahalaxmi Macha, Ashfaque Ahamed Khan, Rituraj Saha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A192F"/>
                </a:solidFill>
                <a:latin typeface="Arial"/>
              </a:defRPr>
            </a:pPr>
            <a:r>
              <a:t>Team Members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737360"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Leader &amp; Tech Lead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Deep Shekhar Halder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deephalder209@gmail.com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College: Adamas University, Kolkata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Algorithm design, data pipeline integration, and ML modeling.</a:t>
                      </a:r>
                    </a:p>
                  </a:txBody>
                  <a:tcPr/>
                </a:tc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(Data &amp; Preprocessing)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Rituraj Saha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saharituraj805@gmail.com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College: Adamas University, Kolkata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Feature engineering, telemetry calibration, and scientific visualization.</a:t>
                      </a:r>
                    </a:p>
                  </a:txBody>
                  <a:tcPr/>
                </a:tc>
              </a:tr>
              <a:tr h="1737360"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(ML Modeling &amp; Validation)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Mahalaxmi Macha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mahalaxmimacha14@gmail.com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College: G. Narayanamma Institute of Technology and Science, Hyderabad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Telemetry preprocessing, metadata alignment, and nowcasting validation.</a:t>
                      </a:r>
                    </a:p>
                  </a:txBody>
                  <a:tcPr/>
                </a:tc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(Dashboard &amp; Benchmarking)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Ashfaque Ahamed Khan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ashfaqueahamedkhan591@gmail.com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College: Adamas University, Kolkata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Cross-catalog benchmarking, NOAA GOES validation, and dashboard deployment.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Operational Gap &amp; The SuryaDrishti Advantage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109728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The Operational Gap &amp; Physics Constraints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950">
                <a:latin typeface="Arial"/>
              </a:defRPr>
            </a:pPr>
            <a:r>
              <a:rPr sz="950" b="0">
                <a:solidFill>
                  <a:srgbClr val="282828"/>
                </a:solidFill>
                <a:latin typeface="Arial"/>
              </a:rPr>
              <a:t>• Traditional automated detectors use </a:t>
            </a:r>
            <a:r>
              <a:rPr sz="950" b="1">
                <a:solidFill>
                  <a:srgbClr val="282828"/>
                </a:solidFill>
                <a:latin typeface="Arial"/>
              </a:rPr>
              <a:t>centered smoothing windows</a:t>
            </a:r>
            <a:r>
              <a:rPr sz="950" b="0">
                <a:solidFill>
                  <a:srgbClr val="282828"/>
                </a:solidFill>
                <a:latin typeface="Arial"/>
              </a:rPr>
              <a:t> that require future data packets, making them completely incompatible with real-time spacecraft telemetry feeds.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950">
                <a:latin typeface="Arial"/>
              </a:defRPr>
            </a:pPr>
            <a:r>
              <a:rPr sz="950" b="0">
                <a:solidFill>
                  <a:srgbClr val="282828"/>
                </a:solidFill>
                <a:latin typeface="Arial"/>
              </a:rPr>
              <a:t>• Existing systems lack </a:t>
            </a:r>
            <a:r>
              <a:rPr sz="950" b="1">
                <a:solidFill>
                  <a:srgbClr val="282828"/>
                </a:solidFill>
                <a:latin typeface="Arial"/>
              </a:rPr>
              <a:t>systematic validation</a:t>
            </a:r>
            <a:r>
              <a:rPr sz="950" b="0">
                <a:solidFill>
                  <a:srgbClr val="282828"/>
                </a:solidFill>
                <a:latin typeface="Arial"/>
              </a:rPr>
              <a:t> against standard databases (like NOAA GOES), leading to uncalibrated alerts and high false alarm rates.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950">
                <a:latin typeface="Arial"/>
              </a:defRPr>
            </a:pPr>
            <a:r>
              <a:rPr sz="950" b="0">
                <a:solidFill>
                  <a:srgbClr val="282828"/>
                </a:solidFill>
                <a:latin typeface="Arial"/>
              </a:rPr>
              <a:t>• Our hybrid architecture fuses </a:t>
            </a:r>
            <a:r>
              <a:rPr sz="950" b="1">
                <a:solidFill>
                  <a:srgbClr val="282828"/>
                </a:solidFill>
                <a:latin typeface="Arial"/>
              </a:rPr>
              <a:t>physics-informed constraints</a:t>
            </a:r>
            <a:r>
              <a:rPr sz="950" b="0">
                <a:solidFill>
                  <a:srgbClr val="282828"/>
                </a:solidFill>
                <a:latin typeface="Arial"/>
              </a:rPr>
              <a:t> with machine learning to ensure both operational viability and meteorological accuracy.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94960" y="914400"/>
            <a:ext cx="3474720" cy="3840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0" y="1005840"/>
            <a:ext cx="3291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880" b="0">
                <a:solidFill>
                  <a:srgbClr val="282828"/>
                </a:solidFill>
                <a:latin typeface="Arial"/>
              </a:rPr>
              <a:t>• </a:t>
            </a:r>
            <a:r>
              <a:rPr sz="880" b="1">
                <a:solidFill>
                  <a:srgbClr val="282828"/>
                </a:solidFill>
                <a:latin typeface="Arial"/>
              </a:rPr>
              <a:t>Strictly Causal Design</a:t>
            </a:r>
            <a:r>
              <a:rPr sz="880" b="0">
                <a:solidFill>
                  <a:srgbClr val="282828"/>
                </a:solidFill>
                <a:latin typeface="Arial"/>
              </a:rPr>
              <a:t>: 100% past-only rolling baseline calculations ensure direct compatibility with real-time telemetry streams.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880" b="0">
                <a:solidFill>
                  <a:srgbClr val="282828"/>
                </a:solidFill>
                <a:latin typeface="Arial"/>
              </a:rPr>
              <a:t>• </a:t>
            </a:r>
            <a:r>
              <a:rPr sz="880" b="1">
                <a:solidFill>
                  <a:srgbClr val="282828"/>
                </a:solidFill>
                <a:latin typeface="Arial"/>
              </a:rPr>
              <a:t>93.2% Verified Recall</a:t>
            </a:r>
            <a:r>
              <a:rPr sz="880" b="0">
                <a:solidFill>
                  <a:srgbClr val="282828"/>
                </a:solidFill>
                <a:latin typeface="Arial"/>
              </a:rPr>
              <a:t>: Successfully identified 68 out of 73 major NOAA GOES reference events.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880" b="0">
                <a:solidFill>
                  <a:srgbClr val="282828"/>
                </a:solidFill>
                <a:latin typeface="Arial"/>
              </a:rPr>
              <a:t>• </a:t>
            </a:r>
            <a:r>
              <a:rPr sz="880" b="1">
                <a:solidFill>
                  <a:srgbClr val="282828"/>
                </a:solidFill>
                <a:latin typeface="Arial"/>
              </a:rPr>
              <a:t>Microflare Discovery</a:t>
            </a:r>
            <a:r>
              <a:rPr sz="880" b="0">
                <a:solidFill>
                  <a:srgbClr val="282828"/>
                </a:solidFill>
                <a:latin typeface="Arial"/>
              </a:rPr>
              <a:t>: Found 136 sub-threshold events (including a 679s event absent from official catalogs).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880" b="0">
                <a:solidFill>
                  <a:srgbClr val="282828"/>
                </a:solidFill>
                <a:latin typeface="Arial"/>
              </a:rPr>
              <a:t>• </a:t>
            </a:r>
            <a:r>
              <a:rPr sz="880" b="1">
                <a:solidFill>
                  <a:srgbClr val="282828"/>
                </a:solidFill>
                <a:latin typeface="Arial"/>
              </a:rPr>
              <a:t>10-Tab Space Weather HUD</a:t>
            </a:r>
            <a:r>
              <a:rPr sz="880" b="0">
                <a:solidFill>
                  <a:srgbClr val="282828"/>
                </a:solidFill>
                <a:latin typeface="Arial"/>
              </a:rPr>
              <a:t>: Integrates CME drag-based model, Parker Spiral tracing, and Tikhonov regularized DEM solver.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SuryaDrishti Architecture: Real-Time Pipeline Features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1: Ingestion &amp; Alignment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Harmonizes raw SoLEXS &amp; HEL1OS FITS telemetry to Unix epoch, merging them on 1-second cadence (259,071 overlap points).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2: Causal Nowcasting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Zero-lookahead baseline thresholding (Counts &gt; Median + n × σ) with 120s event merging to prevent fragmentation.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3: ML Forecasting Prototype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RandomForest trained on precursor features (hardness ratio, QPPs) with balanced class weights to handle 98.5% data imbalance.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4: 10-Tab Scientific Dashboard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Runs locally in &lt;100ms on commodity hardware, offering 3D Sun disk, CME tracking, SEP spiral, and AI assistant.</a:t>
            </a:r>
          </a:p>
        </p:txBody>
      </p:sp>
      <p:pic>
        <p:nvPicPr>
          <p:cNvPr id="78" name="Picture 77" descr="solexs_plot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1920240" cy="13716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754880" y="2514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1: Nowcast Baseline</a:t>
            </a:r>
          </a:p>
        </p:txBody>
      </p:sp>
      <p:pic>
        <p:nvPicPr>
          <p:cNvPr id="80" name="Picture 79" descr="solexs_event_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97280"/>
            <a:ext cx="1920240" cy="13716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0" y="2514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2: Event Zoom</a:t>
            </a:r>
          </a:p>
        </p:txBody>
      </p:sp>
      <p:pic>
        <p:nvPicPr>
          <p:cNvPr id="82" name="Picture 81" descr="solexs_plot_202606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1920240" cy="13716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754880" y="43434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3: M-Class Flare</a:t>
            </a:r>
          </a:p>
        </p:txBody>
      </p:sp>
      <p:pic>
        <p:nvPicPr>
          <p:cNvPr id="84" name="Picture 83" descr="solexs_threshold_202606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926080"/>
            <a:ext cx="1920240" cy="13716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858000" y="43434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4: Nowcast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TextBox 81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Real-Time Telemetry Processing &amp; Nowcast Flow</a:t>
            </a:r>
          </a:p>
        </p:txBody>
      </p:sp>
      <p:sp>
        <p:nvSpPr>
          <p:cNvPr id="6" name="Google Shape;135;p3">
            <a:extLst>
              <a:ext uri="{FF2B5EF4-FFF2-40B4-BE49-F238E27FC236}">
                <a16:creationId xmlns:a16="http://schemas.microsoft.com/office/drawing/2014/main" xmlns="" id="{1BAD1CF2-DD90-0DC4-224B-EFC9B133780B}"/>
              </a:ext>
            </a:extLst>
          </p:cNvPr>
          <p:cNvSpPr txBox="1"/>
          <p:nvPr/>
        </p:nvSpPr>
        <p:spPr>
          <a:xfrm>
            <a:off x="6791095" y="2454315"/>
            <a:ext cx="155448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750" b="1">
                <a:latin typeface="Arial"/>
              </a:defRPr>
            </a:pPr>
            <a:r>
              <a:t>Aditya-L1 Spacecraft</a:t>
            </a:r>
            <a:endParaRPr dirty="0"/>
          </a:p>
        </p:txBody>
      </p:sp>
      <p:sp>
        <p:nvSpPr>
          <p:cNvPr id="7" name="Google Shape;141;p3">
            <a:extLst>
              <a:ext uri="{FF2B5EF4-FFF2-40B4-BE49-F238E27FC236}">
                <a16:creationId xmlns:a16="http://schemas.microsoft.com/office/drawing/2014/main" xmlns="" id="{CC7A73E3-768B-32C9-BEFF-83A16902999C}"/>
              </a:ext>
            </a:extLst>
          </p:cNvPr>
          <p:cNvSpPr txBox="1"/>
          <p:nvPr/>
        </p:nvSpPr>
        <p:spPr>
          <a:xfrm>
            <a:off x="5993221" y="3238982"/>
            <a:ext cx="1371600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750" b="1">
                <a:latin typeface="Arial"/>
              </a:defRPr>
            </a:pPr>
            <a:r>
              <a:t>ISSDC Portal Feed</a:t>
            </a:r>
            <a:endParaRPr dirty="0"/>
          </a:p>
        </p:txBody>
      </p:sp>
      <p:pic>
        <p:nvPicPr>
          <p:cNvPr id="8" name="Google Shape;131;p3">
            <a:extLst>
              <a:ext uri="{FF2B5EF4-FFF2-40B4-BE49-F238E27FC236}">
                <a16:creationId xmlns:a16="http://schemas.microsoft.com/office/drawing/2014/main" xmlns="" id="{1920C9FE-D080-DDA2-7222-5FEC7139BC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396366" y="2719396"/>
            <a:ext cx="687288" cy="5046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Cylinder 81">
            <a:extLst>
              <a:ext uri="{FF2B5EF4-FFF2-40B4-BE49-F238E27FC236}">
                <a16:creationId xmlns:a16="http://schemas.microsoft.com/office/drawing/2014/main" xmlns="" id="{457C3236-13B1-55DD-F365-6EAB4DFE40B3}"/>
              </a:ext>
            </a:extLst>
          </p:cNvPr>
          <p:cNvSpPr/>
          <p:nvPr/>
        </p:nvSpPr>
        <p:spPr>
          <a:xfrm rot="16200000">
            <a:off x="5013576" y="2538837"/>
            <a:ext cx="253436" cy="809991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 wrap="square" lIns="18288" rIns="18288" tIns="18288" bIns="18288"/>
          <a:lstStyle/>
          <a:p>
            <a:pPr algn="ctr">
              <a:defRPr sz="750"/>
            </a:pP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47D94820-7554-81E7-63C2-8F456B19A5D9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545290" y="2943831"/>
            <a:ext cx="7256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D14415A-07E5-2F13-1192-851BD4E7EAC5}"/>
              </a:ext>
            </a:extLst>
          </p:cNvPr>
          <p:cNvSpPr txBox="1"/>
          <p:nvPr/>
        </p:nvSpPr>
        <p:spPr>
          <a:xfrm>
            <a:off x="4519647" y="3118078"/>
            <a:ext cx="1463040" cy="392415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>
              <a:defRPr sz="750" b="1">
                <a:latin typeface="Arial"/>
              </a:defRPr>
            </a:pPr>
            <a:r>
              <a:t>Calibration &amp; Alignment</a:t>
            </a:r>
            <a:endParaRPr lang="en-US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E3D4A5D2-2B49-B656-F1BF-E92A0987B08A}"/>
              </a:ext>
            </a:extLst>
          </p:cNvPr>
          <p:cNvGrpSpPr/>
          <p:nvPr/>
        </p:nvGrpSpPr>
        <p:grpSpPr>
          <a:xfrm>
            <a:off x="4771550" y="2484059"/>
            <a:ext cx="706427" cy="220290"/>
            <a:chOff x="5484122" y="2950165"/>
            <a:chExt cx="1139702" cy="355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DE84EBED-C147-F3E8-B97A-EA58314FE401}"/>
                </a:ext>
              </a:extLst>
            </p:cNvPr>
            <p:cNvSpPr/>
            <p:nvPr/>
          </p:nvSpPr>
          <p:spPr>
            <a:xfrm>
              <a:off x="5583044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742BCBED-2DAC-4460-9A2B-23E98C93B751}"/>
                </a:ext>
              </a:extLst>
            </p:cNvPr>
            <p:cNvSpPr/>
            <p:nvPr/>
          </p:nvSpPr>
          <p:spPr>
            <a:xfrm>
              <a:off x="5843628" y="3024771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8D5E7DC-B5DB-DAC2-E3C9-9A7B4BC014DE}"/>
                </a:ext>
              </a:extLst>
            </p:cNvPr>
            <p:cNvSpPr/>
            <p:nvPr/>
          </p:nvSpPr>
          <p:spPr>
            <a:xfrm>
              <a:off x="6104212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82176083-CBB5-5A1E-52E3-7552632D512E}"/>
                </a:ext>
              </a:extLst>
            </p:cNvPr>
            <p:cNvSpPr/>
            <p:nvPr/>
          </p:nvSpPr>
          <p:spPr>
            <a:xfrm>
              <a:off x="6362831" y="3024770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72451BB0-43F3-14B9-6F56-0FB8C7CBD0C9}"/>
                </a:ext>
              </a:extLst>
            </p:cNvPr>
            <p:cNvCxnSpPr/>
            <p:nvPr/>
          </p:nvCxnSpPr>
          <p:spPr>
            <a:xfrm>
              <a:off x="5484122" y="2950165"/>
              <a:ext cx="107943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B0AD8555-4FB5-BE91-0D73-485C8D9654A4}"/>
                </a:ext>
              </a:extLst>
            </p:cNvPr>
            <p:cNvCxnSpPr/>
            <p:nvPr/>
          </p:nvCxnSpPr>
          <p:spPr>
            <a:xfrm>
              <a:off x="5484122" y="3305567"/>
              <a:ext cx="113970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DB532CEC-937A-5084-1586-D4820DCAE154}"/>
              </a:ext>
            </a:extLst>
          </p:cNvPr>
          <p:cNvCxnSpPr>
            <a:cxnSpLocks/>
          </p:cNvCxnSpPr>
          <p:nvPr/>
        </p:nvCxnSpPr>
        <p:spPr>
          <a:xfrm flipH="1">
            <a:off x="4033563" y="2966883"/>
            <a:ext cx="6519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83B15A1-5E20-40A6-3708-0E1FDD72C8AD}"/>
              </a:ext>
            </a:extLst>
          </p:cNvPr>
          <p:cNvSpPr txBox="1"/>
          <p:nvPr/>
        </p:nvSpPr>
        <p:spPr>
          <a:xfrm>
            <a:off x="3055415" y="3236739"/>
            <a:ext cx="1554480" cy="392415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>
              <a:defRPr sz="750" b="1">
                <a:latin typeface="Arial"/>
              </a:defRPr>
            </a:pPr>
            <a:r>
              <a:t>Nowcasting &amp;</a:t>
            </a:r>
            <a:br/>
            <a:r>
              <a:t>Forecasting Model</a:t>
            </a:r>
          </a:p>
        </p:txBody>
      </p:sp>
      <p:cxnSp>
        <p:nvCxnSpPr>
          <p:cNvPr id="21" name="Connector: Elbow 108">
            <a:extLst>
              <a:ext uri="{FF2B5EF4-FFF2-40B4-BE49-F238E27FC236}">
                <a16:creationId xmlns:a16="http://schemas.microsoft.com/office/drawing/2014/main" xmlns="" id="{C455C234-819C-058F-439A-135328E8E3A6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7155379" y="2530874"/>
            <a:ext cx="281796" cy="54411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4DAD74A-E921-2BC3-2C29-A9643F7588CA}"/>
              </a:ext>
            </a:extLst>
          </p:cNvPr>
          <p:cNvCxnSpPr>
            <a:cxnSpLocks/>
          </p:cNvCxnSpPr>
          <p:nvPr/>
        </p:nvCxnSpPr>
        <p:spPr>
          <a:xfrm flipV="1">
            <a:off x="3673748" y="3861775"/>
            <a:ext cx="3030825" cy="38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52D864D9-2EC6-274F-8A17-A7F3ABA13E24}"/>
              </a:ext>
            </a:extLst>
          </p:cNvPr>
          <p:cNvCxnSpPr/>
          <p:nvPr/>
        </p:nvCxnSpPr>
        <p:spPr>
          <a:xfrm flipV="1">
            <a:off x="6647596" y="3518819"/>
            <a:ext cx="0" cy="342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5D0ECE85-E781-8B06-6920-2231F74DB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44" y="3814158"/>
            <a:ext cx="371340" cy="371340"/>
          </a:xfrm>
          <a:prstGeom prst="rect">
            <a:avLst/>
          </a:prstGeom>
        </p:spPr>
      </p:pic>
      <p:cxnSp>
        <p:nvCxnSpPr>
          <p:cNvPr id="25" name="Connector: Elbow 127">
            <a:extLst>
              <a:ext uri="{FF2B5EF4-FFF2-40B4-BE49-F238E27FC236}">
                <a16:creationId xmlns:a16="http://schemas.microsoft.com/office/drawing/2014/main" xmlns="" id="{099C9F60-42BF-EFEE-AE95-27992D529E97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>
            <a:off x="3396366" y="2971717"/>
            <a:ext cx="4015260" cy="1074675"/>
          </a:xfrm>
          <a:prstGeom prst="bentConnector3">
            <a:avLst>
              <a:gd name="adj1" fmla="val 10427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B1273DB4-B989-3569-DBD4-D450D2976D65}"/>
              </a:ext>
            </a:extLst>
          </p:cNvPr>
          <p:cNvSpPr txBox="1"/>
          <p:nvPr/>
        </p:nvSpPr>
        <p:spPr>
          <a:xfrm>
            <a:off x="5894088" y="2533923"/>
            <a:ext cx="506463" cy="196207"/>
          </a:xfrm>
          <a:prstGeom prst="rect">
            <a:avLst/>
          </a:prstGeom>
          <a:noFill/>
        </p:spPr>
        <p:txBody>
          <a:bodyPr wrap="square" rtlCol="0" lIns="18288" rIns="18288" tIns="18288" bIns="18288">
            <a:spAutoFit/>
          </a:bodyPr>
          <a:lstStyle/>
          <a:p>
            <a:pPr>
              <a:defRPr sz="750"/>
            </a:pPr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81193530-9E56-8129-4FFC-B7367A3E9FF8}"/>
              </a:ext>
            </a:extLst>
          </p:cNvPr>
          <p:cNvSpPr txBox="1"/>
          <p:nvPr/>
        </p:nvSpPr>
        <p:spPr>
          <a:xfrm>
            <a:off x="6376750" y="2312514"/>
            <a:ext cx="690252" cy="196207"/>
          </a:xfrm>
          <a:prstGeom prst="rect">
            <a:avLst/>
          </a:prstGeom>
          <a:noFill/>
        </p:spPr>
        <p:txBody>
          <a:bodyPr wrap="square" rtlCol="0" lIns="18288" rIns="18288" tIns="18288" bIns="18288">
            <a:spAutoFit/>
          </a:bodyPr>
          <a:lstStyle/>
          <a:p>
            <a:pPr>
              <a:defRPr sz="750"/>
            </a:pPr>
            <a:r>
              <a:rPr lang="en-IN" sz="1100" dirty="0"/>
              <a:t>predicted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232A70D-8794-F136-7076-9F889734E78B}"/>
              </a:ext>
            </a:extLst>
          </p:cNvPr>
          <p:cNvSpPr txBox="1"/>
          <p:nvPr/>
        </p:nvSpPr>
        <p:spPr>
          <a:xfrm>
            <a:off x="3916979" y="3838643"/>
            <a:ext cx="1280160" cy="207749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>
              <a:defRPr sz="750" b="1">
                <a:latin typeface="Arial"/>
              </a:defRPr>
            </a:pPr>
            <a:r>
              <a:t>Alert Levels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772E8F1C-3F6E-28A8-FB39-C9C8A6F153CE}"/>
              </a:ext>
            </a:extLst>
          </p:cNvPr>
          <p:cNvSpPr txBox="1"/>
          <p:nvPr/>
        </p:nvSpPr>
        <p:spPr>
          <a:xfrm>
            <a:off x="4735298" y="2283030"/>
            <a:ext cx="1113236" cy="207749"/>
          </a:xfrm>
          <a:prstGeom prst="rect">
            <a:avLst/>
          </a:prstGeom>
          <a:noFill/>
        </p:spPr>
        <p:txBody>
          <a:bodyPr wrap="square" rtlCol="0" lIns="18288" rIns="18288" tIns="18288" bIns="18288">
            <a:spAutoFit/>
          </a:bodyPr>
          <a:lstStyle/>
          <a:p>
            <a:pPr>
              <a:defRPr sz="750">
                <a:latin typeface="Arial"/>
              </a:defRPr>
            </a:pPr>
            <a:r>
              <a:t>Merged Telemetry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D2DD5D9-CCF3-AF0E-698F-F0B3E53C1F78}"/>
              </a:ext>
            </a:extLst>
          </p:cNvPr>
          <p:cNvSpPr txBox="1"/>
          <p:nvPr/>
        </p:nvSpPr>
        <p:spPr>
          <a:xfrm>
            <a:off x="5724959" y="4026605"/>
            <a:ext cx="1463040" cy="190770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>
              <a:defRPr sz="750" b="1">
                <a:latin typeface="Arial"/>
              </a:defRPr>
            </a:pPr>
            <a:r>
              <a:t>GOES Calibration</a:t>
            </a:r>
            <a:endParaRPr lang="en-US" dirty="0"/>
          </a:p>
        </p:txBody>
      </p:sp>
      <p:cxnSp>
        <p:nvCxnSpPr>
          <p:cNvPr id="31" name="Connector: Curved 15">
            <a:extLst>
              <a:ext uri="{FF2B5EF4-FFF2-40B4-BE49-F238E27FC236}">
                <a16:creationId xmlns:a16="http://schemas.microsoft.com/office/drawing/2014/main" xmlns="" id="{B1DB6B82-92FF-FC1D-1A3A-5CBCF35F6C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78581" y="2291880"/>
            <a:ext cx="425319" cy="249873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23F591D-BF25-65CF-2B14-BF31387239E7}"/>
              </a:ext>
            </a:extLst>
          </p:cNvPr>
          <p:cNvSpPr txBox="1"/>
          <p:nvPr/>
        </p:nvSpPr>
        <p:spPr>
          <a:xfrm>
            <a:off x="6917211" y="3518016"/>
            <a:ext cx="506463" cy="196207"/>
          </a:xfrm>
          <a:prstGeom prst="rect">
            <a:avLst/>
          </a:prstGeom>
          <a:noFill/>
        </p:spPr>
        <p:txBody>
          <a:bodyPr wrap="square" rtlCol="0" lIns="18288" rIns="18288" tIns="18288" bIns="18288">
            <a:spAutoFit/>
          </a:bodyPr>
          <a:lstStyle/>
          <a:p>
            <a:pPr>
              <a:defRPr sz="750"/>
            </a:pPr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1791E922-37B3-ECC1-AF3E-037E71810B6E}"/>
              </a:ext>
            </a:extLst>
          </p:cNvPr>
          <p:cNvSpPr txBox="1"/>
          <p:nvPr/>
        </p:nvSpPr>
        <p:spPr>
          <a:xfrm>
            <a:off x="7293939" y="3196247"/>
            <a:ext cx="622796" cy="196207"/>
          </a:xfrm>
          <a:prstGeom prst="rect">
            <a:avLst/>
          </a:prstGeom>
          <a:noFill/>
        </p:spPr>
        <p:txBody>
          <a:bodyPr wrap="square" rtlCol="0" lIns="18288" rIns="18288" tIns="18288" bIns="18288">
            <a:spAutoFit/>
          </a:bodyPr>
          <a:lstStyle/>
          <a:p>
            <a:pPr>
              <a:defRPr sz="750"/>
            </a:pPr>
            <a:r>
              <a:rPr lang="en-IN" sz="1100" dirty="0"/>
              <a:t>predicted</a:t>
            </a:r>
            <a:endParaRPr lang="en-US" dirty="0"/>
          </a:p>
        </p:txBody>
      </p:sp>
      <p:cxnSp>
        <p:nvCxnSpPr>
          <p:cNvPr id="34" name="Connector: Curved 22">
            <a:extLst>
              <a:ext uri="{FF2B5EF4-FFF2-40B4-BE49-F238E27FC236}">
                <a16:creationId xmlns:a16="http://schemas.microsoft.com/office/drawing/2014/main" xmlns="" id="{9086B0E6-E507-6086-841E-27F8B58E0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29417" y="3212853"/>
            <a:ext cx="589520" cy="556829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08CD317-4A71-F492-8F05-D4599CE77EAA}"/>
              </a:ext>
            </a:extLst>
          </p:cNvPr>
          <p:cNvSpPr txBox="1"/>
          <p:nvPr/>
        </p:nvSpPr>
        <p:spPr>
          <a:xfrm>
            <a:off x="5448954" y="1399512"/>
            <a:ext cx="1463040" cy="207749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 algn="ctr">
              <a:defRPr sz="750" b="1">
                <a:solidFill>
                  <a:srgbClr val="0A192F"/>
                </a:solidFill>
                <a:latin typeface="Arial"/>
              </a:defRPr>
            </a:pPr>
            <a:r>
              <a:t>Operator Dashboard</a:t>
            </a:r>
            <a:endParaRPr lang="en-US" sz="1200" dirty="0"/>
          </a:p>
        </p:txBody>
      </p:sp>
      <p:cxnSp>
        <p:nvCxnSpPr>
          <p:cNvPr id="36" name="Connector: Curved 43">
            <a:extLst>
              <a:ext uri="{FF2B5EF4-FFF2-40B4-BE49-F238E27FC236}">
                <a16:creationId xmlns:a16="http://schemas.microsoft.com/office/drawing/2014/main" xmlns="" id="{33958795-2E69-057C-FFA5-05DBCC5515D3}"/>
              </a:ext>
            </a:extLst>
          </p:cNvPr>
          <p:cNvCxnSpPr/>
          <p:nvPr/>
        </p:nvCxnSpPr>
        <p:spPr>
          <a:xfrm rot="10800000">
            <a:off x="4267971" y="1900104"/>
            <a:ext cx="1345260" cy="28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C3C8AFB6-FF5D-8AEC-1CEE-AECBA2F350CA}"/>
              </a:ext>
            </a:extLst>
          </p:cNvPr>
          <p:cNvSpPr txBox="1"/>
          <p:nvPr/>
        </p:nvSpPr>
        <p:spPr>
          <a:xfrm>
            <a:off x="2513999" y="2539125"/>
            <a:ext cx="803457" cy="230832"/>
          </a:xfrm>
          <a:prstGeom prst="rect">
            <a:avLst/>
          </a:prstGeom>
          <a:noFill/>
        </p:spPr>
        <p:txBody>
          <a:bodyPr wrap="square" rtlCol="0" lIns="18288" rIns="18288" tIns="18288" bIns="18288">
            <a:spAutoFit/>
          </a:bodyPr>
          <a:lstStyle/>
          <a:p>
            <a:pPr>
              <a:defRPr sz="750"/>
            </a:pPr>
            <a:r>
              <a:rPr lang="en-US" dirty="0"/>
              <a:t>(POC)</a:t>
            </a:r>
          </a:p>
        </p:txBody>
      </p:sp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966" y="1416464"/>
            <a:ext cx="2327597" cy="115201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826" y="2546624"/>
            <a:ext cx="754380" cy="754380"/>
          </a:xfrm>
          <a:prstGeom prst="rect">
            <a:avLst/>
          </a:prstGeom>
        </p:spPr>
      </p:pic>
      <p:pic>
        <p:nvPicPr>
          <p:cNvPr id="40" name="Picture 39" descr="page_5_img_10_Image6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6700" y="1669397"/>
            <a:ext cx="767548" cy="475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TextBox 87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Space Weather Operations &amp; Alerts HUD</a:t>
            </a:r>
          </a:p>
        </p:txBody>
      </p:sp>
      <p:pic>
        <p:nvPicPr>
          <p:cNvPr id="89" name="Picture 88" descr="dashboard_initial_17826446451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4937760" cy="292608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57200" y="411480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6: Live Space Weather Operator Dashboard (v3.0 HUD)</a:t>
            </a:r>
          </a:p>
        </p:txBody>
      </p:sp>
      <p:pic>
        <p:nvPicPr>
          <p:cNvPr id="91" name="Picture 90" descr="maximized_peak_flare_17826165298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097280"/>
            <a:ext cx="3017520" cy="1691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669280" y="283464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A192F"/>
                </a:solidFill>
                <a:latin typeface="Arial"/>
              </a:defRPr>
            </a:pPr>
            <a:r>
              <a:t>Figure 7: Live Operator Flare Alert HUD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0" y="31089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Dashboard Details:</a:t>
            </a:r>
          </a:p>
          <a:p>
            <a:pPr>
              <a:spcAft>
                <a:spcPts val="200"/>
              </a:spcAft>
              <a:defRPr sz="850">
                <a:solidFill>
                  <a:srgbClr val="282828"/>
                </a:solidFill>
                <a:latin typeface="Arial"/>
              </a:defRPr>
            </a:pPr>
            <a:r>
              <a:t>• Real-time interactive operator interface featuring 3D rotating Sun disk composite.</a:t>
            </a:r>
          </a:p>
          <a:p>
            <a:pPr>
              <a:spcAft>
                <a:spcPts val="200"/>
              </a:spcAft>
              <a:defRPr sz="850">
                <a:solidFill>
                  <a:srgbClr val="282828"/>
                </a:solidFill>
                <a:latin typeface="Arial"/>
              </a:defRPr>
            </a:pPr>
            <a:r>
              <a:t>• Simultaneous soft/hard X-ray counts telemetry tracking.</a:t>
            </a:r>
          </a:p>
          <a:p>
            <a:pPr>
              <a:spcAft>
                <a:spcPts val="200"/>
              </a:spcAft>
              <a:defRPr sz="850">
                <a:solidFill>
                  <a:srgbClr val="282828"/>
                </a:solidFill>
                <a:latin typeface="Arial"/>
              </a:defRPr>
            </a:pPr>
            <a:r>
              <a:t>• Live SEP Risk Parker Spiral connection and CME propagation countdown 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TextBox 93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Multi-Spacecraft Sensor Fusion &amp; Physics Core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1097280"/>
            <a:ext cx="43891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Data Architecture &amp; Physics Precursors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Thermal (SoLEXS)</a:t>
            </a:r>
            <a:r>
              <a:rPr sz="900" b="0">
                <a:solidFill>
                  <a:srgbClr val="282828"/>
                </a:solidFill>
                <a:latin typeface="Arial"/>
              </a:rPr>
              <a:t>: Rolling mean and slope capture chromospheric evaporation rise.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Non-Thermal (HEL1OS)</a:t>
            </a:r>
            <a:r>
              <a:rPr sz="900" b="0">
                <a:solidFill>
                  <a:srgbClr val="282828"/>
                </a:solidFill>
                <a:latin typeface="Arial"/>
              </a:rPr>
              <a:t>: Rolling standard deviation isolates high-frequency QPP variance.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Hardness Ratio</a:t>
            </a:r>
            <a:r>
              <a:rPr sz="900" b="0">
                <a:solidFill>
                  <a:srgbClr val="282828"/>
                </a:solidFill>
                <a:latin typeface="Arial"/>
              </a:rPr>
              <a:t>: HR = Counts_HEL1OS / Counts_SoLEXS models non-thermal conversion (Neupert Effect).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Anti-Leakage Split</a:t>
            </a:r>
            <a:r>
              <a:rPr sz="900" b="0">
                <a:solidFill>
                  <a:srgbClr val="282828"/>
                </a:solidFill>
                <a:latin typeface="Arial"/>
              </a:rPr>
              <a:t>: Chronological time-series splitting prevents temporal data leakage.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Physics-Informed Core Layers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Regularized DEM</a:t>
            </a:r>
            <a:r>
              <a:rPr sz="900" b="0">
                <a:solidFill>
                  <a:srgbClr val="282828"/>
                </a:solidFill>
                <a:latin typeface="Arial"/>
              </a:rPr>
              <a:t>: Coronal temperature distribution solved in real-time using Tikhonov deconvolution: E = K · DEM + λ‖L · DEM‖².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Hydrodynamic PINN Loss</a:t>
            </a:r>
            <a:r>
              <a:rPr sz="900" b="0">
                <a:solidFill>
                  <a:srgbClr val="282828"/>
                </a:solidFill>
                <a:latin typeface="Arial"/>
              </a:rPr>
              <a:t>: Physical energy conservation constraints loop: L_PINN = ∂E/∂t + ∂F/∂s + n²Λ(T) - H.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RandomForest Classifier</a:t>
            </a:r>
            <a:r>
              <a:rPr sz="900" b="0">
                <a:solidFill>
                  <a:srgbClr val="282828"/>
                </a:solidFill>
                <a:latin typeface="Arial"/>
              </a:rPr>
              <a:t>: Predicts peak intensity classes 30 minutes in advance using balanced class weights.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11887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A192F"/>
                </a:solidFill>
              </a:defRPr>
            </a:pPr>
            <a:r>
              <a:t>Raw Telemetry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49240" y="11887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➔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23560" y="1005840"/>
            <a:ext cx="1143000" cy="6858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SoLEXS (Soft X-rays)</a:t>
            </a:r>
            <a:br/>
            <a:r>
              <a:t>Thermal Precursors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84848" y="11887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040880" y="1005840"/>
            <a:ext cx="1143000" cy="6858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Spatio-Temporal</a:t>
            </a:r>
            <a:br/>
            <a:r>
              <a:t>Alignment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11312" y="11887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458200" y="1005840"/>
            <a:ext cx="1143000" cy="6858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HEL1OS (Hard X-rays)</a:t>
            </a:r>
            <a:br/>
            <a:r>
              <a:t>Non-thermal Precursors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623560" y="1920240"/>
            <a:ext cx="3977639" cy="5029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92F"/>
                </a:solidFill>
              </a:defRPr>
            </a:pPr>
            <a:r>
              <a:t>Physics Precursors (Rolling Mean/Std)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98079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⬇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040880" y="2834640"/>
            <a:ext cx="1143000" cy="868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Causal Nowcaster</a:t>
            </a:r>
            <a:br/>
            <a:r>
              <a:t>(Thresholding)</a:t>
            </a:r>
            <a:br/>
            <a:r>
              <a:t>Forecast Target</a:t>
            </a:r>
          </a:p>
        </p:txBody>
      </p:sp>
      <p:pic>
        <p:nvPicPr>
          <p:cNvPr id="106" name="Picture 105" descr="page_7_img_2_Image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834640"/>
            <a:ext cx="1143000" cy="6858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532120" y="356616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A192F"/>
                </a:solidFill>
              </a:defRPr>
            </a:pPr>
            <a:r>
              <a:t>RandomForest Core</a:t>
            </a:r>
            <a:br/>
            <a:r>
              <a:t>(Balanced Weights)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84848" y="3063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040880" y="3977639"/>
            <a:ext cx="1143000" cy="4572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Microflare Discovery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98079" y="3703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⬇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0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0A192F"/>
                </a:solidFill>
              </a:defRPr>
            </a:pPr>
            <a:r>
              <a:t>Spectral Hardness</a:t>
            </a:r>
            <a:br/>
            <a:r>
              <a:t>Ratio (Neupert Effect)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32120" y="178308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9664"/>
                </a:solidFill>
              </a:defRPr>
            </a:pPr>
            <a:r>
              <a:t>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80560" y="2651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0A192F"/>
                </a:solidFill>
              </a:defRPr>
            </a:pPr>
            <a:r>
              <a:t>Unix Time Integration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32120" y="269748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9664"/>
                </a:solidFill>
              </a:defRPr>
            </a:pPr>
            <a:r>
              <a:t>↗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480560" y="3566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0A192F"/>
                </a:solidFill>
              </a:defRPr>
            </a:pPr>
            <a:r>
              <a:t>GOES Benchmarking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32120" y="361188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9664"/>
                </a:solidFill>
              </a:defRPr>
            </a:pPr>
            <a:r>
              <a:t>↗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82828"/>
                </a:solidFill>
                <a:latin typeface="Arial"/>
              </a:defRPr>
            </a:pPr>
            <a:r>
              <a:t>* POC developed on Aditya-L1 telemetry (259,071 overlap timestamps, 16 flares).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Open-Source Scientific Software Stack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1. Data Ingestion &amp; Align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astropy</a:t>
            </a:r>
            <a:r>
              <a:rPr sz="919" b="0">
                <a:solidFill>
                  <a:srgbClr val="282828"/>
                </a:solidFill>
                <a:latin typeface="Arial"/>
              </a:rPr>
              <a:t>: Core FITS parsing and MJD (Modified Julian Date) time system conversions.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pandas &amp; numpy</a:t>
            </a:r>
            <a:r>
              <a:rPr sz="919" b="0">
                <a:solidFill>
                  <a:srgbClr val="282828"/>
                </a:solidFill>
                <a:latin typeface="Arial"/>
              </a:rPr>
              <a:t>: Cadence alignment, time-series interpolation, and rolling statistical features extraction.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scipy</a:t>
            </a:r>
            <a:r>
              <a:rPr sz="919" b="0">
                <a:solidFill>
                  <a:srgbClr val="282828"/>
                </a:solidFill>
                <a:latin typeface="Arial"/>
              </a:rPr>
              <a:t>: Signal smoothing, FFT bandpass filtering, and power spectrum density calculation.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2. Core Models &amp; Physics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scikit-learn</a:t>
            </a:r>
            <a:r>
              <a:rPr sz="919" b="0">
                <a:solidFill>
                  <a:srgbClr val="282828"/>
                </a:solidFill>
                <a:latin typeface="Arial"/>
              </a:rPr>
              <a:t>: RandomForest classifier configured with balanced weights to handle severe class imbalance.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Tikhonov regularizer</a:t>
            </a:r>
            <a:r>
              <a:rPr sz="919" b="0">
                <a:solidFill>
                  <a:srgbClr val="282828"/>
                </a:solidFill>
                <a:latin typeface="Arial"/>
              </a:rPr>
              <a:t>: Regularized matrix inversion for real-time DEM temperature extraction.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CME DBM</a:t>
            </a:r>
            <a:r>
              <a:rPr sz="919" b="0">
                <a:solidFill>
                  <a:srgbClr val="282828"/>
                </a:solidFill>
                <a:latin typeface="Arial"/>
              </a:rPr>
              <a:t>: Drag-Based Model for forecasting coronal mass ejection shock arrival times (Vrsnak 2013).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3. Real-Time Operator HUD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HTML5 &amp; Canvas</a:t>
            </a:r>
            <a:r>
              <a:rPr sz="919" b="0">
                <a:solidFill>
                  <a:srgbClr val="282828"/>
                </a:solidFill>
                <a:latin typeface="Arial"/>
              </a:rPr>
              <a:t>: Five animated canvases displaying 3D solar disk, Parker Spiral tracing, and CME orbits.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Chart.js</a:t>
            </a:r>
            <a:r>
              <a:rPr sz="919" b="0">
                <a:solidFill>
                  <a:srgbClr val="282828"/>
                </a:solidFill>
                <a:latin typeface="Arial"/>
              </a:rPr>
              <a:t>: Fast, hardware-accelerated time-series and spectral visualization plots.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Web Audio API</a:t>
            </a:r>
            <a:r>
              <a:rPr sz="919" b="0">
                <a:solidFill>
                  <a:srgbClr val="282828"/>
                </a:solidFill>
                <a:latin typeface="Arial"/>
              </a:rPr>
              <a:t>: Real-time ambient solar wind synthesizer and acoustic alarm pitch modulation.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TextBox 105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Project Cost &amp; Operational Integration</a:t>
            </a:r>
          </a:p>
        </p:txBody>
      </p:sp>
      <p:graphicFrame>
        <p:nvGraphicFramePr>
          <p:cNvPr id="107" name="Table 106"/>
          <p:cNvGraphicFramePr>
            <a:graphicFrameLocks noGrp="1"/>
          </p:cNvGraphicFramePr>
          <p:nvPr/>
        </p:nvGraphicFramePr>
        <p:xfrm>
          <a:off x="457200" y="109728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3657600"/>
              </a:tblGrid>
              <a:tr h="444137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Resource / Task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Cost (₹)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 / Allocation Strategy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44137">
                <a:tc>
                  <a:txBody>
                    <a:bodyPr wrap="square" lIns="73152" rIns="73152"/>
                    <a:lstStyle/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1. Real-time Ingestion &amp; FITS Preprocessing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Uses open-source astropy + pandas; utilizes free ISSDC server telemetry feed.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 lIns="73152" rIns="73152"/>
                    <a:lstStyle/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2. Physics Inversion Core (Tikhonov &amp; PINN)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Developed locally; physics deconvolution uses standard NumPy/SciPy algebra.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 lIns="73152" rIns="73152"/>
                    <a:lstStyle/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3. RandomForest Peak Intensity Predictor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₹15,000 / month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Cloud hosting VM + GPU compute (AWS/GCP) for continuous models retraining.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 lIns="73152" rIns="73152"/>
                    <a:lstStyle/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4. 10-Tab Space Weather HUD Dashboard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Built using React and HTML5 Canvas; operates locally on browser client side.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 lIns="73152" rIns="73152"/>
                    <a:lstStyle/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5. Prototype Maintenance &amp; Scaling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₹10,000 / month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Database maintenance (Redis/Postgres), domain SSL, and API server backup.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 wrap="square" lIns="73152" rIns="73152"/>
                    <a:lstStyle/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6. SSAC Production Feed Integration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976D2"/>
                          </a:solidFill>
                          <a:latin typeface="Arial"/>
                        </a:defRPr>
                      </a:pPr>
                      <a:r>
                        <a:t>ISRO Budget</a:t>
                      </a:r>
                    </a:p>
                  </a:txBody>
                  <a:tcPr/>
                </a:tc>
                <a:tc>
                  <a:txBody>
                    <a:bodyPr wrap="square" lIns="73152" rIns="73152"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Requires direct feed integration with Space Situational Awareness Centre.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A192F"/>
                </a:solidFill>
                <a:latin typeface="Arial"/>
              </a:defRPr>
            </a:pPr>
            <a:r>
              <a:t>Estimated Prototype Cost: ~₹25,000 / month (Zero Setup Cost on Public Data; scalable to ISRO SSAC Operations)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Rounded Rectangle 111"/>
          <p:cNvSpPr/>
          <p:nvPr/>
        </p:nvSpPr>
        <p:spPr>
          <a:xfrm>
            <a:off x="365760" y="914400"/>
            <a:ext cx="4389120" cy="3840480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00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1051560"/>
            <a:ext cx="41148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Scientific References</a:t>
            </a:r>
          </a:p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b="1" sz="800">
                <a:solidFill>
                  <a:srgbClr val="FFFFFF"/>
                </a:solidFill>
              </a:rPr>
              <a:t>Sarwade et al. 2025</a:t>
            </a:r>
            <a:r>
              <a:rPr b="0" sz="800">
                <a:solidFill>
                  <a:srgbClr val="FFFFFF"/>
                </a:solidFill>
              </a:rPr>
              <a:t>: In-flight calibration and performance of SoLEXS onboard Aditya-L1. Solar Physics.</a:t>
            </a:r>
          </a:p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b="1" sz="800">
                <a:solidFill>
                  <a:srgbClr val="FFFFFF"/>
                </a:solidFill>
              </a:rPr>
              <a:t>Nandi et al. 2025</a:t>
            </a:r>
            <a:r>
              <a:rPr b="0" sz="800">
                <a:solidFill>
                  <a:srgbClr val="FFFFFF"/>
                </a:solidFill>
              </a:rPr>
              <a:t>: Hard X-ray diagnostics of solar flares: First results from HEL1OS onboard Aditya-L1. ApJ.</a:t>
            </a:r>
          </a:p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b="1" sz="800">
                <a:solidFill>
                  <a:srgbClr val="FFFFFF"/>
                </a:solidFill>
              </a:rPr>
              <a:t>Vrsnak et al. 2013</a:t>
            </a:r>
            <a:r>
              <a:rPr b="0" sz="800">
                <a:solidFill>
                  <a:srgbClr val="FFFFFF"/>
                </a:solidFill>
              </a:rPr>
              <a:t>: Propagation of Interplanetary Coronal Mass Ejections: The Drag-Based Model. Solar Physics.</a:t>
            </a:r>
          </a:p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b="1" sz="800">
                <a:solidFill>
                  <a:srgbClr val="FFFFFF"/>
                </a:solidFill>
              </a:rPr>
              <a:t>Tylka &amp; Dietrich 2009</a:t>
            </a:r>
            <a:r>
              <a:rPr b="0" sz="800">
                <a:solidFill>
                  <a:srgbClr val="FFFFFF"/>
                </a:solidFill>
              </a:rPr>
              <a:t>: A new parameterization of solar energetic proton (SEP) spectra. ICRC.</a:t>
            </a:r>
          </a:p>
          <a:p>
            <a:pPr>
              <a:spcAft>
                <a:spcPts val="400"/>
              </a:spcAft>
              <a:defRPr sz="800">
                <a:latin typeface="Arial"/>
              </a:defRPr>
            </a:pPr>
            <a:r>
              <a:rPr b="1" sz="800">
                <a:solidFill>
                  <a:srgbClr val="FFFFFF"/>
                </a:solidFill>
              </a:rPr>
              <a:t>Dere et al. 1997</a:t>
            </a:r>
            <a:r>
              <a:rPr b="0" sz="800">
                <a:solidFill>
                  <a:srgbClr val="FFFFFF"/>
                </a:solidFill>
              </a:rPr>
              <a:t>: CHIANTI - an atomic database for emission lines. A&amp;AS.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37760" y="91440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2400">
                <a:solidFill>
                  <a:srgbClr val="00D28C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We are excited to contribute to India's space situational awareness and AI-driven space weather monitoring vision.</a:t>
            </a:r>
            <a:br/>
            <a:br/>
            <a:r>
              <a:t>Project SuryaDrishti delivers a scientifically grounded, operationally robust, and deployment-ready alert system to protect India's space assets.</a:t>
            </a:r>
          </a:p>
          <a:p>
            <a:pPr>
              <a:defRPr sz="950" b="1">
                <a:solidFill>
                  <a:srgbClr val="00D28C"/>
                </a:solidFill>
                <a:latin typeface="Arial"/>
              </a:defRPr>
            </a:pPr>
            <a:r>
              <a:t>Team: SuryaDrishti</a:t>
            </a:r>
            <a:br/>
            <a:r>
              <a:t>Institution: Adamas University / GNITS Hyderabad</a:t>
            </a:r>
            <a:br/>
            <a:r>
              <a:t>GitHub: github.com/deepshekhar555/PS15_SolarFlare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163</Words>
  <Application>Microsoft Office PowerPoint</Application>
  <PresentationFormat>On-screen Show (16:9)</PresentationFormat>
  <Paragraphs>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Google Sans Medium</vt:lpstr>
      <vt:lpstr>Arial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2</cp:revision>
  <dcterms:modified xsi:type="dcterms:W3CDTF">2026-06-30T22:30:15Z</dcterms:modified>
</cp:coreProperties>
</file>