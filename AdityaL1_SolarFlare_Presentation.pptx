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548640" cy="548640"/>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03120"/>
            <a:ext cx="10817352" cy="3200400"/>
          </a:xfrm>
          <a:prstGeom prst="rect">
            <a:avLst/>
          </a:prstGeom>
          <a:noFill/>
        </p:spPr>
        <p:txBody>
          <a:bodyPr wrap="square">
            <a:spAutoFit/>
          </a:bodyPr>
          <a:lstStyle/>
          <a:p>
            <a:pPr>
              <a:spcAft>
                <a:spcPts val="1000"/>
              </a:spcAft>
              <a:defRPr sz="4400" b="1">
                <a:solidFill>
                  <a:srgbClr val="FFFFFF"/>
                </a:solidFill>
                <a:latin typeface="Arial"/>
              </a:defRPr>
            </a:pPr>
            <a:r>
              <a:t>ISRO Bharatiya Antariksh Hackathon 2026</a:t>
            </a:r>
          </a:p>
          <a:p>
            <a:pPr>
              <a:spcAft>
                <a:spcPts val="3000"/>
              </a:spcAft>
              <a:defRPr sz="2000">
                <a:solidFill>
                  <a:srgbClr val="009664"/>
                </a:solidFill>
                <a:latin typeface="Arial"/>
              </a:defRPr>
            </a:pPr>
            <a:r>
              <a:t>Autonomous Space Weather Alert System: Real-Time Solar Flare Nowcasting and Forecasting Using ISRO Aditya-L1 X-Ray Telemetry</a:t>
            </a:r>
          </a:p>
          <a:p>
            <a:pPr>
              <a:defRPr sz="1600">
                <a:solidFill>
                  <a:srgbClr val="FFFFFF"/>
                </a:solidFill>
                <a:latin typeface="Arial"/>
              </a:defRPr>
            </a:pPr>
            <a:r>
              <a:t>Team: SuryaDrishti | Institution: Adamas University, Kolkata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Executive Summary</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120640" cy="4389120"/>
          </a:xfrm>
          <a:prstGeom prst="rect">
            <a:avLst/>
          </a:prstGeom>
          <a:noFill/>
        </p:spPr>
        <p:txBody>
          <a:bodyPr wrap="square">
            <a:spAutoFit/>
          </a:bodyPr>
          <a:lstStyle/>
          <a:p>
            <a:pPr>
              <a:spcAft>
                <a:spcPts val="1400"/>
              </a:spcAft>
              <a:defRPr sz="2200" b="1">
                <a:solidFill>
                  <a:srgbClr val="002060"/>
                </a:solidFill>
                <a:latin typeface="Arial"/>
              </a:defRPr>
            </a:pPr>
            <a:r>
              <a:t>The Space Weather Challenge</a:t>
            </a:r>
          </a:p>
          <a:p>
            <a:pPr>
              <a:spcAft>
                <a:spcPts val="1200"/>
              </a:spcAft>
              <a:defRPr sz="1500">
                <a:solidFill>
                  <a:srgbClr val="282828"/>
                </a:solidFill>
                <a:latin typeface="Arial"/>
              </a:defRPr>
            </a:pPr>
            <a:r>
              <a:t>• Solar flares release massive electromagnetic energy, posing immediate hazards to satellite electronics, GPS navigation, and ground grids.</a:t>
            </a:r>
          </a:p>
          <a:p>
            <a:pPr>
              <a:spcAft>
                <a:spcPts val="1200"/>
              </a:spcAft>
              <a:defRPr sz="1500">
                <a:solidFill>
                  <a:srgbClr val="282828"/>
                </a:solidFill>
                <a:latin typeface="Arial"/>
              </a:defRPr>
            </a:pPr>
            <a:r>
              <a:t>• Operational space-weather centers currently rely on manual expert analysis, introducing critical latencies of 15 to 30 minutes.</a:t>
            </a:r>
          </a:p>
          <a:p>
            <a:pPr>
              <a:spcAft>
                <a:spcPts val="1200"/>
              </a:spcAft>
              <a:defRPr sz="1500">
                <a:solidFill>
                  <a:srgbClr val="282828"/>
                </a:solidFill>
                <a:latin typeface="Arial"/>
              </a:defRPr>
            </a:pPr>
            <a:r>
              <a:t>• Automated, telemetry-driven nowcasting and forecasting remain open scientific and operational challenges.</a:t>
            </a:r>
          </a:p>
        </p:txBody>
      </p:sp>
      <p:sp>
        <p:nvSpPr>
          <p:cNvPr id="6" name="TextBox 5"/>
          <p:cNvSpPr txBox="1"/>
          <p:nvPr/>
        </p:nvSpPr>
        <p:spPr>
          <a:xfrm>
            <a:off x="6382512" y="1645920"/>
            <a:ext cx="5120640" cy="4389120"/>
          </a:xfrm>
          <a:prstGeom prst="rect">
            <a:avLst/>
          </a:prstGeom>
          <a:noFill/>
        </p:spPr>
        <p:txBody>
          <a:bodyPr wrap="square">
            <a:spAutoFit/>
          </a:bodyPr>
          <a:lstStyle/>
          <a:p>
            <a:pPr>
              <a:spcAft>
                <a:spcPts val="1400"/>
              </a:spcAft>
              <a:defRPr sz="2200" b="1">
                <a:solidFill>
                  <a:srgbClr val="009664"/>
                </a:solidFill>
                <a:latin typeface="Arial"/>
              </a:defRPr>
            </a:pPr>
            <a:r>
              <a:t>The SuryaDrishti Solution</a:t>
            </a:r>
          </a:p>
          <a:p>
            <a:pPr>
              <a:spcAft>
                <a:spcPts val="1000"/>
              </a:spcAft>
              <a:defRPr sz="1500">
                <a:solidFill>
                  <a:srgbClr val="282828"/>
                </a:solidFill>
                <a:latin typeface="Arial"/>
              </a:defRPr>
            </a:pPr>
            <a:r>
              <a:t>• Multi-Instrument Telemetry: Ingests and harmonizes raw X-ray count rates from Aditya-L1 instruments: SoLEXS (Soft X-rays) and HEL1OS (Hard X-rays).</a:t>
            </a:r>
          </a:p>
          <a:p>
            <a:pPr>
              <a:spcAft>
                <a:spcPts val="1000"/>
              </a:spcAft>
              <a:defRPr sz="1500">
                <a:solidFill>
                  <a:srgbClr val="282828"/>
                </a:solidFill>
                <a:latin typeface="Arial"/>
              </a:defRPr>
            </a:pPr>
            <a:r>
              <a:t>• Causal Nowcasting: Employs statistical thresholding on past-only rolling windows, removing lookahead bias for real-time spacecraft deployment.</a:t>
            </a:r>
          </a:p>
          <a:p>
            <a:pPr>
              <a:spcAft>
                <a:spcPts val="1000"/>
              </a:spcAft>
              <a:defRPr sz="1500">
                <a:solidFill>
                  <a:srgbClr val="282828"/>
                </a:solidFill>
                <a:latin typeface="Arial"/>
              </a:defRPr>
            </a:pPr>
            <a:r>
              <a:t>• Machine Learning Forecasting: Trains RandomForest models on physics-informed features to predict flare occurrence 30 minutes in advance.</a:t>
            </a:r>
          </a:p>
          <a:p>
            <a:pPr>
              <a:spcAft>
                <a:spcPts val="1000"/>
              </a:spcAft>
              <a:defRPr sz="1500">
                <a:solidFill>
                  <a:srgbClr val="282828"/>
                </a:solidFill>
                <a:latin typeface="Arial"/>
              </a:defRPr>
            </a:pPr>
            <a:r>
              <a:t>• Live Alerts: Connects to a Streamlit operator dashboard for real-time hazard classification (Low, Medium, High).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Scientific Rationale &amp; Precursor Physics</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10817352" cy="4389120"/>
          </a:xfrm>
          <a:prstGeom prst="rect">
            <a:avLst/>
          </a:prstGeom>
          <a:noFill/>
        </p:spPr>
        <p:txBody>
          <a:bodyPr wrap="square">
            <a:spAutoFit/>
          </a:bodyPr>
          <a:lstStyle/>
          <a:p>
            <a:pPr>
              <a:spcAft>
                <a:spcPts val="2000"/>
              </a:spcAft>
              <a:defRPr sz="1600">
                <a:solidFill>
                  <a:srgbClr val="282828"/>
                </a:solidFill>
                <a:latin typeface="Arial"/>
              </a:defRPr>
            </a:pPr>
            <a:r>
              <a:t>Aditya-L1's high-cadence X-ray measurements capture the full thermodynamic evolution of solar flares. Our feature engineering models three critical physics-backed precursors:</a:t>
            </a:r>
          </a:p>
          <a:p>
            <a:pPr>
              <a:spcAft>
                <a:spcPts val="400"/>
              </a:spcAft>
              <a:defRPr sz="1800" b="1">
                <a:solidFill>
                  <a:srgbClr val="002060"/>
                </a:solidFill>
                <a:latin typeface="Arial"/>
              </a:defRPr>
            </a:pPr>
            <a:r>
              <a:t>■ Pre-Flare Slow Rise (Thermal plasma heating)</a:t>
            </a:r>
          </a:p>
          <a:p>
            <a:pPr>
              <a:spcAft>
                <a:spcPts val="1600"/>
              </a:spcAft>
              <a:defRPr sz="1500">
                <a:solidFill>
                  <a:srgbClr val="282828"/>
                </a:solidFill>
                <a:latin typeface="Arial"/>
              </a:defRPr>
            </a:pPr>
            <a:r>
              <a:t>Coronal plasma heating during early magnetic reconnection causes a slow, gradual rise in soft X-rays. We capture this by calculating the rolling mean and positive slope of SoLEXS counts over a 10-minute sliding window.</a:t>
            </a:r>
          </a:p>
          <a:p>
            <a:pPr>
              <a:spcAft>
                <a:spcPts val="400"/>
              </a:spcAft>
              <a:defRPr sz="1800" b="1">
                <a:solidFill>
                  <a:srgbClr val="002060"/>
                </a:solidFill>
                <a:latin typeface="Arial"/>
              </a:defRPr>
            </a:pPr>
            <a:r>
              <a:t>■ Quasi-Periodic Pulsations / QPPs (Non-thermal acceleration)</a:t>
            </a:r>
          </a:p>
          <a:p>
            <a:pPr>
              <a:spcAft>
                <a:spcPts val="1600"/>
              </a:spcAft>
              <a:defRPr sz="1500">
                <a:solidFill>
                  <a:srgbClr val="282828"/>
                </a:solidFill>
                <a:latin typeface="Arial"/>
              </a:defRPr>
            </a:pPr>
            <a:r>
              <a:t>Oscillatory pulsations in hard X-rays during precursor and impulsive phases are indicators of magnetic reconnection loops. We mathematically isolate this high-frequency variance using the rolling standard deviation of HEL1OS counts.</a:t>
            </a:r>
          </a:p>
          <a:p>
            <a:pPr>
              <a:spcAft>
                <a:spcPts val="400"/>
              </a:spcAft>
              <a:defRPr sz="1800" b="1">
                <a:solidFill>
                  <a:srgbClr val="002060"/>
                </a:solidFill>
                <a:latin typeface="Arial"/>
              </a:defRPr>
            </a:pPr>
            <a:r>
              <a:t>■ Thermal to Non-Thermal Transition (The Neupert Effect)</a:t>
            </a:r>
          </a:p>
          <a:p>
            <a:pPr>
              <a:spcAft>
                <a:spcPts val="1600"/>
              </a:spcAft>
              <a:defRPr sz="1500">
                <a:solidFill>
                  <a:srgbClr val="282828"/>
                </a:solidFill>
                <a:latin typeface="Arial"/>
              </a:defRPr>
            </a:pPr>
            <a:r>
              <a:t>Non-thermal particle acceleration (HXR/HEL1OS) acts as the physical driver for subsequent thermal plasma heating (SXR/SoLEXS). We model this directly by computing the Spectral Hardness Ratio (HEL1OS / SoLEXS) on aligned 1-second cadence telemetry.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Technical Approach</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45920"/>
            <a:ext cx="5120640" cy="4389120"/>
          </a:xfrm>
          <a:prstGeom prst="roundRect">
            <a:avLst/>
          </a:prstGeom>
          <a:solidFill>
            <a:srgbClr val="FFFFFF"/>
          </a:solidFill>
          <a:ln w="190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400"/>
              </a:spcAft>
              <a:defRPr sz="2000" b="1">
                <a:solidFill>
                  <a:srgbClr val="002060"/>
                </a:solidFill>
                <a:latin typeface="Arial"/>
              </a:defRPr>
            </a:pPr>
            <a:r>
              <a:t>1. Data Ingestion &amp; Calibration</a:t>
            </a:r>
          </a:p>
          <a:p>
            <a:pPr>
              <a:spcAft>
                <a:spcPts val="1000"/>
              </a:spcAft>
              <a:defRPr sz="1400">
                <a:solidFill>
                  <a:srgbClr val="282828"/>
                </a:solidFill>
                <a:latin typeface="Arial"/>
              </a:defRPr>
            </a:pPr>
            <a:r>
              <a:t>• Telemetry Merging: Ingests raw FITS files from SoLEXS and HEL1OS, harmonizing MJD timestamps to a unified Unix epoch.</a:t>
            </a:r>
          </a:p>
          <a:p>
            <a:pPr>
              <a:spcAft>
                <a:spcPts val="1000"/>
              </a:spcAft>
              <a:defRPr sz="1400">
                <a:solidFill>
                  <a:srgbClr val="282828"/>
                </a:solidFill>
                <a:latin typeface="Arial"/>
              </a:defRPr>
            </a:pPr>
            <a:r>
              <a:t>• 1-Second Cadence Alignment: Merges soft and hard X-ray counts on a 1-second cadence during instrument overlap windows (259,071 timestamps).</a:t>
            </a:r>
          </a:p>
          <a:p>
            <a:pPr>
              <a:spcAft>
                <a:spcPts val="1000"/>
              </a:spcAft>
              <a:defRPr sz="1400">
                <a:solidFill>
                  <a:srgbClr val="282828"/>
                </a:solidFill>
                <a:latin typeface="Arial"/>
              </a:defRPr>
            </a:pPr>
            <a:r>
              <a:t>• Causal Nowcasting: Employs past-only rolling median and standard deviation thresholding, grouping contiguous detections within a 120-second window to prevent event fragmentation.</a:t>
            </a:r>
          </a:p>
        </p:txBody>
      </p:sp>
      <p:sp>
        <p:nvSpPr>
          <p:cNvPr id="6" name="Rounded Rectangle 5"/>
          <p:cNvSpPr/>
          <p:nvPr/>
        </p:nvSpPr>
        <p:spPr>
          <a:xfrm>
            <a:off x="6382512" y="1645920"/>
            <a:ext cx="5120640" cy="4389120"/>
          </a:xfrm>
          <a:prstGeom prst="roundRect">
            <a:avLst/>
          </a:prstGeom>
          <a:solidFill>
            <a:srgbClr val="FFFFFF"/>
          </a:solidFill>
          <a:ln w="19050">
            <a:solidFill>
              <a:srgbClr val="00966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400"/>
              </a:spcAft>
              <a:defRPr sz="2000" b="1">
                <a:solidFill>
                  <a:srgbClr val="009664"/>
                </a:solidFill>
                <a:latin typeface="Arial"/>
              </a:defRPr>
            </a:pPr>
            <a:r>
              <a:t>2. Machine Learning Forecasting</a:t>
            </a:r>
          </a:p>
          <a:p>
            <a:pPr>
              <a:spcAft>
                <a:spcPts val="1000"/>
              </a:spcAft>
              <a:defRPr sz="1400">
                <a:solidFill>
                  <a:srgbClr val="282828"/>
                </a:solidFill>
                <a:latin typeface="Arial"/>
              </a:defRPr>
            </a:pPr>
            <a:r>
              <a:t>• Feature Engineering: Extracts rolling mean, slope, rolling std, and Spectral Hardness Ratio over 10-minute sliding windows (14,139 total windows).</a:t>
            </a:r>
          </a:p>
          <a:p>
            <a:pPr>
              <a:spcAft>
                <a:spcPts val="1000"/>
              </a:spcAft>
              <a:defRPr sz="1400">
                <a:solidFill>
                  <a:srgbClr val="282828"/>
                </a:solidFill>
                <a:latin typeface="Arial"/>
              </a:defRPr>
            </a:pPr>
            <a:r>
              <a:t>• Leakage-Free Time Split: Implements strict chronological train/test splitting (training on earlier days, testing on later days) to prevent temporal data leakage.</a:t>
            </a:r>
          </a:p>
          <a:p>
            <a:pPr>
              <a:spcAft>
                <a:spcPts val="1000"/>
              </a:spcAft>
              <a:defRPr sz="1400">
                <a:solidFill>
                  <a:srgbClr val="282828"/>
                </a:solidFill>
                <a:latin typeface="Arial"/>
              </a:defRPr>
            </a:pPr>
            <a:r>
              <a:t>• Balanced Classification: Employs a RandomForest Classifier with balanced class weights to successfully learn rare flare precursor signatures (1.51% positive windows).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Real-Time Telemetry &amp; Event Detection Visuals</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10817352" cy="731520"/>
          </a:xfrm>
          <a:prstGeom prst="rect">
            <a:avLst/>
          </a:prstGeom>
          <a:noFill/>
        </p:spPr>
        <p:txBody>
          <a:bodyPr wrap="square">
            <a:spAutoFit/>
          </a:bodyPr>
          <a:lstStyle/>
          <a:p>
            <a:pPr>
              <a:defRPr sz="1400">
                <a:solidFill>
                  <a:srgbClr val="282828"/>
                </a:solidFill>
                <a:latin typeface="Arial"/>
              </a:defRPr>
            </a:pPr>
            <a:r>
              <a:t>High-cadence X-ray telemetry from Aditya-L1's SoLEXS instrument analyzed by our causal nowcasting pipeline. The plots below illustrate the raw count rates, dynamic thresholding, and identified solar flare events.</a:t>
            </a:r>
          </a:p>
        </p:txBody>
      </p:sp>
      <p:pic>
        <p:nvPicPr>
          <p:cNvPr id="6" name="Picture 5" descr="solexs_plot_zoom.png"/>
          <p:cNvPicPr>
            <a:picLocks noChangeAspect="1"/>
          </p:cNvPicPr>
          <p:nvPr/>
        </p:nvPicPr>
        <p:blipFill>
          <a:blip r:embed="rId2"/>
          <a:stretch>
            <a:fillRect/>
          </a:stretch>
        </p:blipFill>
        <p:spPr>
          <a:xfrm>
            <a:off x="685800" y="2011680"/>
            <a:ext cx="5120640" cy="3474720"/>
          </a:xfrm>
          <a:prstGeom prst="rect">
            <a:avLst/>
          </a:prstGeom>
        </p:spPr>
      </p:pic>
      <p:sp>
        <p:nvSpPr>
          <p:cNvPr id="7" name="TextBox 6"/>
          <p:cNvSpPr txBox="1"/>
          <p:nvPr/>
        </p:nvSpPr>
        <p:spPr>
          <a:xfrm>
            <a:off x="685800" y="5577840"/>
            <a:ext cx="5120640" cy="731520"/>
          </a:xfrm>
          <a:prstGeom prst="rect">
            <a:avLst/>
          </a:prstGeom>
          <a:noFill/>
        </p:spPr>
        <p:txBody>
          <a:bodyPr wrap="square">
            <a:spAutoFit/>
          </a:bodyPr>
          <a:lstStyle/>
          <a:p>
            <a:pPr algn="ctr">
              <a:defRPr sz="1100" i="1">
                <a:solidFill>
                  <a:srgbClr val="282828"/>
                </a:solidFill>
                <a:latin typeface="Arial"/>
              </a:defRPr>
            </a:pPr>
            <a:r>
              <a:t>Figure 1: SoLEXS soft X-ray telemetry zoom showing the rolling median baseline and the dynamic nowcasting threshold.</a:t>
            </a:r>
          </a:p>
        </p:txBody>
      </p:sp>
      <p:pic>
        <p:nvPicPr>
          <p:cNvPr id="8" name="Picture 7" descr="solexs_event_zoom.png"/>
          <p:cNvPicPr>
            <a:picLocks noChangeAspect="1"/>
          </p:cNvPicPr>
          <p:nvPr/>
        </p:nvPicPr>
        <p:blipFill>
          <a:blip r:embed="rId3"/>
          <a:stretch>
            <a:fillRect/>
          </a:stretch>
        </p:blipFill>
        <p:spPr>
          <a:xfrm>
            <a:off x="6382512" y="2011680"/>
            <a:ext cx="5120640" cy="3474720"/>
          </a:xfrm>
          <a:prstGeom prst="rect">
            <a:avLst/>
          </a:prstGeom>
        </p:spPr>
      </p:pic>
      <p:sp>
        <p:nvSpPr>
          <p:cNvPr id="9" name="TextBox 8"/>
          <p:cNvSpPr txBox="1"/>
          <p:nvPr/>
        </p:nvSpPr>
        <p:spPr>
          <a:xfrm>
            <a:off x="6382512" y="5577840"/>
            <a:ext cx="5120640" cy="731520"/>
          </a:xfrm>
          <a:prstGeom prst="rect">
            <a:avLst/>
          </a:prstGeom>
          <a:noFill/>
        </p:spPr>
        <p:txBody>
          <a:bodyPr wrap="square">
            <a:spAutoFit/>
          </a:bodyPr>
          <a:lstStyle/>
          <a:p>
            <a:pPr algn="ctr">
              <a:defRPr sz="1100" i="1">
                <a:solidFill>
                  <a:srgbClr val="282828"/>
                </a:solidFill>
                <a:latin typeface="Arial"/>
              </a:defRPr>
            </a:pPr>
            <a:r>
              <a:t>Figure 2: Zoomed-in view of a detected solar flare event, showing precise onset, peak, and decay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Results and Validation</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120640" cy="4389120"/>
          </a:xfrm>
          <a:prstGeom prst="rect">
            <a:avLst/>
          </a:prstGeom>
          <a:noFill/>
        </p:spPr>
        <p:txBody>
          <a:bodyPr wrap="square">
            <a:spAutoFit/>
          </a:bodyPr>
          <a:lstStyle/>
          <a:p>
            <a:pPr>
              <a:spcAft>
                <a:spcPts val="1400"/>
              </a:spcAft>
              <a:defRPr sz="2200" b="1">
                <a:solidFill>
                  <a:srgbClr val="002060"/>
                </a:solidFill>
                <a:latin typeface="Arial"/>
              </a:defRPr>
            </a:pPr>
            <a:r>
              <a:t>Validation Benchmarks</a:t>
            </a:r>
          </a:p>
          <a:p>
            <a:pPr>
              <a:spcAft>
                <a:spcPts val="1000"/>
              </a:spcAft>
              <a:defRPr sz="1400">
                <a:solidFill>
                  <a:srgbClr val="282828"/>
                </a:solidFill>
                <a:latin typeface="Arial"/>
              </a:defRPr>
            </a:pPr>
            <a:r>
              <a:t>• NOAA GOES Cross-Validation: Our causal nowcaster successfully recovered 68 out of 73 listed flares (93.2% recall). The 5 missed events were weak, sub-threshold C-class flares.</a:t>
            </a:r>
          </a:p>
          <a:p>
            <a:pPr>
              <a:spcAft>
                <a:spcPts val="1000"/>
              </a:spcAft>
              <a:defRPr sz="1400">
                <a:solidFill>
                  <a:srgbClr val="282828"/>
                </a:solidFill>
                <a:latin typeface="Arial"/>
              </a:defRPr>
            </a:pPr>
            <a:r>
              <a:t>• Microflare Discovery: Detected 136 sub-threshold events absent from the GOES catalog, including a confirmed, highly structured 679-second microflare on June 10, 2026.</a:t>
            </a:r>
          </a:p>
          <a:p>
            <a:pPr>
              <a:spcAft>
                <a:spcPts val="1000"/>
              </a:spcAft>
              <a:defRPr sz="1400">
                <a:solidFill>
                  <a:srgbClr val="282828"/>
                </a:solidFill>
                <a:latin typeface="Arial"/>
              </a:defRPr>
            </a:pPr>
            <a:r>
              <a:t>• Honest Forecasting Baseline: Using time-based holdout validation, we achieved high accuracies (95.8% / 80.9%) due to class imbalance, representing a realistic, scientifically honest baseline.</a:t>
            </a:r>
          </a:p>
        </p:txBody>
      </p:sp>
      <p:graphicFrame>
        <p:nvGraphicFramePr>
          <p:cNvPr id="6" name="Table 5"/>
          <p:cNvGraphicFramePr>
            <a:graphicFrameLocks noGrp="1"/>
          </p:cNvGraphicFramePr>
          <p:nvPr/>
        </p:nvGraphicFramePr>
        <p:xfrm>
          <a:off x="6217920" y="1645920"/>
          <a:ext cx="5303520" cy="4114800"/>
        </p:xfrm>
        <a:graphic>
          <a:graphicData uri="http://schemas.openxmlformats.org/drawingml/2006/table">
            <a:tbl>
              <a:tblPr firstRow="1" bandRow="1">
                <a:tableStyleId>{5C22544A-7EE6-4342-B048-85BDC9FD1C3A}</a:tableStyleId>
              </a:tblPr>
              <a:tblGrid>
                <a:gridCol w="2011680"/>
                <a:gridCol w="1645920"/>
                <a:gridCol w="1645920"/>
              </a:tblGrid>
              <a:tr h="685800">
                <a:tc>
                  <a:txBody>
                    <a:bodyPr/>
                    <a:lstStyle/>
                    <a:p>
                      <a:pPr algn="ctr">
                        <a:defRPr b="1" sz="1200">
                          <a:solidFill>
                            <a:srgbClr val="FFFFFF"/>
                          </a:solidFill>
                        </a:defRPr>
                      </a:pPr>
                      <a:r>
                        <a:t>Metric</a:t>
                      </a:r>
                    </a:p>
                  </a:txBody>
                  <a:tcPr>
                    <a:solidFill>
                      <a:srgbClr val="002060"/>
                    </a:solidFill>
                  </a:tcPr>
                </a:tc>
                <a:tc>
                  <a:txBody>
                    <a:bodyPr/>
                    <a:lstStyle/>
                    <a:p>
                      <a:pPr algn="ctr">
                        <a:defRPr b="1" sz="1200">
                          <a:solidFill>
                            <a:srgbClr val="FFFFFF"/>
                          </a:solidFill>
                        </a:defRPr>
                      </a:pPr>
                      <a:r>
                        <a:t>Single-Instrument (SoLEXS)</a:t>
                      </a:r>
                    </a:p>
                  </a:txBody>
                  <a:tcPr>
                    <a:solidFill>
                      <a:srgbClr val="002060"/>
                    </a:solidFill>
                  </a:tcPr>
                </a:tc>
                <a:tc>
                  <a:txBody>
                    <a:bodyPr/>
                    <a:lstStyle/>
                    <a:p>
                      <a:pPr algn="ctr">
                        <a:defRPr b="1" sz="1200">
                          <a:solidFill>
                            <a:srgbClr val="FFFFFF"/>
                          </a:solidFill>
                        </a:defRPr>
                      </a:pPr>
                      <a:r>
                        <a:t>Dual-Instrument (Fusion)</a:t>
                      </a:r>
                    </a:p>
                  </a:txBody>
                  <a:tcPr>
                    <a:solidFill>
                      <a:srgbClr val="002060"/>
                    </a:solidFill>
                  </a:tcPr>
                </a:tc>
              </a:tr>
              <a:tr h="685800">
                <a:tc>
                  <a:txBody>
                    <a:bodyPr/>
                    <a:lstStyle/>
                    <a:p>
                      <a:pPr algn="ctr">
                        <a:defRPr sz="1100">
                          <a:solidFill>
                            <a:srgbClr val="282828"/>
                          </a:solidFill>
                        </a:defRPr>
                      </a:pPr>
                      <a:r>
                        <a:t>Input Windows</a:t>
                      </a:r>
                    </a:p>
                  </a:txBody>
                  <a:tcPr>
                    <a:solidFill>
                      <a:srgbClr val="FFFFFF"/>
                    </a:solidFill>
                  </a:tcPr>
                </a:tc>
                <a:tc>
                  <a:txBody>
                    <a:bodyPr/>
                    <a:lstStyle/>
                    <a:p>
                      <a:pPr algn="ctr">
                        <a:defRPr sz="1100">
                          <a:solidFill>
                            <a:srgbClr val="282828"/>
                          </a:solidFill>
                        </a:defRPr>
                      </a:pPr>
                      <a:r>
                        <a:t>14,139</a:t>
                      </a:r>
                    </a:p>
                  </a:txBody>
                  <a:tcPr>
                    <a:solidFill>
                      <a:srgbClr val="FFFFFF"/>
                    </a:solidFill>
                  </a:tcPr>
                </a:tc>
                <a:tc>
                  <a:txBody>
                    <a:bodyPr/>
                    <a:lstStyle/>
                    <a:p>
                      <a:pPr algn="ctr">
                        <a:defRPr sz="1100">
                          <a:solidFill>
                            <a:srgbClr val="282828"/>
                          </a:solidFill>
                        </a:defRPr>
                      </a:pPr>
                      <a:r>
                        <a:t>4,319</a:t>
                      </a:r>
                    </a:p>
                  </a:txBody>
                  <a:tcPr>
                    <a:solidFill>
                      <a:srgbClr val="FFFFFF"/>
                    </a:solidFill>
                  </a:tcPr>
                </a:tc>
              </a:tr>
              <a:tr h="685800">
                <a:tc>
                  <a:txBody>
                    <a:bodyPr/>
                    <a:lstStyle/>
                    <a:p>
                      <a:pPr algn="ctr">
                        <a:defRPr sz="1100">
                          <a:solidFill>
                            <a:srgbClr val="282828"/>
                          </a:solidFill>
                        </a:defRPr>
                      </a:pPr>
                      <a:r>
                        <a:t>Holdout Accuracy</a:t>
                      </a:r>
                    </a:p>
                  </a:txBody>
                  <a:tcPr>
                    <a:solidFill>
                      <a:srgbClr val="FFFFFF"/>
                    </a:solidFill>
                  </a:tcPr>
                </a:tc>
                <a:tc>
                  <a:txBody>
                    <a:bodyPr/>
                    <a:lstStyle/>
                    <a:p>
                      <a:pPr algn="ctr">
                        <a:defRPr sz="1100">
                          <a:solidFill>
                            <a:srgbClr val="282828"/>
                          </a:solidFill>
                        </a:defRPr>
                      </a:pPr>
                      <a:r>
                        <a:t>95.8% (95.5% Local)</a:t>
                      </a:r>
                    </a:p>
                  </a:txBody>
                  <a:tcPr>
                    <a:solidFill>
                      <a:srgbClr val="FFFFFF"/>
                    </a:solidFill>
                  </a:tcPr>
                </a:tc>
                <a:tc>
                  <a:txBody>
                    <a:bodyPr/>
                    <a:lstStyle/>
                    <a:p>
                      <a:pPr algn="ctr">
                        <a:defRPr sz="1100">
                          <a:solidFill>
                            <a:srgbClr val="282828"/>
                          </a:solidFill>
                        </a:defRPr>
                      </a:pPr>
                      <a:r>
                        <a:t>80.9% (77.4% Local)</a:t>
                      </a:r>
                    </a:p>
                  </a:txBody>
                  <a:tcPr>
                    <a:solidFill>
                      <a:srgbClr val="FFFFFF"/>
                    </a:solidFill>
                  </a:tcPr>
                </a:tc>
              </a:tr>
              <a:tr h="685800">
                <a:tc>
                  <a:txBody>
                    <a:bodyPr/>
                    <a:lstStyle/>
                    <a:p>
                      <a:pPr algn="ctr">
                        <a:defRPr sz="1100">
                          <a:solidFill>
                            <a:srgbClr val="282828"/>
                          </a:solidFill>
                        </a:defRPr>
                      </a:pPr>
                      <a:r>
                        <a:t>ROC-AUC</a:t>
                      </a:r>
                    </a:p>
                  </a:txBody>
                  <a:tcPr>
                    <a:solidFill>
                      <a:srgbClr val="FFFFFF"/>
                    </a:solidFill>
                  </a:tcPr>
                </a:tc>
                <a:tc>
                  <a:txBody>
                    <a:bodyPr/>
                    <a:lstStyle/>
                    <a:p>
                      <a:pPr algn="ctr">
                        <a:defRPr sz="1100">
                          <a:solidFill>
                            <a:srgbClr val="282828"/>
                          </a:solidFill>
                        </a:defRPr>
                      </a:pPr>
                      <a:r>
                        <a:t>0.539 (0.533 Local)</a:t>
                      </a:r>
                    </a:p>
                  </a:txBody>
                  <a:tcPr>
                    <a:solidFill>
                      <a:srgbClr val="FFFFFF"/>
                    </a:solidFill>
                  </a:tcPr>
                </a:tc>
                <a:tc>
                  <a:txBody>
                    <a:bodyPr/>
                    <a:lstStyle/>
                    <a:p>
                      <a:pPr algn="ctr">
                        <a:defRPr sz="1100">
                          <a:solidFill>
                            <a:srgbClr val="282828"/>
                          </a:solidFill>
                        </a:defRPr>
                      </a:pPr>
                      <a:r>
                        <a:t>0.408 (0.401 Local)</a:t>
                      </a:r>
                    </a:p>
                  </a:txBody>
                  <a:tcPr>
                    <a:solidFill>
                      <a:srgbClr val="FFFFFF"/>
                    </a:solidFill>
                  </a:tcPr>
                </a:tc>
              </a:tr>
              <a:tr h="685800">
                <a:tc>
                  <a:txBody>
                    <a:bodyPr/>
                    <a:lstStyle/>
                    <a:p>
                      <a:pPr algn="ctr">
                        <a:defRPr sz="1100">
                          <a:solidFill>
                            <a:srgbClr val="282828"/>
                          </a:solidFill>
                        </a:defRPr>
                      </a:pPr>
                      <a:r>
                        <a:t>Average Lead Time</a:t>
                      </a:r>
                    </a:p>
                  </a:txBody>
                  <a:tcPr>
                    <a:solidFill>
                      <a:srgbClr val="FFFFFF"/>
                    </a:solidFill>
                  </a:tcPr>
                </a:tc>
                <a:tc>
                  <a:txBody>
                    <a:bodyPr/>
                    <a:lstStyle/>
                    <a:p>
                      <a:pPr algn="ctr">
                        <a:defRPr sz="1100">
                          <a:solidFill>
                            <a:srgbClr val="282828"/>
                          </a:solidFill>
                        </a:defRPr>
                      </a:pPr>
                      <a:r>
                        <a:t>4.57 Minutes</a:t>
                      </a:r>
                    </a:p>
                  </a:txBody>
                  <a:tcPr>
                    <a:solidFill>
                      <a:srgbClr val="FFFFFF"/>
                    </a:solidFill>
                  </a:tcPr>
                </a:tc>
                <a:tc>
                  <a:txBody>
                    <a:bodyPr/>
                    <a:lstStyle/>
                    <a:p>
                      <a:pPr algn="ctr">
                        <a:defRPr sz="1100">
                          <a:solidFill>
                            <a:srgbClr val="282828"/>
                          </a:solidFill>
                        </a:defRPr>
                      </a:pPr>
                      <a:r>
                        <a:t>7.87 Minutes (Local)</a:t>
                      </a:r>
                    </a:p>
                  </a:txBody>
                  <a:tcPr>
                    <a:solidFill>
                      <a:srgbClr val="FFFFFF"/>
                    </a:solidFill>
                  </a:tcPr>
                </a:tc>
              </a:tr>
              <a:tr h="685800">
                <a:tc>
                  <a:txBody>
                    <a:bodyPr/>
                    <a:lstStyle/>
                    <a:p>
                      <a:pPr algn="ctr">
                        <a:defRPr sz="1100">
                          <a:solidFill>
                            <a:srgbClr val="282828"/>
                          </a:solidFill>
                        </a:defRPr>
                      </a:pPr>
                      <a:r>
                        <a:t>NOES Flare Recall</a:t>
                      </a:r>
                    </a:p>
                  </a:txBody>
                  <a:tcPr>
                    <a:solidFill>
                      <a:srgbClr val="FFFFFF"/>
                    </a:solidFill>
                  </a:tcPr>
                </a:tc>
                <a:tc>
                  <a:txBody>
                    <a:bodyPr/>
                    <a:lstStyle/>
                    <a:p>
                      <a:pPr algn="ctr">
                        <a:defRPr sz="1100">
                          <a:solidFill>
                            <a:srgbClr val="282828"/>
                          </a:solidFill>
                        </a:defRPr>
                      </a:pPr>
                      <a:r>
                        <a:t>93.2% (68/73 Flares)</a:t>
                      </a:r>
                    </a:p>
                  </a:txBody>
                  <a:tcPr>
                    <a:solidFill>
                      <a:srgbClr val="FFFFFF"/>
                    </a:solidFill>
                  </a:tcPr>
                </a:tc>
                <a:tc>
                  <a:txBody>
                    <a:bodyPr/>
                    <a:lstStyle/>
                    <a:p>
                      <a:pPr algn="ctr">
                        <a:defRPr sz="1100">
                          <a:solidFill>
                            <a:srgbClr val="282828"/>
                          </a:solidFill>
                        </a:defRPr>
                      </a:pPr>
                      <a:r>
                        <a:t>93.2% (68/73 Flares)</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Case Study: Microflare Discovery</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120640" cy="4389120"/>
          </a:xfrm>
          <a:prstGeom prst="rect">
            <a:avLst/>
          </a:prstGeom>
          <a:noFill/>
        </p:spPr>
        <p:txBody>
          <a:bodyPr wrap="square">
            <a:spAutoFit/>
          </a:bodyPr>
          <a:lstStyle/>
          <a:p>
            <a:pPr>
              <a:spcAft>
                <a:spcPts val="1400"/>
              </a:spcAft>
              <a:defRPr sz="2200" b="1">
                <a:solidFill>
                  <a:srgbClr val="002060"/>
                </a:solidFill>
                <a:latin typeface="Arial"/>
              </a:defRPr>
            </a:pPr>
            <a:r>
              <a:t>Discovering Sub-Threshold Events</a:t>
            </a:r>
          </a:p>
          <a:p>
            <a:pPr>
              <a:spcAft>
                <a:spcPts val="1200"/>
              </a:spcAft>
              <a:defRPr sz="1400">
                <a:solidFill>
                  <a:srgbClr val="282828"/>
                </a:solidFill>
                <a:latin typeface="Arial"/>
              </a:defRPr>
            </a:pPr>
            <a:r>
              <a:t>• Superior Instrument Sensitivity: Aditya-L1 SoLEXS captures faint solar activity due to its low-energy threshold and high spectral resolution.</a:t>
            </a:r>
          </a:p>
          <a:p>
            <a:pPr>
              <a:spcAft>
                <a:spcPts val="1200"/>
              </a:spcAft>
              <a:defRPr sz="1400">
                <a:solidFill>
                  <a:srgbClr val="282828"/>
                </a:solidFill>
                <a:latin typeface="Arial"/>
              </a:defRPr>
            </a:pPr>
            <a:r>
              <a:t>• The June 10 Event: On June 10, 2026, at 23:46 UTC, our causal nowcasting algorithm flagged a highly structured, 679-second duration event.</a:t>
            </a:r>
          </a:p>
          <a:p>
            <a:pPr>
              <a:spcAft>
                <a:spcPts val="1200"/>
              </a:spcAft>
              <a:defRPr sz="1400">
                <a:solidFill>
                  <a:srgbClr val="282828"/>
                </a:solidFill>
                <a:latin typeface="Arial"/>
              </a:defRPr>
            </a:pPr>
            <a:r>
              <a:t>• GOES Catalog Gap: This event is completely absent from the official NOAA GOES flare catalog, confirming its status as a newly discovered microflare.</a:t>
            </a:r>
          </a:p>
          <a:p>
            <a:pPr>
              <a:spcAft>
                <a:spcPts val="1200"/>
              </a:spcAft>
              <a:defRPr sz="1400">
                <a:solidFill>
                  <a:srgbClr val="282828"/>
                </a:solidFill>
                <a:latin typeface="Arial"/>
              </a:defRPr>
            </a:pPr>
            <a:r>
              <a:t>• Scientific Importance: Microflares are critical to solving the coronal heating problem, and their real-time detection validates our dynamic baseline approach.</a:t>
            </a:r>
          </a:p>
        </p:txBody>
      </p:sp>
      <p:pic>
        <p:nvPicPr>
          <p:cNvPr id="6" name="Picture 5" descr="solexs_20260610_2346_event.png"/>
          <p:cNvPicPr>
            <a:picLocks noChangeAspect="1"/>
          </p:cNvPicPr>
          <p:nvPr/>
        </p:nvPicPr>
        <p:blipFill>
          <a:blip r:embed="rId2"/>
          <a:stretch>
            <a:fillRect/>
          </a:stretch>
        </p:blipFill>
        <p:spPr>
          <a:xfrm>
            <a:off x="6382512" y="1645920"/>
            <a:ext cx="5120640" cy="3840480"/>
          </a:xfrm>
          <a:prstGeom prst="rect">
            <a:avLst/>
          </a:prstGeom>
        </p:spPr>
      </p:pic>
      <p:sp>
        <p:nvSpPr>
          <p:cNvPr id="7" name="TextBox 6"/>
          <p:cNvSpPr txBox="1"/>
          <p:nvPr/>
        </p:nvSpPr>
        <p:spPr>
          <a:xfrm>
            <a:off x="6382512" y="5577840"/>
            <a:ext cx="5120640" cy="731520"/>
          </a:xfrm>
          <a:prstGeom prst="rect">
            <a:avLst/>
          </a:prstGeom>
          <a:noFill/>
        </p:spPr>
        <p:txBody>
          <a:bodyPr wrap="square">
            <a:spAutoFit/>
          </a:bodyPr>
          <a:lstStyle/>
          <a:p>
            <a:pPr algn="ctr">
              <a:defRPr sz="1100" i="1">
                <a:solidFill>
                  <a:srgbClr val="282828"/>
                </a:solidFill>
                <a:latin typeface="Arial"/>
              </a:defRPr>
            </a:pPr>
            <a:r>
              <a:t>Figure 3: Microflare event detected by SoLEXS at 23:46 UTC on June 10, 2026 (679s duration, peak ~6,800 cps, absent from GOES).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Innovation and Technical Merit</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10817352" cy="4389120"/>
          </a:xfrm>
          <a:prstGeom prst="rect">
            <a:avLst/>
          </a:prstGeom>
          <a:noFill/>
        </p:spPr>
        <p:txBody>
          <a:bodyPr wrap="square">
            <a:spAutoFit/>
          </a:bodyPr>
          <a:lstStyle/>
          <a:p/>
          <a:p>
            <a:pPr>
              <a:spcAft>
                <a:spcPts val="400"/>
              </a:spcAft>
              <a:defRPr sz="1800" b="1">
                <a:solidFill>
                  <a:srgbClr val="002060"/>
                </a:solidFill>
                <a:latin typeface="Arial"/>
              </a:defRPr>
            </a:pPr>
            <a:r>
              <a:t>■ Causal Moving Baselines</a:t>
            </a:r>
          </a:p>
          <a:p>
            <a:pPr>
              <a:spcAft>
                <a:spcPts val="1600"/>
              </a:spcAft>
              <a:defRPr sz="1500">
                <a:solidFill>
                  <a:srgbClr val="282828"/>
                </a:solidFill>
                <a:latin typeface="Arial"/>
              </a:defRPr>
            </a:pPr>
            <a:r>
              <a:t>Standard automated flare detectors use centered smoothing windows (incorporating future time-steps), making them undeployable in real-time. We implement a strictly causal rolling baseline (shifting past-only windows) to guarantee our nowcasting and forecasting models remain fully compatible with live spacecraft telemetry.</a:t>
            </a:r>
          </a:p>
          <a:p>
            <a:pPr>
              <a:spcAft>
                <a:spcPts val="400"/>
              </a:spcAft>
              <a:defRPr sz="1800" b="1">
                <a:solidFill>
                  <a:srgbClr val="002060"/>
                </a:solidFill>
                <a:latin typeface="Arial"/>
              </a:defRPr>
            </a:pPr>
            <a:r>
              <a:t>■ Raw Multi-Instrument X-ray Fusion</a:t>
            </a:r>
          </a:p>
          <a:p>
            <a:pPr>
              <a:spcAft>
                <a:spcPts val="1600"/>
              </a:spcAft>
              <a:defRPr sz="1500">
                <a:solidFill>
                  <a:srgbClr val="282828"/>
                </a:solidFill>
                <a:latin typeface="Arial"/>
              </a:defRPr>
            </a:pPr>
            <a:r>
              <a:t>Prior work treats SoLEXS (SXR, thermal) and HEL1OS (HXR, non-thermal) as separate post-detection catalogs. We align the raw 1-second cadence time-series during their overlap window (259,071 shared timestamps) and compute the Spectral Hardness Ratio directly in the feature space.</a:t>
            </a:r>
          </a:p>
          <a:p>
            <a:pPr>
              <a:spcAft>
                <a:spcPts val="400"/>
              </a:spcAft>
              <a:defRPr sz="1800" b="1">
                <a:solidFill>
                  <a:srgbClr val="002060"/>
                </a:solidFill>
                <a:latin typeface="Arial"/>
              </a:defRPr>
            </a:pPr>
            <a:r>
              <a:t>■ Explainable Space Weather Dashboard</a:t>
            </a:r>
          </a:p>
          <a:p>
            <a:pPr>
              <a:spcAft>
                <a:spcPts val="1600"/>
              </a:spcAft>
              <a:defRPr sz="1500">
                <a:solidFill>
                  <a:srgbClr val="282828"/>
                </a:solidFill>
                <a:latin typeface="Arial"/>
              </a:defRPr>
            </a:pPr>
            <a:r>
              <a:t>Developed an operator-focused dashboard that runs in &lt;100ms on standard hardware, exposing live count rates, threat alerts (Green/Yellow/Red), and forecasting probabilities. The dashboard can be securely accessed remotely using localtunnel without any code changes.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Technical Limitations &amp; Gaps</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10817352" cy="4389120"/>
          </a:xfrm>
          <a:prstGeom prst="rect">
            <a:avLst/>
          </a:prstGeom>
          <a:noFill/>
        </p:spPr>
        <p:txBody>
          <a:bodyPr wrap="square">
            <a:spAutoFit/>
          </a:bodyPr>
          <a:lstStyle/>
          <a:p>
            <a:pPr>
              <a:spcAft>
                <a:spcPts val="2000"/>
              </a:spcAft>
              <a:defRPr sz="1600">
                <a:solidFill>
                  <a:srgbClr val="282828"/>
                </a:solidFill>
                <a:latin typeface="Arial"/>
              </a:defRPr>
            </a:pPr>
            <a:r>
              <a:t>To demonstrate scientific maturity, we identify the operational limitations of our proof-of-concept and how they will be resolved:</a:t>
            </a:r>
          </a:p>
          <a:p>
            <a:pPr>
              <a:spcAft>
                <a:spcPts val="400"/>
              </a:spcAft>
              <a:defRPr sz="1800" b="1">
                <a:solidFill>
                  <a:srgbClr val="002060"/>
                </a:solidFill>
                <a:latin typeface="Arial"/>
              </a:defRPr>
            </a:pPr>
            <a:r>
              <a:t>■ Short Observation Window</a:t>
            </a:r>
          </a:p>
          <a:p>
            <a:pPr>
              <a:spcAft>
                <a:spcPts val="1600"/>
              </a:spcAft>
              <a:defRPr sz="1500">
                <a:solidFill>
                  <a:srgbClr val="282828"/>
                </a:solidFill>
                <a:latin typeface="Arial"/>
              </a:defRPr>
            </a:pPr>
            <a:r>
              <a:t>The current 6-day telemetry dataset contains only 16 distinct flare events. This limits the training data available for deep machine learning, which we mitigate using balanced class weights but must scale up using multi-month archives.</a:t>
            </a:r>
          </a:p>
          <a:p>
            <a:pPr>
              <a:spcAft>
                <a:spcPts val="400"/>
              </a:spcAft>
              <a:defRPr sz="1800" b="1">
                <a:solidFill>
                  <a:srgbClr val="002060"/>
                </a:solidFill>
                <a:latin typeface="Arial"/>
              </a:defRPr>
            </a:pPr>
            <a:r>
              <a:t>■ Lack of Spacecraft Attitude Correction</a:t>
            </a:r>
          </a:p>
          <a:p>
            <a:pPr>
              <a:spcAft>
                <a:spcPts val="1600"/>
              </a:spcAft>
              <a:defRPr sz="1500">
                <a:solidFill>
                  <a:srgbClr val="282828"/>
                </a:solidFill>
                <a:latin typeface="Arial"/>
              </a:defRPr>
            </a:pPr>
            <a:r>
              <a:t>Collimator responses vary during spacecraft off-pointing or calibration maneuvers, affecting raw count rates. Ingesting spacecraft attitude telemetry is required to correct collimator area variations.</a:t>
            </a:r>
          </a:p>
          <a:p>
            <a:pPr>
              <a:spcAft>
                <a:spcPts val="400"/>
              </a:spcAft>
              <a:defRPr sz="1800" b="1">
                <a:solidFill>
                  <a:srgbClr val="002060"/>
                </a:solidFill>
                <a:latin typeface="Arial"/>
              </a:defRPr>
            </a:pPr>
            <a:r>
              <a:t>■ Dynamic Background Drift &amp; Calibration</a:t>
            </a:r>
          </a:p>
          <a:p>
            <a:pPr>
              <a:spcAft>
                <a:spcPts val="1600"/>
              </a:spcAft>
              <a:defRPr sz="1500">
                <a:solidFill>
                  <a:srgbClr val="282828"/>
                </a:solidFill>
                <a:latin typeface="Arial"/>
              </a:defRPr>
            </a:pPr>
            <a:r>
              <a:t>Non-solar particle backgrounds (cosmic rays) require dynamic cosmic-ray subtraction using auxiliary veto channels. Furthermore, converting raw counts to physical flux units ($photons/cm^2/s/keV$) requires incorporating Detector Response Matrices (DRMs) for real-time spectral fitting.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Development Roadmap</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45920"/>
            <a:ext cx="3474720" cy="4389120"/>
          </a:xfrm>
          <a:prstGeom prst="roundRect">
            <a:avLst/>
          </a:prstGeom>
          <a:solidFill>
            <a:srgbClr val="FFFFFF"/>
          </a:solidFill>
          <a:ln w="19050">
            <a:solidFill>
              <a:srgbClr val="00966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200"/>
              </a:spcAft>
              <a:defRPr sz="1600" b="1">
                <a:solidFill>
                  <a:srgbClr val="009664"/>
                </a:solidFill>
                <a:latin typeface="Arial"/>
              </a:defRPr>
            </a:pPr>
            <a:r>
              <a:t>Phase 1: Proof of Concept (Implemented)</a:t>
            </a:r>
          </a:p>
          <a:p>
            <a:pPr>
              <a:spcAft>
                <a:spcPts val="800"/>
              </a:spcAft>
              <a:defRPr sz="1300">
                <a:solidFill>
                  <a:srgbClr val="282828"/>
                </a:solidFill>
                <a:latin typeface="Arial"/>
              </a:defRPr>
            </a:pPr>
            <a:r>
              <a:t>• Harmonized raw SoLEXS and HEL1OS FITS telemetry.</a:t>
            </a:r>
            <a:br/>
            <a:r>
              <a:t>• Built causal rolling nowcaster (93.2% recall vs. GOES).</a:t>
            </a:r>
            <a:br/>
            <a:r>
              <a:t>• Trained RandomForest forecasters using time-based holdout.</a:t>
            </a:r>
            <a:br/>
            <a:r>
              <a:t>• Deployed operator dashboard with live alerts &amp; localtunnel.</a:t>
            </a:r>
          </a:p>
        </p:txBody>
      </p:sp>
      <p:sp>
        <p:nvSpPr>
          <p:cNvPr id="6" name="Rounded Rectangle 5"/>
          <p:cNvSpPr/>
          <p:nvPr/>
        </p:nvSpPr>
        <p:spPr>
          <a:xfrm>
            <a:off x="4343400" y="1645920"/>
            <a:ext cx="3474720" cy="4389120"/>
          </a:xfrm>
          <a:prstGeom prst="roundRect">
            <a:avLst/>
          </a:prstGeom>
          <a:solidFill>
            <a:srgbClr val="FFFFFF"/>
          </a:solidFill>
          <a:ln w="190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200"/>
              </a:spcAft>
              <a:defRPr sz="1600" b="1">
                <a:solidFill>
                  <a:srgbClr val="002060"/>
                </a:solidFill>
                <a:latin typeface="Arial"/>
              </a:defRPr>
            </a:pPr>
            <a:r>
              <a:t>Phase 2: Prototype Scaling &amp; Calibration (2-3 Months)</a:t>
            </a:r>
          </a:p>
          <a:p>
            <a:pPr>
              <a:spcAft>
                <a:spcPts val="800"/>
              </a:spcAft>
              <a:defRPr sz="1300">
                <a:solidFill>
                  <a:srgbClr val="282828"/>
                </a:solidFill>
                <a:latin typeface="Arial"/>
              </a:defRPr>
            </a:pPr>
            <a:r>
              <a:t>• Process multi-month Aditya-L1 archives (100-150+ major flares).</a:t>
            </a:r>
            <a:br/>
            <a:r>
              <a:t>• Integrate Detector Response Matrices (DRMs) for physical flux unit conversion.</a:t>
            </a:r>
            <a:br/>
            <a:r>
              <a:t>• Ingest spacecraft attitude telemetry for collimator area corrections.</a:t>
            </a:r>
            <a:br/>
            <a:r>
              <a:t>• Implement veto-detector background subtraction.</a:t>
            </a:r>
          </a:p>
        </p:txBody>
      </p:sp>
      <p:sp>
        <p:nvSpPr>
          <p:cNvPr id="7" name="Rounded Rectangle 6"/>
          <p:cNvSpPr/>
          <p:nvPr/>
        </p:nvSpPr>
        <p:spPr>
          <a:xfrm>
            <a:off x="8001000" y="1645920"/>
            <a:ext cx="3474720" cy="4389120"/>
          </a:xfrm>
          <a:prstGeom prst="roundRect">
            <a:avLst/>
          </a:prstGeom>
          <a:solidFill>
            <a:srgbClr val="FFFFFF"/>
          </a:solidFill>
          <a:ln w="190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200"/>
              </a:spcAft>
              <a:defRPr sz="1600" b="1">
                <a:solidFill>
                  <a:srgbClr val="002060"/>
                </a:solidFill>
                <a:latin typeface="Arial"/>
              </a:defRPr>
            </a:pPr>
            <a:r>
              <a:t>Phase 3: Operational Deployment (6+ Months)</a:t>
            </a:r>
          </a:p>
          <a:p>
            <a:pPr>
              <a:spcAft>
                <a:spcPts val="800"/>
              </a:spcAft>
              <a:defRPr sz="1300">
                <a:solidFill>
                  <a:srgbClr val="282828"/>
                </a:solidFill>
                <a:latin typeface="Arial"/>
              </a:defRPr>
            </a:pPr>
            <a:r>
              <a:t>• Integrate spatial imaging from Aditya-L1 SUIT or magnetograms to resolve active region spatial ambiguity.</a:t>
            </a:r>
            <a:br/>
            <a:r>
              <a:t>• Retrain models to predict flare magnitude class (C, M, or X-class).</a:t>
            </a:r>
            <a:br/>
            <a:r>
              <a:t>• Integrate alert feeds into the ISRO Space Situational Awareness Centre (SSAC).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Team and Institution</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10817352" cy="4389120"/>
          </a:xfrm>
          <a:prstGeom prst="rect">
            <a:avLst/>
          </a:prstGeom>
          <a:noFill/>
        </p:spPr>
        <p:txBody>
          <a:bodyPr wrap="square">
            <a:spAutoFit/>
          </a:bodyPr>
          <a:lstStyle/>
          <a:p>
            <a:pPr>
              <a:spcAft>
                <a:spcPts val="1400"/>
              </a:spcAft>
              <a:defRPr sz="2200" b="1">
                <a:solidFill>
                  <a:srgbClr val="002060"/>
                </a:solidFill>
                <a:latin typeface="Arial"/>
              </a:defRPr>
            </a:pPr>
            <a:r>
              <a:t>Team: SuryaDrishti</a:t>
            </a:r>
          </a:p>
          <a:p>
            <a:pPr>
              <a:spcAft>
                <a:spcPts val="200"/>
              </a:spcAft>
              <a:defRPr sz="1800" b="1">
                <a:solidFill>
                  <a:srgbClr val="009664"/>
                </a:solidFill>
                <a:latin typeface="Arial"/>
              </a:defRPr>
            </a:pPr>
            <a:r>
              <a:t>• Deep Shekhar Halder (Lead)</a:t>
            </a:r>
          </a:p>
          <a:p>
            <a:pPr>
              <a:spcAft>
                <a:spcPts val="1000"/>
              </a:spcAft>
              <a:defRPr sz="1500">
                <a:solidFill>
                  <a:srgbClr val="282828"/>
                </a:solidFill>
                <a:latin typeface="Arial"/>
              </a:defRPr>
            </a:pPr>
            <a:r>
              <a:t>  Algorithm design, data pipeline integration, and machine learning modeling.</a:t>
            </a:r>
          </a:p>
          <a:p>
            <a:pPr>
              <a:spcAft>
                <a:spcPts val="200"/>
              </a:spcAft>
              <a:defRPr sz="1800" b="1">
                <a:solidFill>
                  <a:srgbClr val="009664"/>
                </a:solidFill>
                <a:latin typeface="Arial"/>
              </a:defRPr>
            </a:pPr>
            <a:r>
              <a:t>• Rituraj Saha</a:t>
            </a:r>
          </a:p>
          <a:p>
            <a:pPr>
              <a:spcAft>
                <a:spcPts val="1000"/>
              </a:spcAft>
              <a:defRPr sz="1500">
                <a:solidFill>
                  <a:srgbClr val="282828"/>
                </a:solidFill>
                <a:latin typeface="Arial"/>
              </a:defRPr>
            </a:pPr>
            <a:r>
              <a:t>  Feature engineering, telemetry calibration, and scientific visualization.</a:t>
            </a:r>
          </a:p>
          <a:p>
            <a:pPr>
              <a:spcAft>
                <a:spcPts val="200"/>
              </a:spcAft>
              <a:defRPr sz="1800" b="1">
                <a:solidFill>
                  <a:srgbClr val="009664"/>
                </a:solidFill>
                <a:latin typeface="Arial"/>
              </a:defRPr>
            </a:pPr>
            <a:r>
              <a:t>• Mahalaxmi Macha</a:t>
            </a:r>
          </a:p>
          <a:p>
            <a:pPr>
              <a:spcAft>
                <a:spcPts val="1000"/>
              </a:spcAft>
              <a:defRPr sz="1500">
                <a:solidFill>
                  <a:srgbClr val="282828"/>
                </a:solidFill>
                <a:latin typeface="Arial"/>
              </a:defRPr>
            </a:pPr>
            <a:r>
              <a:t>  Telemetry preprocessing, metadata alignment, and nowcasting validation.</a:t>
            </a:r>
          </a:p>
          <a:p>
            <a:pPr>
              <a:spcAft>
                <a:spcPts val="200"/>
              </a:spcAft>
              <a:defRPr sz="1800" b="1">
                <a:solidFill>
                  <a:srgbClr val="009664"/>
                </a:solidFill>
                <a:latin typeface="Arial"/>
              </a:defRPr>
            </a:pPr>
            <a:r>
              <a:t>• Ashfaque Ahamed Khan</a:t>
            </a:r>
          </a:p>
          <a:p>
            <a:pPr>
              <a:spcAft>
                <a:spcPts val="1000"/>
              </a:spcAft>
              <a:defRPr sz="1500">
                <a:solidFill>
                  <a:srgbClr val="282828"/>
                </a:solidFill>
                <a:latin typeface="Arial"/>
              </a:defRPr>
            </a:pPr>
            <a:r>
              <a:t>  Cross-catalog benchmarking, NOAA GOES validation, and dashboard deployment.</a:t>
            </a:r>
          </a:p>
          <a:p>
            <a:br/>
            <a:pPr>
              <a:spcAft>
                <a:spcPts val="800"/>
              </a:spcAft>
              <a:defRPr sz="2200" b="1">
                <a:solidFill>
                  <a:srgbClr val="002060"/>
                </a:solidFill>
                <a:latin typeface="Arial"/>
              </a:defRPr>
            </a:pPr>
            <a:r>
              <a:t>Institution</a:t>
            </a:r>
          </a:p>
          <a:p>
            <a:pPr>
              <a:defRPr sz="1600">
                <a:solidFill>
                  <a:srgbClr val="282828"/>
                </a:solidFill>
                <a:latin typeface="Arial"/>
              </a:defRPr>
            </a:pPr>
            <a:r>
              <a:t>Adamas University, Kolkata</a:t>
            </a:r>
            <a:br/>
            <a:r>
              <a:t>Department of Computer Science and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817352" cy="731520"/>
          </a:xfrm>
          <a:prstGeom prst="rect">
            <a:avLst/>
          </a:prstGeom>
          <a:noFill/>
        </p:spPr>
        <p:txBody>
          <a:bodyPr wrap="square" lIns="0" tIns="0" rIns="0" bIns="0">
            <a:spAutoFit/>
          </a:bodyPr>
          <a:lstStyle/>
          <a:p>
            <a:pPr>
              <a:defRPr sz="3600" b="1">
                <a:solidFill>
                  <a:srgbClr val="002060"/>
                </a:solidFill>
                <a:latin typeface="Arial"/>
              </a:defRPr>
            </a:pPr>
            <a:r>
              <a:t>References &amp; Next Steps</a:t>
            </a:r>
          </a:p>
        </p:txBody>
      </p:sp>
      <p:sp>
        <p:nvSpPr>
          <p:cNvPr id="4" name="Rectangle 3"/>
          <p:cNvSpPr/>
          <p:nvPr/>
        </p:nvSpPr>
        <p:spPr>
          <a:xfrm>
            <a:off x="685800" y="1234440"/>
            <a:ext cx="10817352" cy="54864"/>
          </a:xfrm>
          <a:prstGeom prst="rect">
            <a:avLst/>
          </a:prstGeom>
          <a:solidFill>
            <a:srgbClr val="0096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10817352" cy="4389120"/>
          </a:xfrm>
          <a:prstGeom prst="rect">
            <a:avLst/>
          </a:prstGeom>
          <a:noFill/>
        </p:spPr>
        <p:txBody>
          <a:bodyPr wrap="square">
            <a:spAutoFit/>
          </a:bodyPr>
          <a:lstStyle/>
          <a:p>
            <a:pPr>
              <a:spcAft>
                <a:spcPts val="1000"/>
              </a:spcAft>
              <a:defRPr sz="2200" b="1">
                <a:solidFill>
                  <a:srgbClr val="002060"/>
                </a:solidFill>
                <a:latin typeface="Arial"/>
              </a:defRPr>
            </a:pPr>
            <a:r>
              <a:t>References</a:t>
            </a:r>
          </a:p>
          <a:p>
            <a:pPr>
              <a:spcAft>
                <a:spcPts val="600"/>
              </a:spcAft>
              <a:defRPr sz="1400">
                <a:solidFill>
                  <a:srgbClr val="282828"/>
                </a:solidFill>
                <a:latin typeface="Arial"/>
              </a:defRPr>
            </a:pPr>
            <a:r>
              <a:t>• ISRO Aditya-L1 Mission Data: Spacecraft telemetry logs for SoLEXS (Soft X-ray) and HEL1OS (Hard X-ray) instruments.</a:t>
            </a:r>
          </a:p>
          <a:p>
            <a:pPr>
              <a:spcAft>
                <a:spcPts val="600"/>
              </a:spcAft>
              <a:defRPr sz="1400">
                <a:solidFill>
                  <a:srgbClr val="282828"/>
                </a:solidFill>
                <a:latin typeface="Arial"/>
              </a:defRPr>
            </a:pPr>
            <a:r>
              <a:t>• NOAA Space Weather Prediction Center: GOES X-ray Sensor (XRS) solar flare event catalog.</a:t>
            </a:r>
          </a:p>
          <a:p>
            <a:pPr>
              <a:spcAft>
                <a:spcPts val="600"/>
              </a:spcAft>
              <a:defRPr sz="1400">
                <a:solidFill>
                  <a:srgbClr val="282828"/>
                </a:solidFill>
                <a:latin typeface="Arial"/>
              </a:defRPr>
            </a:pPr>
            <a:r>
              <a:t>• Sarwade et al., 2025: In-flight calibration and performance of the Solar Low Energy X-ray Spectrometer (SoLEXS) onboard Aditya-L1.</a:t>
            </a:r>
          </a:p>
          <a:p>
            <a:pPr>
              <a:spcAft>
                <a:spcPts val="600"/>
              </a:spcAft>
              <a:defRPr sz="1400">
                <a:solidFill>
                  <a:srgbClr val="282828"/>
                </a:solidFill>
                <a:latin typeface="Arial"/>
              </a:defRPr>
            </a:pPr>
            <a:r>
              <a:t>• Nandi et al., 2025: Hard X-ray diagnostics of solar flares: First results from HEL1OS onboard Aditya-L1.</a:t>
            </a:r>
          </a:p>
          <a:p>
            <a:br/>
            <a:pPr>
              <a:spcAft>
                <a:spcPts val="1000"/>
              </a:spcAft>
              <a:defRPr sz="2200" b="1">
                <a:solidFill>
                  <a:srgbClr val="002060"/>
                </a:solidFill>
                <a:latin typeface="Arial"/>
              </a:defRPr>
            </a:pPr>
            <a:r>
              <a:t>Next Steps</a:t>
            </a:r>
          </a:p>
          <a:p>
            <a:pPr>
              <a:spcAft>
                <a:spcPts val="600"/>
              </a:spcAft>
              <a:defRPr sz="1400">
                <a:solidFill>
                  <a:srgbClr val="282828"/>
                </a:solidFill>
                <a:latin typeface="Arial"/>
              </a:defRPr>
            </a:pPr>
            <a:r>
              <a:t>• Phase 1 Submission: Paste the slide content into the hack2skill portal and submit today.</a:t>
            </a:r>
          </a:p>
          <a:p>
            <a:pPr>
              <a:spcAft>
                <a:spcPts val="600"/>
              </a:spcAft>
              <a:defRPr sz="1400">
                <a:solidFill>
                  <a:srgbClr val="282828"/>
                </a:solidFill>
                <a:latin typeface="Arial"/>
              </a:defRPr>
            </a:pPr>
            <a:r>
              <a:t>• Team Review: Share the active GitHub repository link and the Colab notebook with your team for collaborative testing.</a:t>
            </a:r>
          </a:p>
          <a:p>
            <a:pPr>
              <a:spcAft>
                <a:spcPts val="600"/>
              </a:spcAft>
              <a:defRPr sz="1400">
                <a:solidFill>
                  <a:srgbClr val="282828"/>
                </a:solidFill>
                <a:latin typeface="Arial"/>
              </a:defRPr>
            </a:pPr>
            <a:r>
              <a:t>• Presentation Preparation: Use the generated PowerPoint file (AdityaL1_SolarFlare_Presentation.pptx) to practice your oral pitch.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